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7fd3126-c2c9-3d3f-b14b-4f1edfbe3cc7}">
          <p14:sldIdLst>
            <p14:sldId id="256"/>
            <p14:sldId id="257"/>
            <p14:sldId id="258"/>
            <p14:sldId id="259"/>
            <p14:sldId id="260"/>
          </p14:sldIdLst>
        </p14:section>
        <p14:section name="System Design" id="{ef6dd968-6bfe-6993-83bc-502884d7ab82}">
          <p14:sldIdLst>
            <p14:sldId id="261"/>
            <p14:sldId id="262"/>
            <p14:sldId id="263"/>
            <p14:sldId id="264"/>
            <p14:sldId id="265"/>
            <p14:sldId id="266"/>
          </p14:sldIdLst>
        </p14:section>
        <p14:section name="Machine Learning" id="{ad8908ca-6114-f299-fdac-a333e1688ccd}">
          <p14:sldIdLst>
            <p14:sldId id="267"/>
            <p14:sldId id="268"/>
            <p14:sldId id="269"/>
            <p14:sldId id="270"/>
          </p14:sldIdLst>
        </p14:section>
        <p14:section name="Outcome" id="{d8819f0d-dc44-3f88-e362-281a845eaffb}">
          <p14:sldIdLst>
            <p14:sldId id="271"/>
            <p14:sldId id="272"/>
            <p14:sldId id="273"/>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4332"/>
                </a:solidFill>
                <a:latin typeface="+mn-lt"/>
              </a:defRPr>
            </a:pPr>
            <a:r>
              <a:rPr sz="1300" b="0" i="0" u="none" strike="noStrike">
                <a:solidFill>
                  <a:srgbClr val="1B4332"/>
                </a:solidFill>
                <a:latin typeface="+mn-lt"/>
              </a:rPr>
              <a:t>Test accuracy by model (%)</a:t>
            </a:r>
          </a:p>
        </c:rich>
      </c:tx>
      <c:layout/>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2D6A4F"/>
            </a:solidFill>
            <a:effectLst/>
          </c:spPr>
          <c:invertIfNegative val="0"/>
          <c:dLbls>
            <c:numFmt formatCode="0.00" sourceLinked="0"/>
            <c:txPr>
              <a:bodyPr/>
              <a:lstStyle/>
              <a:p>
                <a:pPr>
                  <a:defRPr b="0" i="0" strike="noStrike" sz="1100" u="none">
                    <a:solidFill>
                      <a:srgbClr val="1B2A22"/>
                    </a:solidFill>
                    <a:latin typeface="+mn-lt"/>
                  </a:defRPr>
                </a:pPr>
              </a:p>
            </c:txPr>
            <c:showLegendKey val="0"/>
            <c:showVal val="1"/>
            <c:showCatName val="0"/>
            <c:showSerName val="0"/>
            <c:showPercent val="0"/>
            <c:showBubbleSize val="0"/>
            <c:showLeaderLines val="0"/>
          </c:dLbls>
          <c:dPt>
            <c:idx val="0"/>
            <c:invertIfNegative val="0"/>
            <c:bubble3D val="0"/>
            <c:spPr>
              <a:solidFill>
                <a:srgbClr val="2D6A4F"/>
              </a:solidFill>
              <a:effectLst/>
            </c:spPr>
          </c:dPt>
          <c:dPt>
            <c:idx val="1"/>
            <c:invertIfNegative val="0"/>
            <c:bubble3D val="0"/>
            <c:spPr>
              <a:solidFill>
                <a:srgbClr val="95D5B2"/>
              </a:solidFill>
              <a:effectLst/>
            </c:spPr>
          </c:dPt>
          <c:dPt>
            <c:idx val="2"/>
            <c:invertIfNegative val="0"/>
            <c:bubble3D val="0"/>
            <c:spPr>
              <a:solidFill>
                <a:srgbClr val="95D5B2"/>
              </a:solidFill>
              <a:effectLst/>
            </c:spPr>
          </c:dPt>
          <c:dPt>
            <c:idx val="3"/>
            <c:invertIfNegative val="0"/>
            <c:bubble3D val="0"/>
            <c:spPr>
              <a:solidFill>
                <a:srgbClr val="95D5B2"/>
              </a:solidFill>
              <a:effectLst/>
            </c:spPr>
          </c:dPt>
          <c:dPt>
            <c:idx val="4"/>
            <c:invertIfNegative val="0"/>
            <c:bubble3D val="0"/>
            <c:spPr>
              <a:solidFill>
                <a:srgbClr val="95D5B2"/>
              </a:solidFill>
              <a:effectLst/>
            </c:spPr>
          </c:dPt>
          <c:cat>
            <c:multiLvlStrRef>
              <c:f>Sheet1!$A$2:$A$6</c:f>
              <c:multiLvlStrCache>
                <c:ptCount val="5"/>
                <c:lvl>
                  <c:pt idx="0">
                    <c:v>Random Forest</c:v>
                  </c:pt>
                  <c:pt idx="1">
                    <c:v>SVM</c:v>
                  </c:pt>
                  <c:pt idx="2">
                    <c:v>KNN</c:v>
                  </c:pt>
                  <c:pt idx="3">
                    <c:v>Decision Tree</c:v>
                  </c:pt>
                  <c:pt idx="4">
                    <c:v>Log. Regression</c:v>
                  </c:pt>
                </c:lvl>
              </c:multiLvlStrCache>
            </c:multiLvlStrRef>
          </c:cat>
          <c:val>
            <c:numRef>
              <c:f>Sheet1!$B$2:$B$6</c:f>
              <c:numCache>
                <c:formatCode>General</c:formatCode>
                <c:ptCount val="5"/>
                <c:pt idx="0">
                  <c:v>99.55</c:v>
                </c:pt>
                <c:pt idx="1">
                  <c:v>98.41</c:v>
                </c:pt>
                <c:pt idx="2">
                  <c:v>97.95</c:v>
                </c:pt>
                <c:pt idx="3">
                  <c:v>97.95</c:v>
                </c:pt>
                <c:pt idx="4">
                  <c:v>97.27</c:v>
                </c:pt>
              </c:numCache>
            </c:numRef>
          </c:val>
        </c:ser>
        <c:dLbls>
          <c:numFmt formatCode="0.00" sourceLinked="0"/>
          <c:txPr>
            <a:bodyPr/>
            <a:lstStyle/>
            <a:p>
              <a:pPr>
                <a:defRPr b="0" i="0" strike="noStrike" sz="1100" u="none">
                  <a:solidFill>
                    <a:srgbClr val="1B2A2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A22"/>
                </a:solidFill>
                <a:latin typeface="+mn-lt"/>
              </a:defRPr>
            </a:pPr>
            <a:endParaRPr lang="en-US"/>
          </a:p>
        </c:txPr>
        <c:crossAx val="2094734552"/>
        <c:crosses val="autoZero"/>
        <c:auto val="1"/>
        <c:lblAlgn val="ctr"/>
        <c:noMultiLvlLbl val="1"/>
      </c:catAx>
      <c:valAx>
        <c:axId val="2094734552"/>
        <c:scaling>
          <c:orientation val="minMax"/>
          <c:max val="100"/>
          <c:min val="90"/>
        </c:scaling>
        <c:delete val="0"/>
        <c:axPos val="l"/>
        <c:majorGridlines>
          <c:spPr>
            <a:ln w="6350" cap="flat">
              <a:solidFill>
                <a:srgbClr val="DDE7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F64"/>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Our project is titled Smart Crop Recommendation and Farm Advisory System Using Machine Learning. It belongs to the area of precision agriculture. In simple words, a farmer enters soil and weather values, and our machine learning model tells which crop is best for that land, along with fertilizer advice. Our best model, Random Forest, gave 99.55 percent accuracy. This project was done by Lahari Namala and K. Keathana Vikashini of the Department of CSIT, under the guidance of Haritha madam, Assistant Professor, Department of CSIT. I will now explain the project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Crop recommendation means suggesting the right crop for a piece of land. The right crop depends on soil nutrients like nitrogen, phosphorus and potassium, and on climate factors like temperature, humidity and rainfall. Precision agriculture is the idea of using actual measured data to make farming decisions for each field. Machine learning fits here because it can study thousands of past examples and learn which conditions suit which crop. Once trained, it gives a quick and consistent answer for any farmer. The box on the right shows the basic idea: values go in, the model processes them, and the best crop comes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problem is that choosing the right crop is hard. Farmers usually decide based on what they grew last year or what neighbours are growing. But the four factors shown here, soil nutrients, rainfall, climate and soil pH, are different for every field and keep changing. If the crop does not match the conditions, the yield drops, fertilizer is wasted and the farmer loses money. The people most affected are small and marginal farmers who cannot easily consult a soil expert or agriculture officer.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this project because it solves a real problem. Many farmers do not have easy access to experts. If we recommend the right crop, the yield can improve. Fertilizer advice based on actual nutrient values helps farmers avoid using too much urea, DAP or potash, which saves money and protects the soil. Finally, we wanted to show how data and machine learning can make farming decisions smarter, and a trained model is very cheap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objective is to build a website that recommends the best crop and gives fertilizer advice using machine learning. To reach this, we set five specific objectives. First, collect and clean the dataset. Second, train five different algorithms and pick the best one. Third, show not just one crop but the top three, with confidence scores. Fourth, give fertilizer advice using nitrogen, phosphorus, potassium and pH values. Fifth, put everything into a Flask web application that a farmer can use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existing system, crop selection is mostly manual. Farmers repeat what they grew before, depend on experience handed down in the family, or ask a local agriculture officer or fertilizer dealer. These methods have clear limitations. They are subjective, so two people may give different advice. They do not use actual soil test or weather data. Experts are not always available in rural areas. There is no proper fertilizer guidance based on nutrients, and these methods do not adapt quickly when climate patterns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system is the Smart Crop AI website. The farmer simply enters seven values: nitrogen, phosphorus, potassium, temperature, humidity, pH and rainfall. The machine learning model then predicts the best crop. On the left you can see how it fixes the problems of the existing system: guesswork is replaced by data-based prediction, advice is available online at any time, and fertilizer tips are based on the actual nutrient values. On the right are the six main features: crop prediction, top three crops, fertilizer advice, weather updates, market updates and prediction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of our system. Follow the boxes from left to right. The user first logs in, then enters the farm values in a form. These values are sent to the Flask backend. Flask passes them to the trained machine learning model. The model predicts the crop, and our code compares the soil values with the crop's needs to give fertilizer advice. Finally, everything is shown on the dashboard. The colours show three layers: the light boxes are the frontend made with HTML, CSS and JavaScript; the medium green box is the Flask application layer; and the dark boxes are the machine learning layer, where the Random Forest model saved as a joblib file does the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our step-by-step workflow. Step one, we collected the Crop Recommendation dataset with 2,200 rows. Step two, we preprocessed it: we checked for missing values and duplicates, and scaled the features for algorithms that need it. Step three, we trained five algorithms using an 80 to 20 train-test split, keeping the crop proportions equal. Step four, we evaluated each model using accuracy, precision, recall and F1-score. Step five, we saved the best model using Joblib. Step six, we connected the model to a Flask API. Step seven, the result is shown on the website. We trained in Google Colab and built the web app in VS Code. The model with the highest macro F1-score was automatically 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technology stack. The frontend is built with HTML, CSS and JavaScript. The backend uses Python with the Flask framework. For machine learning we used Pandas to load data, NumPy for numbers, Scikit-learn to train the models and Joblib to save the trained model. The dataset is the Crop Recommendation CSV file. We used Google Colab for training and Matplotlib and Seaborn for graphs. For coding the website we used Visual Studio Code and tested it in Chrome.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has six modules. The login module lets the farmer sign in. The crop recommendation module is the heart of the project: it takes seven inputs and returns the best crop along with the top three choices. The fertilizer advice module compares the farmer's nitrogen, phosphorus, potassium and pH values with what the crop needs and suggests corrections. The update module shows weather and market price updates. The history module keeps a list of past predictions. The profile module stores the farmer's details like location and land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Crop Recommendation dataset. It has 2,200 records and 22 crop classes like rice, maize, cotton and coffee. Every crop has exactly 100 rows, so the dataset is perfectly balanced. Each record has seven input features: nitrogen, phosphorus and potassium in the soil, temperature, humidity, soil pH and rainfall. The output, called label, is the crop name. For preprocessing, we confirmed there are no missing values and no duplicates. We scaled the features using StandardScaler for Logistic Regression, SVM and KNN, because these algorithms are sensitive to the size of numbers. Then we split the data 80 percent for training and 20 percent for testing, keeping all crops equally represented.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tried five algorithms. Multinomial Logistic Regression draws straight-line boundaries and gives a probability for each crop. Random Forest builds 200 decision trees and lets them vote, which makes it very accurate and less likely to overfit; that is why it is highlighted. Support Vector Machine finds the widest possible gap between crop groups using a curved boundary. K-Nearest Neighbors looks at the five most similar records and picks their crop. Decision Tree asks a series of yes or no questions, like is rainfall more than 150 millimetres, until it reaches a crop. Logistic Regression, SVM and KNN used scaled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compare the models, we tested each one on 440 records that the model had never seen during training. The chart shows accuracy, and the table shows accuracy, precision, recall and F1-score. Precision tells us how many predicted crops were correct. Recall tells us how many actual crops were found. F1-score is the balance of both. Random Forest is the clear winner with 99.55 percent accuracy and 99.55 percent F1-score. SVM is second at 98.41 percent. All five models performed well because the dataset is clean and balanced, but Random Forest was the most reliable. Note that the chart axis starts at 90 percent so the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our final result. Random Forest is our best model with 99.55 percent accuracy. Out of 440 test records, it predicted 438 correctly. The only two mistakes were one blackgram predicted as maize and one rice predicted as jute, which are crops with similar conditions. Precision, recall and F1-score are all about 99.5 percent. On the right is a sample prediction from our trained model. For nitrogen 80, phosphorus 45, potassium 40, temperature 24 degrees, humidity 80 percent, pH 6.5 and rainfall 170 millimetres, the model recommends jute with 94 percent confidence, followed by rice and watermelon. The fertilizer module checks that the nutrient levels are fine and suggests using organic manure and avoiding over-fertilizing.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screenshots from our running website. On the right, the first screen is the login page, where the farmer enters name, mobile number and region. After login, the farm dashboard shows the current recommended crop, suitability, yield estimate and weather status, with buttons for every feature. The large screenshot is the crop recommendation screen. Here we entered nitrogen 90, phosphorus 42, potassium 43, temperature 20.8, humidity 82, pH 6.5, rainfall 202.9 and land area 2 acres. The system recommends rice, and also shows jute and coffee as the second and third options, along with reasons like rainfall supports rice cultivation.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remaining screens. The large screenshot is the fertilizer advice screen. The farmer selects the crop, growth stage, soil type and irrigation method, and the system tells whether nitrogen, phosphorus and potassium are good or low, followed by a final fertilizer plan. Here all three nutrients are fine for rice, so it suggests maintaining organic manure and avoiding over-fertilizing. On the right is the updates screen with weather, market, alerts and crop tips tabs; these currently use sample data. Below that is the prediction history screen, where saved recommendations are listed and can be cleared.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advantages of our system. Prediction is fast because the trained model gives the answer instantly. The interface is simple, so farmers do not need any technical knowledge. Instead of only one crop, we show the top three crops so the farmer has options. Fertilizer advice helps avoid overuse of chemicals. And the dashboard brings weather, market updates, history and profile together in one place. Compared to the existing system, our approach is based on data, gives the same answer for the same input, and is available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can be used in many places. Farmers can use it to plan the next season's crop. Agriculture students can use it to understand how soil and climate affect crop choice. Agri advisory centres and helplines can use it as the engine behind their advice. Government farming programmes can combine it with soil health card data. And because we built a REST API with Flask, any smart farming mobile app can connect to our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project has limitations, and ours has three main ones. First, the model depends on the dataset. It was trained on one public dataset of 2,200 records, so it can only recommend those 22 crops. Second, the farmer must enter correct values. If the soil test or rainfall values are wrong, the recommendation will also be wrong. Third, the weather and market update screens currently show sample data, not live information, and the prediction history is kept only while the page is open. We should also be honest that 99.55 percent accuracy is partly because the dataset is very clean and balanced; real field data will be messier.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future, we want to improve the system in five ways. First, connect a live weather API so temperature, humidity and rainfall are filled automatically. Second, connect a real market price API to show live mandi prices. Third, build a mobile app so farmers can use it directly in the field. Fourth, add regional languages like Telugu, Hindi and Tamil, and maybe voice input, so more farmers can use it. Fifth, integrate IoT soil sensors that can read nitrogen, phosphorus, potassium, pH and moisture automatically, so the farmer does not need to type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our project to the six course outcomes. CO1 is about the full machine learning lifecycle, and our project covers it completely: data, features, training, evaluation, saving the model and serving it in a website. CO2 is linear models; we used multinomial logistic regression with feature scaling and regularisation. CO3 is tree-based models; we used a decision tree and a random forest, which was our best model, and its feature importance shows rainfall, humidity and potassium matter most. CO4, unsupervised learning, is not part of this project; in future we could cluster soil profiles using k-means. CO5 is model evaluation; we used a stratified train-test split with accuracy, precision, recall, F1-score and the confusion matrix, so it is partly covered because we did not do cross-validation or hyperparameter search. CO6 is ML engineering; we packaged the model with Joblib and served it through a Flask REST API, but drift monitoring is not added yet, so it is partly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built a complete machine learning system, from dataset to trained model to a working Flask website. We compared five algorithms, and Random Forest gave the best accuracy of 99.55 percent on unseen test data. Farmers can get the best crop, top three alternatives and fertilizer advice in one simple dashboard. Our overall contribution is a low-cost, data-driven tool that supports precision agriculture. This project also covers our course outcomes: CO1 the full ML lifecycle, CO2 logistic regression, CO3 tree-based models like Random Forest and Decision Tree, CO5 model evaluation with accuracy, precision, recall and F1, and CO6 packaging the model with Joblib and serving it through a REST API. Thank you. We are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394192" y="347472"/>
            <a:ext cx="329184" cy="329184"/>
          </a:xfrm>
          <a:prstGeom prst="rect">
            <a:avLst/>
          </a:prstGeom>
        </p:spPr>
      </p:pic>
      <p:sp>
        <p:nvSpPr>
          <p:cNvPr id="3" name="Text 0"/>
          <p:cNvSpPr/>
          <p:nvPr/>
        </p:nvSpPr>
        <p:spPr>
          <a:xfrm>
            <a:off x="457200" y="4773168"/>
            <a:ext cx="4572000" cy="256032"/>
          </a:xfrm>
          <a:prstGeom prst="rect">
            <a:avLst/>
          </a:prstGeom>
          <a:noFill/>
          <a:ln/>
        </p:spPr>
        <p:txBody>
          <a:bodyPr wrap="square" lIns="0" tIns="0" rIns="0" bIns="0" rtlCol="0" anchor="ctr"/>
          <a:lstStyle/>
          <a:p>
            <a:pPr indent="0" marL="0">
              <a:buNone/>
            </a:pPr>
            <a:r>
              <a:rPr lang="en-US" sz="900" dirty="0">
                <a:solidFill>
                  <a:schemeClr val="accent6"/>
                </a:solidFill>
              </a:rPr>
              <a:t>Smart Crop AI  ·  Precision Agriculture</a:t>
            </a:r>
            <a:endParaRPr lang="en-US" sz="900" dirty="0"/>
          </a:p>
        </p:txBody>
      </p:sp>
      <p:sp>
        <p:nvSpPr>
          <p:cNvPr id="4" name="Text 1"/>
          <p:cNvSpPr/>
          <p:nvPr>
            <p:ph idx="102" type="title" hasCustomPrompt="1"/>
          </p:nvPr>
        </p:nvSpPr>
        <p:spPr>
          <a:xfrm>
            <a:off x="457200" y="274320"/>
            <a:ext cx="7772400"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394192" y="347472"/>
            <a:ext cx="329184" cy="329184"/>
          </a:xfrm>
          <a:prstGeom prst="rect">
            <a:avLst/>
          </a:prstGeom>
        </p:spPr>
      </p:pic>
      <p:sp>
        <p:nvSpPr>
          <p:cNvPr id="3" name="Text 0"/>
          <p:cNvSpPr/>
          <p:nvPr>
            <p:ph idx="101" type="title" hasCustomPrompt="1"/>
          </p:nvPr>
        </p:nvSpPr>
        <p:spPr>
          <a:xfrm>
            <a:off x="457200" y="274320"/>
            <a:ext cx="777240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3.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3.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4.xml"/><Relationship Id="rId6"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457200"/>
            <a:ext cx="566928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MACHINE LEARNING PROJECT  ·  PRECISION AGRICULTURE</a:t>
            </a:r>
            <a:endParaRPr lang="en-US" sz="1100" dirty="0"/>
          </a:p>
        </p:txBody>
      </p:sp>
      <p:sp>
        <p:nvSpPr>
          <p:cNvPr id="3" name="Text 1"/>
          <p:cNvSpPr txBox="1"/>
          <p:nvPr/>
        </p:nvSpPr>
        <p:spPr>
          <a:xfrm>
            <a:off x="457200" y="822960"/>
            <a:ext cx="5486400" cy="1463040"/>
          </a:xfrm>
          <a:prstGeom prst="rect">
            <a:avLst/>
          </a:prstGeom>
          <a:noFill/>
          <a:ln/>
        </p:spPr>
        <p:txBody>
          <a:bodyPr wrap="square" lIns="0" tIns="0" rIns="0" bIns="0" rtlCol="0" anchor="t"/>
          <a:lstStyle/>
          <a:p>
            <a:pPr indent="0" marL="0">
              <a:buNone/>
            </a:pPr>
            <a:r>
              <a:rPr lang="en-US" sz="3000" b="1" dirty="0">
                <a:solidFill>
                  <a:schemeClr val="bg1"/>
                </a:solidFill>
                <a:latin typeface="Calibri" pitchFamily="34" charset="0"/>
                <a:ea typeface="Calibri" pitchFamily="34" charset="-122"/>
                <a:cs typeface="Calibri" pitchFamily="34" charset="-120"/>
              </a:rPr>
              <a:t>Smart Crop Recommendation and Farm Advisory System Using Machine Learning</a:t>
            </a:r>
            <a:endParaRPr lang="en-US" sz="3000" dirty="0"/>
          </a:p>
        </p:txBody>
      </p:sp>
      <p:sp>
        <p:nvSpPr>
          <p:cNvPr id="4" name="Text 2"/>
          <p:cNvSpPr txBox="1"/>
          <p:nvPr/>
        </p:nvSpPr>
        <p:spPr>
          <a:xfrm>
            <a:off x="457200" y="2377440"/>
            <a:ext cx="5669280" cy="320040"/>
          </a:xfrm>
          <a:prstGeom prst="rect">
            <a:avLst/>
          </a:prstGeom>
          <a:noFill/>
          <a:ln/>
        </p:spPr>
        <p:txBody>
          <a:bodyPr wrap="square" lIns="0" tIns="0" rIns="0" bIns="0" rtlCol="0" anchor="t"/>
          <a:lstStyle/>
          <a:p>
            <a:pPr indent="0" marL="0">
              <a:buNone/>
            </a:pPr>
            <a:r>
              <a:rPr lang="en-US" sz="1400" i="1" dirty="0">
                <a:solidFill>
                  <a:schemeClr val="accent5"/>
                </a:solidFill>
              </a:rPr>
              <a:t>Soil + climate data  →  Random Forest model  →  best crop &amp; fertilizer advice</a:t>
            </a:r>
            <a:endParaRPr lang="en-US" sz="1400" dirty="0"/>
          </a:p>
        </p:txBody>
      </p:sp>
      <p:sp>
        <p:nvSpPr>
          <p:cNvPr id="5" name="Text 3"/>
          <p:cNvSpPr txBox="1"/>
          <p:nvPr/>
        </p:nvSpPr>
        <p:spPr>
          <a:xfrm>
            <a:off x="457200" y="2971800"/>
            <a:ext cx="2743200" cy="228600"/>
          </a:xfrm>
          <a:prstGeom prst="rect">
            <a:avLst/>
          </a:prstGeom>
          <a:noFill/>
          <a:ln/>
        </p:spPr>
        <p:txBody>
          <a:bodyPr wrap="square" lIns="0" tIns="0" rIns="0" bIns="0" rtlCol="0" anchor="t"/>
          <a:lstStyle/>
          <a:p>
            <a:pPr indent="0" marL="0">
              <a:buNone/>
            </a:pPr>
            <a:r>
              <a:rPr lang="en-US" sz="1000" b="1" spc="100" kern="0" dirty="0">
                <a:solidFill>
                  <a:schemeClr val="accent3"/>
                </a:solidFill>
              </a:rPr>
              <a:t>PRESENTED BY</a:t>
            </a:r>
            <a:endParaRPr lang="en-US" sz="1000" dirty="0"/>
          </a:p>
        </p:txBody>
      </p:sp>
      <p:sp>
        <p:nvSpPr>
          <p:cNvPr id="6" name="Text 4"/>
          <p:cNvSpPr txBox="1"/>
          <p:nvPr/>
        </p:nvSpPr>
        <p:spPr>
          <a:xfrm>
            <a:off x="457200" y="3218688"/>
            <a:ext cx="3017520" cy="1051560"/>
          </a:xfrm>
          <a:prstGeom prst="rect">
            <a:avLst/>
          </a:prstGeom>
          <a:noFill/>
          <a:ln/>
        </p:spPr>
        <p:txBody>
          <a:bodyPr wrap="square" lIns="0" tIns="0" rIns="0" bIns="0" rtlCol="0" anchor="t"/>
          <a:lstStyle/>
          <a:p>
            <a:pPr indent="0" marL="0">
              <a:spcAft>
                <a:spcPts val="100"/>
              </a:spcAft>
              <a:buNone/>
            </a:pPr>
            <a:r>
              <a:rPr lang="en-US" sz="1300" b="1" dirty="0">
                <a:solidFill>
                  <a:schemeClr val="bg1"/>
                </a:solidFill>
              </a:rPr>
              <a:t>Lahari Namala</a:t>
            </a:r>
            <a:endParaRPr lang="en-US" sz="1300" dirty="0"/>
          </a:p>
          <a:p>
            <a:pPr indent="0" marL="0">
              <a:spcAft>
                <a:spcPts val="100"/>
              </a:spcAft>
              <a:buNone/>
            </a:pPr>
            <a:r>
              <a:rPr lang="en-US" sz="1300" dirty="0">
                <a:solidFill>
                  <a:schemeClr val="accent5"/>
                </a:solidFill>
              </a:rPr>
              <a:t>Roll No: 2520090226</a:t>
            </a:r>
            <a:endParaRPr lang="en-US" sz="1300" dirty="0"/>
          </a:p>
          <a:p>
            <a:pPr indent="0" marL="0">
              <a:spcAft>
                <a:spcPts val="100"/>
              </a:spcAft>
              <a:buNone/>
            </a:pPr>
            <a:r>
              <a:rPr lang="en-US" sz="1300" b="1" dirty="0">
                <a:solidFill>
                  <a:schemeClr val="bg1"/>
                </a:solidFill>
              </a:rPr>
              <a:t>K. Keathana Vikashini</a:t>
            </a:r>
            <a:endParaRPr lang="en-US" sz="1300" dirty="0"/>
          </a:p>
          <a:p>
            <a:pPr indent="0" marL="0">
              <a:spcAft>
                <a:spcPts val="100"/>
              </a:spcAft>
              <a:buNone/>
            </a:pPr>
            <a:r>
              <a:rPr lang="en-US" sz="1300" dirty="0">
                <a:solidFill>
                  <a:schemeClr val="accent5"/>
                </a:solidFill>
              </a:rPr>
              <a:t>Roll No: 2520090236</a:t>
            </a:r>
            <a:endParaRPr lang="en-US" sz="1300" dirty="0"/>
          </a:p>
        </p:txBody>
      </p:sp>
      <p:sp>
        <p:nvSpPr>
          <p:cNvPr id="7" name="Text 5"/>
          <p:cNvSpPr txBox="1"/>
          <p:nvPr/>
        </p:nvSpPr>
        <p:spPr>
          <a:xfrm>
            <a:off x="3657600" y="2971800"/>
            <a:ext cx="2560320" cy="228600"/>
          </a:xfrm>
          <a:prstGeom prst="rect">
            <a:avLst/>
          </a:prstGeom>
          <a:noFill/>
          <a:ln/>
        </p:spPr>
        <p:txBody>
          <a:bodyPr wrap="square" lIns="0" tIns="0" rIns="0" bIns="0" rtlCol="0" anchor="t"/>
          <a:lstStyle/>
          <a:p>
            <a:pPr indent="0" marL="0">
              <a:buNone/>
            </a:pPr>
            <a:r>
              <a:rPr lang="en-US" sz="1000" b="1" spc="100" kern="0" dirty="0">
                <a:solidFill>
                  <a:schemeClr val="accent3"/>
                </a:solidFill>
              </a:rPr>
              <a:t>UNDER THE GUIDANCE OF</a:t>
            </a:r>
            <a:endParaRPr lang="en-US" sz="1000" dirty="0"/>
          </a:p>
        </p:txBody>
      </p:sp>
      <p:sp>
        <p:nvSpPr>
          <p:cNvPr id="8" name="Text 6"/>
          <p:cNvSpPr txBox="1"/>
          <p:nvPr/>
        </p:nvSpPr>
        <p:spPr>
          <a:xfrm>
            <a:off x="3657600" y="3218688"/>
            <a:ext cx="2651760" cy="548640"/>
          </a:xfrm>
          <a:prstGeom prst="rect">
            <a:avLst/>
          </a:prstGeom>
          <a:noFill/>
          <a:ln/>
        </p:spPr>
        <p:txBody>
          <a:bodyPr wrap="square" lIns="0" tIns="0" rIns="0" bIns="0" rtlCol="0" anchor="t"/>
          <a:lstStyle/>
          <a:p>
            <a:pPr indent="0" marL="0">
              <a:spcAft>
                <a:spcPts val="300"/>
              </a:spcAft>
              <a:buNone/>
            </a:pPr>
            <a:r>
              <a:rPr lang="en-US" sz="1300" b="1" dirty="0">
                <a:solidFill>
                  <a:schemeClr val="bg1"/>
                </a:solidFill>
              </a:rPr>
              <a:t>Haritha</a:t>
            </a:r>
            <a:endParaRPr lang="en-US" sz="1300" dirty="0"/>
          </a:p>
          <a:p>
            <a:pPr indent="0" marL="0">
              <a:spcAft>
                <a:spcPts val="300"/>
              </a:spcAft>
              <a:buNone/>
            </a:pPr>
            <a:r>
              <a:rPr lang="en-US" sz="1300" dirty="0">
                <a:solidFill>
                  <a:schemeClr val="bg1"/>
                </a:solidFill>
              </a:rPr>
              <a:t>Assistant Professor, Dept. of CSIT</a:t>
            </a:r>
            <a:endParaRPr lang="en-US" sz="1300" dirty="0"/>
          </a:p>
        </p:txBody>
      </p:sp>
      <p:sp>
        <p:nvSpPr>
          <p:cNvPr id="9" name="Text 7"/>
          <p:cNvSpPr txBox="1"/>
          <p:nvPr/>
        </p:nvSpPr>
        <p:spPr>
          <a:xfrm>
            <a:off x="457200" y="4434840"/>
            <a:ext cx="7772400" cy="274320"/>
          </a:xfrm>
          <a:prstGeom prst="rect">
            <a:avLst/>
          </a:prstGeom>
          <a:noFill/>
          <a:ln/>
        </p:spPr>
        <p:txBody>
          <a:bodyPr wrap="square" lIns="0" tIns="0" rIns="0" bIns="0" rtlCol="0" anchor="t"/>
          <a:lstStyle/>
          <a:p>
            <a:pPr indent="0" marL="0">
              <a:buNone/>
            </a:pPr>
            <a:r>
              <a:rPr lang="en-US" sz="1100" dirty="0">
                <a:solidFill>
                  <a:schemeClr val="accent5"/>
                </a:solidFill>
              </a:rPr>
              <a:t>Department of Computer Science and Information Technology (CSIT)  ·  KL University, Hyderabad  ·  A.Y. 2026–27</a:t>
            </a:r>
            <a:endParaRPr lang="en-US" sz="1100" dirty="0"/>
          </a:p>
        </p:txBody>
      </p:sp>
      <p:sp>
        <p:nvSpPr>
          <p:cNvPr id="10" name="Shape 8"/>
          <p:cNvSpPr/>
          <p:nvPr/>
        </p:nvSpPr>
        <p:spPr>
          <a:xfrm>
            <a:off x="6446520" y="777240"/>
            <a:ext cx="2240280" cy="2240280"/>
          </a:xfrm>
          <a:prstGeom prst="ellipse">
            <a:avLst/>
          </a:prstGeom>
          <a:solidFill>
            <a:schemeClr val="accent1"/>
          </a:solidFill>
          <a:ln w="38100">
            <a:solidFill>
              <a:schemeClr val="accent2"/>
            </a:solidFill>
            <a:prstDash val="solid"/>
          </a:ln>
        </p:spPr>
      </p:sp>
      <p:pic>
        <p:nvPicPr>
          <p:cNvPr id="11" name="Image 0" descr="preencoded.png">    </p:cNvPr>
          <p:cNvPicPr>
            <a:picLocks noChangeAspect="1"/>
          </p:cNvPicPr>
          <p:nvPr/>
        </p:nvPicPr>
        <p:blipFill>
          <a:blip r:embed="rId1"/>
          <a:stretch>
            <a:fillRect/>
          </a:stretch>
        </p:blipFill>
        <p:spPr>
          <a:xfrm>
            <a:off x="6967728" y="1207008"/>
            <a:ext cx="1188720" cy="1188720"/>
          </a:xfrm>
          <a:prstGeom prst="rect">
            <a:avLst/>
          </a:prstGeom>
        </p:spPr>
      </p:pic>
      <p:sp>
        <p:nvSpPr>
          <p:cNvPr id="12" name="Text 9"/>
          <p:cNvSpPr txBox="1"/>
          <p:nvPr/>
        </p:nvSpPr>
        <p:spPr>
          <a:xfrm>
            <a:off x="6309360" y="3154680"/>
            <a:ext cx="2514600" cy="502920"/>
          </a:xfrm>
          <a:prstGeom prst="rect">
            <a:avLst/>
          </a:prstGeom>
          <a:noFill/>
          <a:ln/>
        </p:spPr>
        <p:txBody>
          <a:bodyPr wrap="square" lIns="0" tIns="0" rIns="0" bIns="0" rtlCol="0" anchor="t"/>
          <a:lstStyle/>
          <a:p>
            <a:pPr algn="ctr" indent="0" marL="0">
              <a:buNone/>
            </a:pPr>
            <a:r>
              <a:rPr lang="en-US" sz="3000" b="1" dirty="0">
                <a:solidFill>
                  <a:schemeClr val="accent3"/>
                </a:solidFill>
              </a:rPr>
              <a:t>99.55%</a:t>
            </a:r>
            <a:endParaRPr lang="en-US" sz="3000" dirty="0"/>
          </a:p>
        </p:txBody>
      </p:sp>
      <p:sp>
        <p:nvSpPr>
          <p:cNvPr id="13" name="Text 10"/>
          <p:cNvSpPr txBox="1"/>
          <p:nvPr/>
        </p:nvSpPr>
        <p:spPr>
          <a:xfrm>
            <a:off x="6309360" y="3639312"/>
            <a:ext cx="2514600" cy="274320"/>
          </a:xfrm>
          <a:prstGeom prst="rect">
            <a:avLst/>
          </a:prstGeom>
          <a:noFill/>
          <a:ln/>
        </p:spPr>
        <p:txBody>
          <a:bodyPr wrap="square" lIns="0" tIns="0" rIns="0" bIns="0" rtlCol="0" anchor="t"/>
          <a:lstStyle/>
          <a:p>
            <a:pPr algn="ctr" indent="0" marL="0">
              <a:buNone/>
            </a:pPr>
            <a:r>
              <a:rPr lang="en-US" sz="1200" dirty="0">
                <a:solidFill>
                  <a:schemeClr val="accent5"/>
                </a:solidFill>
              </a:rPr>
              <a:t>Random Forest accuracy</a:t>
            </a:r>
            <a:endParaRPr lang="en-US" sz="1200" dirty="0"/>
          </a:p>
        </p:txBody>
      </p:sp>
      <p:sp>
        <p:nvSpPr>
          <p:cNvPr id="25" name="Slide Number Placeholder 0"/>
          <p:cNvSpPr>
            <a:spLocks noGrp="1"/>
          </p:cNvSpPr>
          <p:nvPr>
            <p:ph type="sldNum" sz="quarter" idx="4294967295"/>
          </p:nvPr>
        </p:nvSpPr>
        <p:spPr>
          <a:xfrm>
            <a:off x="832104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Introduction</a:t>
            </a:r>
            <a:endParaRPr lang="en-US" sz="3200" dirty="0"/>
          </a:p>
        </p:txBody>
      </p:sp>
      <p:sp>
        <p:nvSpPr>
          <p:cNvPr id="3" name="Shape 1"/>
          <p:cNvSpPr/>
          <p:nvPr/>
        </p:nvSpPr>
        <p:spPr>
          <a:xfrm>
            <a:off x="457200" y="1234440"/>
            <a:ext cx="566928" cy="566928"/>
          </a:xfrm>
          <a:prstGeom prst="ellipse">
            <a:avLst/>
          </a:prstGeom>
          <a:solidFill>
            <a:schemeClr val="bg2"/>
          </a:solidFill>
          <a:ln/>
        </p:spPr>
      </p:sp>
      <p:pic>
        <p:nvPicPr>
          <p:cNvPr id="4" name="Image 0" descr="preencoded.png">    </p:cNvPr>
          <p:cNvPicPr>
            <a:picLocks noChangeAspect="1"/>
          </p:cNvPicPr>
          <p:nvPr/>
        </p:nvPicPr>
        <p:blipFill>
          <a:blip r:embed="rId1"/>
          <a:stretch>
            <a:fillRect/>
          </a:stretch>
        </p:blipFill>
        <p:spPr>
          <a:xfrm>
            <a:off x="598932" y="1376172"/>
            <a:ext cx="283464" cy="283464"/>
          </a:xfrm>
          <a:prstGeom prst="rect">
            <a:avLst/>
          </a:prstGeom>
        </p:spPr>
      </p:pic>
      <p:sp>
        <p:nvSpPr>
          <p:cNvPr id="5" name="Text 2"/>
          <p:cNvSpPr txBox="1"/>
          <p:nvPr/>
        </p:nvSpPr>
        <p:spPr>
          <a:xfrm>
            <a:off x="1234440" y="1216152"/>
            <a:ext cx="4389120" cy="320040"/>
          </a:xfrm>
          <a:prstGeom prst="rect">
            <a:avLst/>
          </a:prstGeom>
          <a:noFill/>
          <a:ln/>
        </p:spPr>
        <p:txBody>
          <a:bodyPr wrap="square" lIns="0" tIns="0" rIns="0" bIns="0" rtlCol="0" anchor="t"/>
          <a:lstStyle/>
          <a:p>
            <a:pPr indent="0" marL="0">
              <a:buNone/>
            </a:pPr>
            <a:r>
              <a:rPr lang="en-US" sz="1700" b="1" dirty="0">
                <a:solidFill>
                  <a:schemeClr val="tx2"/>
                </a:solidFill>
              </a:rPr>
              <a:t>Crop recommendation</a:t>
            </a:r>
            <a:endParaRPr lang="en-US" sz="1700" dirty="0"/>
          </a:p>
        </p:txBody>
      </p:sp>
      <p:sp>
        <p:nvSpPr>
          <p:cNvPr id="6" name="Text 3"/>
          <p:cNvSpPr txBox="1"/>
          <p:nvPr/>
        </p:nvSpPr>
        <p:spPr>
          <a:xfrm>
            <a:off x="1234440" y="1563624"/>
            <a:ext cx="4389120" cy="640080"/>
          </a:xfrm>
          <a:prstGeom prst="rect">
            <a:avLst/>
          </a:prstGeom>
          <a:noFill/>
          <a:ln/>
        </p:spPr>
        <p:txBody>
          <a:bodyPr wrap="square" lIns="0" tIns="0" rIns="0" bIns="0" rtlCol="0" anchor="t"/>
          <a:lstStyle/>
          <a:p>
            <a:pPr indent="0" marL="0">
              <a:buNone/>
            </a:pPr>
            <a:r>
              <a:rPr lang="en-US" sz="1400" dirty="0">
                <a:solidFill>
                  <a:schemeClr val="tx1"/>
                </a:solidFill>
              </a:rPr>
              <a:t>Suggests the most suitable crop for a field from its soil nutrients and local climate.</a:t>
            </a:r>
            <a:endParaRPr lang="en-US" sz="1400" dirty="0"/>
          </a:p>
        </p:txBody>
      </p:sp>
      <p:sp>
        <p:nvSpPr>
          <p:cNvPr id="7" name="Shape 4"/>
          <p:cNvSpPr/>
          <p:nvPr/>
        </p:nvSpPr>
        <p:spPr>
          <a:xfrm>
            <a:off x="457200" y="2350008"/>
            <a:ext cx="566928" cy="566928"/>
          </a:xfrm>
          <a:prstGeom prst="ellipse">
            <a:avLst/>
          </a:prstGeom>
          <a:solidFill>
            <a:schemeClr val="bg2"/>
          </a:solidFill>
          <a:ln/>
        </p:spPr>
      </p:sp>
      <p:pic>
        <p:nvPicPr>
          <p:cNvPr id="8" name="Image 1" descr="preencoded.png">    </p:cNvPr>
          <p:cNvPicPr>
            <a:picLocks noChangeAspect="1"/>
          </p:cNvPicPr>
          <p:nvPr/>
        </p:nvPicPr>
        <p:blipFill>
          <a:blip r:embed="rId2"/>
          <a:stretch>
            <a:fillRect/>
          </a:stretch>
        </p:blipFill>
        <p:spPr>
          <a:xfrm>
            <a:off x="598932" y="2491740"/>
            <a:ext cx="283464" cy="283464"/>
          </a:xfrm>
          <a:prstGeom prst="rect">
            <a:avLst/>
          </a:prstGeom>
        </p:spPr>
      </p:pic>
      <p:sp>
        <p:nvSpPr>
          <p:cNvPr id="9" name="Text 5"/>
          <p:cNvSpPr txBox="1"/>
          <p:nvPr/>
        </p:nvSpPr>
        <p:spPr>
          <a:xfrm>
            <a:off x="1234440" y="2331720"/>
            <a:ext cx="4389120" cy="320040"/>
          </a:xfrm>
          <a:prstGeom prst="rect">
            <a:avLst/>
          </a:prstGeom>
          <a:noFill/>
          <a:ln/>
        </p:spPr>
        <p:txBody>
          <a:bodyPr wrap="square" lIns="0" tIns="0" rIns="0" bIns="0" rtlCol="0" anchor="t"/>
          <a:lstStyle/>
          <a:p>
            <a:pPr indent="0" marL="0">
              <a:buNone/>
            </a:pPr>
            <a:r>
              <a:rPr lang="en-US" sz="1700" b="1" dirty="0">
                <a:solidFill>
                  <a:schemeClr val="tx2"/>
                </a:solidFill>
              </a:rPr>
              <a:t>Precision agriculture</a:t>
            </a:r>
            <a:endParaRPr lang="en-US" sz="1700" dirty="0"/>
          </a:p>
        </p:txBody>
      </p:sp>
      <p:sp>
        <p:nvSpPr>
          <p:cNvPr id="10" name="Text 6"/>
          <p:cNvSpPr txBox="1"/>
          <p:nvPr/>
        </p:nvSpPr>
        <p:spPr>
          <a:xfrm>
            <a:off x="1234440" y="2679192"/>
            <a:ext cx="4389120" cy="640080"/>
          </a:xfrm>
          <a:prstGeom prst="rect">
            <a:avLst/>
          </a:prstGeom>
          <a:noFill/>
          <a:ln/>
        </p:spPr>
        <p:txBody>
          <a:bodyPr wrap="square" lIns="0" tIns="0" rIns="0" bIns="0" rtlCol="0" anchor="t"/>
          <a:lstStyle/>
          <a:p>
            <a:pPr indent="0" marL="0">
              <a:buNone/>
            </a:pPr>
            <a:r>
              <a:rPr lang="en-US" sz="1400" dirty="0">
                <a:solidFill>
                  <a:schemeClr val="tx1"/>
                </a:solidFill>
              </a:rPr>
              <a:t>Uses measured data to make field-level decisions instead of guesswork.</a:t>
            </a:r>
            <a:endParaRPr lang="en-US" sz="1400" dirty="0"/>
          </a:p>
        </p:txBody>
      </p:sp>
      <p:sp>
        <p:nvSpPr>
          <p:cNvPr id="11" name="Shape 7"/>
          <p:cNvSpPr/>
          <p:nvPr/>
        </p:nvSpPr>
        <p:spPr>
          <a:xfrm>
            <a:off x="457200" y="3465576"/>
            <a:ext cx="566928" cy="566928"/>
          </a:xfrm>
          <a:prstGeom prst="ellipse">
            <a:avLst/>
          </a:prstGeom>
          <a:solidFill>
            <a:schemeClr val="bg2"/>
          </a:solidFill>
          <a:ln/>
        </p:spPr>
      </p:sp>
      <p:pic>
        <p:nvPicPr>
          <p:cNvPr id="12" name="Image 2" descr="preencoded.png">    </p:cNvPr>
          <p:cNvPicPr>
            <a:picLocks noChangeAspect="1"/>
          </p:cNvPicPr>
          <p:nvPr/>
        </p:nvPicPr>
        <p:blipFill>
          <a:blip r:embed="rId3"/>
          <a:stretch>
            <a:fillRect/>
          </a:stretch>
        </p:blipFill>
        <p:spPr>
          <a:xfrm>
            <a:off x="598932" y="3607308"/>
            <a:ext cx="283464" cy="283464"/>
          </a:xfrm>
          <a:prstGeom prst="rect">
            <a:avLst/>
          </a:prstGeom>
        </p:spPr>
      </p:pic>
      <p:sp>
        <p:nvSpPr>
          <p:cNvPr id="13" name="Text 8"/>
          <p:cNvSpPr txBox="1"/>
          <p:nvPr/>
        </p:nvSpPr>
        <p:spPr>
          <a:xfrm>
            <a:off x="1234440" y="3447288"/>
            <a:ext cx="4389120" cy="320040"/>
          </a:xfrm>
          <a:prstGeom prst="rect">
            <a:avLst/>
          </a:prstGeom>
          <a:noFill/>
          <a:ln/>
        </p:spPr>
        <p:txBody>
          <a:bodyPr wrap="square" lIns="0" tIns="0" rIns="0" bIns="0" rtlCol="0" anchor="t"/>
          <a:lstStyle/>
          <a:p>
            <a:pPr indent="0" marL="0">
              <a:buNone/>
            </a:pPr>
            <a:r>
              <a:rPr lang="en-US" sz="1700" b="1" dirty="0">
                <a:solidFill>
                  <a:schemeClr val="tx2"/>
                </a:solidFill>
              </a:rPr>
              <a:t>Why machine learning?</a:t>
            </a:r>
            <a:endParaRPr lang="en-US" sz="1700" dirty="0"/>
          </a:p>
        </p:txBody>
      </p:sp>
      <p:sp>
        <p:nvSpPr>
          <p:cNvPr id="14" name="Text 9"/>
          <p:cNvSpPr txBox="1"/>
          <p:nvPr/>
        </p:nvSpPr>
        <p:spPr>
          <a:xfrm>
            <a:off x="1234440" y="3794760"/>
            <a:ext cx="4389120" cy="640080"/>
          </a:xfrm>
          <a:prstGeom prst="rect">
            <a:avLst/>
          </a:prstGeom>
          <a:noFill/>
          <a:ln/>
        </p:spPr>
        <p:txBody>
          <a:bodyPr wrap="square" lIns="0" tIns="0" rIns="0" bIns="0" rtlCol="0" anchor="t"/>
          <a:lstStyle/>
          <a:p>
            <a:pPr indent="0" marL="0">
              <a:buNone/>
            </a:pPr>
            <a:r>
              <a:rPr lang="en-US" sz="1400" dirty="0">
                <a:solidFill>
                  <a:schemeClr val="tx1"/>
                </a:solidFill>
              </a:rPr>
              <a:t>Learns patterns from 2,200 past records and gives fast, consistent advice to every farmer.</a:t>
            </a:r>
            <a:endParaRPr lang="en-US" sz="1400" dirty="0"/>
          </a:p>
        </p:txBody>
      </p:sp>
      <p:sp>
        <p:nvSpPr>
          <p:cNvPr id="15" name="intro-flow"/>
          <p:cNvSpPr/>
          <p:nvPr/>
        </p:nvSpPr>
        <p:spPr>
          <a:xfrm>
            <a:off x="5989320" y="1188720"/>
            <a:ext cx="2697480" cy="3383280"/>
          </a:xfrm>
          <a:prstGeom prst="roundRect">
            <a:avLst>
              <a:gd name="adj" fmla="val 3390"/>
            </a:avLst>
          </a:prstGeom>
          <a:solidFill>
            <a:schemeClr val="tx2"/>
          </a:solidFill>
          <a:ln/>
        </p:spPr>
      </p:sp>
      <p:sp>
        <p:nvSpPr>
          <p:cNvPr id="16" name="Shape 11"/>
          <p:cNvSpPr/>
          <p:nvPr/>
        </p:nvSpPr>
        <p:spPr>
          <a:xfrm>
            <a:off x="6217920" y="1417320"/>
            <a:ext cx="502920" cy="502920"/>
          </a:xfrm>
          <a:prstGeom prst="ellipse">
            <a:avLst/>
          </a:prstGeom>
          <a:solidFill>
            <a:schemeClr val="accent1"/>
          </a:solidFill>
          <a:ln/>
        </p:spPr>
      </p:sp>
      <p:pic>
        <p:nvPicPr>
          <p:cNvPr id="17" name="Image 3" descr="preencoded.png">    </p:cNvPr>
          <p:cNvPicPr>
            <a:picLocks noChangeAspect="1"/>
          </p:cNvPicPr>
          <p:nvPr/>
        </p:nvPicPr>
        <p:blipFill>
          <a:blip r:embed="rId4"/>
          <a:stretch>
            <a:fillRect/>
          </a:stretch>
        </p:blipFill>
        <p:spPr>
          <a:xfrm>
            <a:off x="6343650" y="1543050"/>
            <a:ext cx="251460" cy="251460"/>
          </a:xfrm>
          <a:prstGeom prst="rect">
            <a:avLst/>
          </a:prstGeom>
        </p:spPr>
      </p:pic>
      <p:sp>
        <p:nvSpPr>
          <p:cNvPr id="18" name="Text 12"/>
          <p:cNvSpPr txBox="1"/>
          <p:nvPr/>
        </p:nvSpPr>
        <p:spPr>
          <a:xfrm>
            <a:off x="6858000" y="1490472"/>
            <a:ext cx="1737360" cy="365760"/>
          </a:xfrm>
          <a:prstGeom prst="rect">
            <a:avLst/>
          </a:prstGeom>
          <a:noFill/>
          <a:ln/>
        </p:spPr>
        <p:txBody>
          <a:bodyPr wrap="square" lIns="0" tIns="0" rIns="0" bIns="0" rtlCol="0" anchor="ctr"/>
          <a:lstStyle/>
          <a:p>
            <a:pPr indent="0" marL="0">
              <a:buNone/>
            </a:pPr>
            <a:r>
              <a:rPr lang="en-US" sz="1400" b="1" dirty="0">
                <a:solidFill>
                  <a:schemeClr val="bg1"/>
                </a:solidFill>
              </a:rPr>
              <a:t>Soil + climate values</a:t>
            </a:r>
            <a:endParaRPr lang="en-US" sz="1400" dirty="0"/>
          </a:p>
        </p:txBody>
      </p:sp>
      <p:sp>
        <p:nvSpPr>
          <p:cNvPr id="19" name="Shape 13"/>
          <p:cNvSpPr/>
          <p:nvPr/>
        </p:nvSpPr>
        <p:spPr>
          <a:xfrm>
            <a:off x="6469380" y="1984248"/>
            <a:ext cx="0" cy="411480"/>
          </a:xfrm>
          <a:prstGeom prst="line">
            <a:avLst/>
          </a:prstGeom>
          <a:noFill/>
          <a:ln w="19050">
            <a:solidFill>
              <a:schemeClr val="accent5"/>
            </a:solidFill>
            <a:prstDash val="solid"/>
            <a:tailEnd type="triangle"/>
          </a:ln>
        </p:spPr>
      </p:sp>
      <p:sp>
        <p:nvSpPr>
          <p:cNvPr id="20" name="Shape 14"/>
          <p:cNvSpPr/>
          <p:nvPr/>
        </p:nvSpPr>
        <p:spPr>
          <a:xfrm>
            <a:off x="6217920" y="2468880"/>
            <a:ext cx="502920" cy="502920"/>
          </a:xfrm>
          <a:prstGeom prst="ellipse">
            <a:avLst/>
          </a:prstGeom>
          <a:solidFill>
            <a:schemeClr val="accent1"/>
          </a:solidFill>
          <a:ln/>
        </p:spPr>
      </p:sp>
      <p:pic>
        <p:nvPicPr>
          <p:cNvPr id="21" name="Image 4" descr="preencoded.png">    </p:cNvPr>
          <p:cNvPicPr>
            <a:picLocks noChangeAspect="1"/>
          </p:cNvPicPr>
          <p:nvPr/>
        </p:nvPicPr>
        <p:blipFill>
          <a:blip r:embed="rId5"/>
          <a:stretch>
            <a:fillRect/>
          </a:stretch>
        </p:blipFill>
        <p:spPr>
          <a:xfrm>
            <a:off x="6343650" y="2594610"/>
            <a:ext cx="251460" cy="251460"/>
          </a:xfrm>
          <a:prstGeom prst="rect">
            <a:avLst/>
          </a:prstGeom>
        </p:spPr>
      </p:pic>
      <p:sp>
        <p:nvSpPr>
          <p:cNvPr id="22" name="Text 15"/>
          <p:cNvSpPr txBox="1"/>
          <p:nvPr/>
        </p:nvSpPr>
        <p:spPr>
          <a:xfrm>
            <a:off x="6858000" y="2542032"/>
            <a:ext cx="1737360" cy="365760"/>
          </a:xfrm>
          <a:prstGeom prst="rect">
            <a:avLst/>
          </a:prstGeom>
          <a:noFill/>
          <a:ln/>
        </p:spPr>
        <p:txBody>
          <a:bodyPr wrap="square" lIns="0" tIns="0" rIns="0" bIns="0" rtlCol="0" anchor="ctr"/>
          <a:lstStyle/>
          <a:p>
            <a:pPr indent="0" marL="0">
              <a:buNone/>
            </a:pPr>
            <a:r>
              <a:rPr lang="en-US" sz="1400" b="1" dirty="0">
                <a:solidFill>
                  <a:schemeClr val="bg1"/>
                </a:solidFill>
              </a:rPr>
              <a:t>ML model</a:t>
            </a:r>
            <a:endParaRPr lang="en-US" sz="1400" dirty="0"/>
          </a:p>
        </p:txBody>
      </p:sp>
      <p:sp>
        <p:nvSpPr>
          <p:cNvPr id="23" name="Shape 16"/>
          <p:cNvSpPr/>
          <p:nvPr/>
        </p:nvSpPr>
        <p:spPr>
          <a:xfrm>
            <a:off x="6469380" y="3035808"/>
            <a:ext cx="0" cy="411480"/>
          </a:xfrm>
          <a:prstGeom prst="line">
            <a:avLst/>
          </a:prstGeom>
          <a:noFill/>
          <a:ln w="19050">
            <a:solidFill>
              <a:schemeClr val="accent5"/>
            </a:solidFill>
            <a:prstDash val="solid"/>
            <a:tailEnd type="triangle"/>
          </a:ln>
        </p:spPr>
      </p:sp>
      <p:sp>
        <p:nvSpPr>
          <p:cNvPr id="24" name="Shape 17"/>
          <p:cNvSpPr/>
          <p:nvPr/>
        </p:nvSpPr>
        <p:spPr>
          <a:xfrm>
            <a:off x="6217920" y="3520440"/>
            <a:ext cx="502920" cy="502920"/>
          </a:xfrm>
          <a:prstGeom prst="ellipse">
            <a:avLst/>
          </a:prstGeom>
          <a:solidFill>
            <a:schemeClr val="accent1"/>
          </a:solidFill>
          <a:ln/>
        </p:spPr>
      </p:sp>
      <p:pic>
        <p:nvPicPr>
          <p:cNvPr id="25" name="Image 5" descr="preencoded.png">    </p:cNvPr>
          <p:cNvPicPr>
            <a:picLocks noChangeAspect="1"/>
          </p:cNvPicPr>
          <p:nvPr/>
        </p:nvPicPr>
        <p:blipFill>
          <a:blip r:embed="rId6"/>
          <a:stretch>
            <a:fillRect/>
          </a:stretch>
        </p:blipFill>
        <p:spPr>
          <a:xfrm>
            <a:off x="6343650" y="3646170"/>
            <a:ext cx="251460" cy="251460"/>
          </a:xfrm>
          <a:prstGeom prst="rect">
            <a:avLst/>
          </a:prstGeom>
        </p:spPr>
      </p:pic>
      <p:sp>
        <p:nvSpPr>
          <p:cNvPr id="26" name="Text 18"/>
          <p:cNvSpPr txBox="1"/>
          <p:nvPr/>
        </p:nvSpPr>
        <p:spPr>
          <a:xfrm>
            <a:off x="6858000" y="3593592"/>
            <a:ext cx="1737360" cy="365760"/>
          </a:xfrm>
          <a:prstGeom prst="rect">
            <a:avLst/>
          </a:prstGeom>
          <a:noFill/>
          <a:ln/>
        </p:spPr>
        <p:txBody>
          <a:bodyPr wrap="square" lIns="0" tIns="0" rIns="0" bIns="0" rtlCol="0" anchor="ctr"/>
          <a:lstStyle/>
          <a:p>
            <a:pPr indent="0" marL="0">
              <a:buNone/>
            </a:pPr>
            <a:r>
              <a:rPr lang="en-US" sz="1400" b="1" dirty="0">
                <a:solidFill>
                  <a:schemeClr val="bg1"/>
                </a:solidFill>
              </a:rPr>
              <a:t>Best crop + advice</a:t>
            </a:r>
            <a:endParaRPr lang="en-US" sz="14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Problem Statement</a:t>
            </a:r>
            <a:endParaRPr lang="en-US" sz="3200" dirty="0"/>
          </a:p>
        </p:txBody>
      </p:sp>
      <p:sp>
        <p:nvSpPr>
          <p:cNvPr id="3" name="Shape 1"/>
          <p:cNvSpPr/>
          <p:nvPr/>
        </p:nvSpPr>
        <p:spPr>
          <a:xfrm>
            <a:off x="457200" y="1143000"/>
            <a:ext cx="8229600" cy="777240"/>
          </a:xfrm>
          <a:prstGeom prst="roundRect">
            <a:avLst>
              <a:gd name="adj" fmla="val 11765"/>
            </a:avLst>
          </a:prstGeom>
          <a:solidFill>
            <a:schemeClr val="bg2"/>
          </a:solidFill>
          <a:ln/>
        </p:spPr>
      </p:sp>
      <p:sp>
        <p:nvSpPr>
          <p:cNvPr id="4" name="Text 2"/>
          <p:cNvSpPr txBox="1"/>
          <p:nvPr/>
        </p:nvSpPr>
        <p:spPr>
          <a:xfrm>
            <a:off x="685800" y="1216152"/>
            <a:ext cx="7772400" cy="640080"/>
          </a:xfrm>
          <a:prstGeom prst="rect">
            <a:avLst/>
          </a:prstGeom>
          <a:noFill/>
          <a:ln/>
        </p:spPr>
        <p:txBody>
          <a:bodyPr wrap="square" lIns="0" tIns="0" rIns="0" bIns="0" rtlCol="0" anchor="ctr"/>
          <a:lstStyle/>
          <a:p>
            <a:pPr indent="0" marL="0">
              <a:buNone/>
            </a:pPr>
            <a:r>
              <a:rPr lang="en-US" sz="1500" i="1" dirty="0">
                <a:solidFill>
                  <a:schemeClr val="tx2"/>
                </a:solidFill>
              </a:rPr>
              <a:t>Farmers often choose crops by habit or guesswork, even though soil, rainfall, nutrients and climate change from field to field and season to season.</a:t>
            </a:r>
            <a:endParaRPr lang="en-US" sz="1500" dirty="0"/>
          </a:p>
        </p:txBody>
      </p:sp>
      <p:sp>
        <p:nvSpPr>
          <p:cNvPr id="5" name="Shape 3"/>
          <p:cNvSpPr/>
          <p:nvPr/>
        </p:nvSpPr>
        <p:spPr>
          <a:xfrm>
            <a:off x="457200" y="2148840"/>
            <a:ext cx="1865376" cy="1280160"/>
          </a:xfrm>
          <a:prstGeom prst="roundRect">
            <a:avLst>
              <a:gd name="adj" fmla="val 7143"/>
            </a:avLst>
          </a:prstGeom>
          <a:solidFill>
            <a:schemeClr val="bg1"/>
          </a:solidFill>
          <a:ln w="12700">
            <a:solidFill>
              <a:schemeClr val="accent5"/>
            </a:solidFill>
            <a:prstDash val="solid"/>
          </a:ln>
        </p:spPr>
      </p:sp>
      <p:sp>
        <p:nvSpPr>
          <p:cNvPr id="6" name="Shape 4"/>
          <p:cNvSpPr/>
          <p:nvPr/>
        </p:nvSpPr>
        <p:spPr>
          <a:xfrm>
            <a:off x="640080" y="2304288"/>
            <a:ext cx="457200" cy="457200"/>
          </a:xfrm>
          <a:prstGeom prst="ellipse">
            <a:avLst/>
          </a:prstGeom>
          <a:solidFill>
            <a:schemeClr val="bg2"/>
          </a:solidFill>
          <a:ln/>
        </p:spPr>
      </p:sp>
      <p:pic>
        <p:nvPicPr>
          <p:cNvPr id="7" name="Image 0" descr="preencoded.png">    </p:cNvPr>
          <p:cNvPicPr>
            <a:picLocks noChangeAspect="1"/>
          </p:cNvPicPr>
          <p:nvPr/>
        </p:nvPicPr>
        <p:blipFill>
          <a:blip r:embed="rId1"/>
          <a:stretch>
            <a:fillRect/>
          </a:stretch>
        </p:blipFill>
        <p:spPr>
          <a:xfrm>
            <a:off x="754380" y="2418588"/>
            <a:ext cx="228600" cy="228600"/>
          </a:xfrm>
          <a:prstGeom prst="rect">
            <a:avLst/>
          </a:prstGeom>
        </p:spPr>
      </p:pic>
      <p:sp>
        <p:nvSpPr>
          <p:cNvPr id="8" name="Text 5"/>
          <p:cNvSpPr txBox="1"/>
          <p:nvPr/>
        </p:nvSpPr>
        <p:spPr>
          <a:xfrm>
            <a:off x="640080" y="2816352"/>
            <a:ext cx="1600200" cy="274320"/>
          </a:xfrm>
          <a:prstGeom prst="rect">
            <a:avLst/>
          </a:prstGeom>
          <a:noFill/>
          <a:ln/>
        </p:spPr>
        <p:txBody>
          <a:bodyPr wrap="square" lIns="0" tIns="0" rIns="0" bIns="0" rtlCol="0" anchor="t"/>
          <a:lstStyle/>
          <a:p>
            <a:pPr indent="0" marL="0">
              <a:buNone/>
            </a:pPr>
            <a:r>
              <a:rPr lang="en-US" sz="1500" b="1" dirty="0">
                <a:solidFill>
                  <a:schemeClr val="tx2"/>
                </a:solidFill>
              </a:rPr>
              <a:t>Soil nutrients</a:t>
            </a:r>
            <a:endParaRPr lang="en-US" sz="1500" dirty="0"/>
          </a:p>
        </p:txBody>
      </p:sp>
      <p:sp>
        <p:nvSpPr>
          <p:cNvPr id="9" name="Text 6"/>
          <p:cNvSpPr txBox="1"/>
          <p:nvPr/>
        </p:nvSpPr>
        <p:spPr>
          <a:xfrm>
            <a:off x="640080" y="3090672"/>
            <a:ext cx="1645920" cy="274320"/>
          </a:xfrm>
          <a:prstGeom prst="rect">
            <a:avLst/>
          </a:prstGeom>
          <a:noFill/>
          <a:ln/>
        </p:spPr>
        <p:txBody>
          <a:bodyPr wrap="square" lIns="0" tIns="0" rIns="0" bIns="0" rtlCol="0" anchor="t"/>
          <a:lstStyle/>
          <a:p>
            <a:pPr indent="0" marL="0">
              <a:buNone/>
            </a:pPr>
            <a:r>
              <a:rPr lang="en-US" sz="1200" dirty="0">
                <a:solidFill>
                  <a:schemeClr val="accent6"/>
                </a:solidFill>
              </a:rPr>
              <a:t>N, P, K levels differ</a:t>
            </a:r>
            <a:endParaRPr lang="en-US" sz="1200" dirty="0"/>
          </a:p>
        </p:txBody>
      </p:sp>
      <p:sp>
        <p:nvSpPr>
          <p:cNvPr id="10" name="Shape 7"/>
          <p:cNvSpPr/>
          <p:nvPr/>
        </p:nvSpPr>
        <p:spPr>
          <a:xfrm>
            <a:off x="2578608" y="2148840"/>
            <a:ext cx="1865376" cy="1280160"/>
          </a:xfrm>
          <a:prstGeom prst="roundRect">
            <a:avLst>
              <a:gd name="adj" fmla="val 7143"/>
            </a:avLst>
          </a:prstGeom>
          <a:solidFill>
            <a:schemeClr val="bg1"/>
          </a:solidFill>
          <a:ln w="12700">
            <a:solidFill>
              <a:schemeClr val="accent5"/>
            </a:solidFill>
            <a:prstDash val="solid"/>
          </a:ln>
        </p:spPr>
      </p:sp>
      <p:sp>
        <p:nvSpPr>
          <p:cNvPr id="11" name="Shape 8"/>
          <p:cNvSpPr/>
          <p:nvPr/>
        </p:nvSpPr>
        <p:spPr>
          <a:xfrm>
            <a:off x="2761488" y="2304288"/>
            <a:ext cx="457200" cy="457200"/>
          </a:xfrm>
          <a:prstGeom prst="ellipse">
            <a:avLst/>
          </a:prstGeom>
          <a:solidFill>
            <a:schemeClr val="bg2"/>
          </a:solidFill>
          <a:ln/>
        </p:spPr>
      </p:sp>
      <p:pic>
        <p:nvPicPr>
          <p:cNvPr id="12" name="Image 1" descr="preencoded.png">    </p:cNvPr>
          <p:cNvPicPr>
            <a:picLocks noChangeAspect="1"/>
          </p:cNvPicPr>
          <p:nvPr/>
        </p:nvPicPr>
        <p:blipFill>
          <a:blip r:embed="rId2"/>
          <a:stretch>
            <a:fillRect/>
          </a:stretch>
        </p:blipFill>
        <p:spPr>
          <a:xfrm>
            <a:off x="2875788" y="2418588"/>
            <a:ext cx="228600" cy="228600"/>
          </a:xfrm>
          <a:prstGeom prst="rect">
            <a:avLst/>
          </a:prstGeom>
        </p:spPr>
      </p:pic>
      <p:sp>
        <p:nvSpPr>
          <p:cNvPr id="13" name="Text 9"/>
          <p:cNvSpPr txBox="1"/>
          <p:nvPr/>
        </p:nvSpPr>
        <p:spPr>
          <a:xfrm>
            <a:off x="2761488" y="2816352"/>
            <a:ext cx="1600200" cy="274320"/>
          </a:xfrm>
          <a:prstGeom prst="rect">
            <a:avLst/>
          </a:prstGeom>
          <a:noFill/>
          <a:ln/>
        </p:spPr>
        <p:txBody>
          <a:bodyPr wrap="square" lIns="0" tIns="0" rIns="0" bIns="0" rtlCol="0" anchor="t"/>
          <a:lstStyle/>
          <a:p>
            <a:pPr indent="0" marL="0">
              <a:buNone/>
            </a:pPr>
            <a:r>
              <a:rPr lang="en-US" sz="1500" b="1" dirty="0">
                <a:solidFill>
                  <a:schemeClr val="tx2"/>
                </a:solidFill>
              </a:rPr>
              <a:t>Rainfall</a:t>
            </a:r>
            <a:endParaRPr lang="en-US" sz="1500" dirty="0"/>
          </a:p>
        </p:txBody>
      </p:sp>
      <p:sp>
        <p:nvSpPr>
          <p:cNvPr id="14" name="Text 10"/>
          <p:cNvSpPr txBox="1"/>
          <p:nvPr/>
        </p:nvSpPr>
        <p:spPr>
          <a:xfrm>
            <a:off x="2761488" y="3090672"/>
            <a:ext cx="1645920" cy="274320"/>
          </a:xfrm>
          <a:prstGeom prst="rect">
            <a:avLst/>
          </a:prstGeom>
          <a:noFill/>
          <a:ln/>
        </p:spPr>
        <p:txBody>
          <a:bodyPr wrap="square" lIns="0" tIns="0" rIns="0" bIns="0" rtlCol="0" anchor="t"/>
          <a:lstStyle/>
          <a:p>
            <a:pPr indent="0" marL="0">
              <a:buNone/>
            </a:pPr>
            <a:r>
              <a:rPr lang="en-US" sz="1200" dirty="0">
                <a:solidFill>
                  <a:schemeClr val="accent6"/>
                </a:solidFill>
              </a:rPr>
              <a:t>Uneven every season</a:t>
            </a:r>
            <a:endParaRPr lang="en-US" sz="1200" dirty="0"/>
          </a:p>
        </p:txBody>
      </p:sp>
      <p:sp>
        <p:nvSpPr>
          <p:cNvPr id="15" name="Shape 11"/>
          <p:cNvSpPr/>
          <p:nvPr/>
        </p:nvSpPr>
        <p:spPr>
          <a:xfrm>
            <a:off x="4700016" y="2148840"/>
            <a:ext cx="1865376" cy="1280160"/>
          </a:xfrm>
          <a:prstGeom prst="roundRect">
            <a:avLst>
              <a:gd name="adj" fmla="val 7143"/>
            </a:avLst>
          </a:prstGeom>
          <a:solidFill>
            <a:schemeClr val="bg1"/>
          </a:solidFill>
          <a:ln w="12700">
            <a:solidFill>
              <a:schemeClr val="accent5"/>
            </a:solidFill>
            <a:prstDash val="solid"/>
          </a:ln>
        </p:spPr>
      </p:sp>
      <p:sp>
        <p:nvSpPr>
          <p:cNvPr id="16" name="Shape 12"/>
          <p:cNvSpPr/>
          <p:nvPr/>
        </p:nvSpPr>
        <p:spPr>
          <a:xfrm>
            <a:off x="4882896" y="2304288"/>
            <a:ext cx="457200" cy="457200"/>
          </a:xfrm>
          <a:prstGeom prst="ellipse">
            <a:avLst/>
          </a:prstGeom>
          <a:solidFill>
            <a:schemeClr val="bg2"/>
          </a:solidFill>
          <a:ln/>
        </p:spPr>
      </p:sp>
      <p:pic>
        <p:nvPicPr>
          <p:cNvPr id="17" name="Image 2" descr="preencoded.png">    </p:cNvPr>
          <p:cNvPicPr>
            <a:picLocks noChangeAspect="1"/>
          </p:cNvPicPr>
          <p:nvPr/>
        </p:nvPicPr>
        <p:blipFill>
          <a:blip r:embed="rId3"/>
          <a:stretch>
            <a:fillRect/>
          </a:stretch>
        </p:blipFill>
        <p:spPr>
          <a:xfrm>
            <a:off x="4997196" y="2418588"/>
            <a:ext cx="228600" cy="228600"/>
          </a:xfrm>
          <a:prstGeom prst="rect">
            <a:avLst/>
          </a:prstGeom>
        </p:spPr>
      </p:pic>
      <p:sp>
        <p:nvSpPr>
          <p:cNvPr id="18" name="Text 13"/>
          <p:cNvSpPr txBox="1"/>
          <p:nvPr/>
        </p:nvSpPr>
        <p:spPr>
          <a:xfrm>
            <a:off x="4882896" y="2816352"/>
            <a:ext cx="1600200" cy="274320"/>
          </a:xfrm>
          <a:prstGeom prst="rect">
            <a:avLst/>
          </a:prstGeom>
          <a:noFill/>
          <a:ln/>
        </p:spPr>
        <p:txBody>
          <a:bodyPr wrap="square" lIns="0" tIns="0" rIns="0" bIns="0" rtlCol="0" anchor="t"/>
          <a:lstStyle/>
          <a:p>
            <a:pPr indent="0" marL="0">
              <a:buNone/>
            </a:pPr>
            <a:r>
              <a:rPr lang="en-US" sz="1500" b="1" dirty="0">
                <a:solidFill>
                  <a:schemeClr val="tx2"/>
                </a:solidFill>
              </a:rPr>
              <a:t>Climate</a:t>
            </a:r>
            <a:endParaRPr lang="en-US" sz="1500" dirty="0"/>
          </a:p>
        </p:txBody>
      </p:sp>
      <p:sp>
        <p:nvSpPr>
          <p:cNvPr id="19" name="Text 14"/>
          <p:cNvSpPr txBox="1"/>
          <p:nvPr/>
        </p:nvSpPr>
        <p:spPr>
          <a:xfrm>
            <a:off x="4882896" y="3090672"/>
            <a:ext cx="1645920" cy="274320"/>
          </a:xfrm>
          <a:prstGeom prst="rect">
            <a:avLst/>
          </a:prstGeom>
          <a:noFill/>
          <a:ln/>
        </p:spPr>
        <p:txBody>
          <a:bodyPr wrap="square" lIns="0" tIns="0" rIns="0" bIns="0" rtlCol="0" anchor="t"/>
          <a:lstStyle/>
          <a:p>
            <a:pPr indent="0" marL="0">
              <a:buNone/>
            </a:pPr>
            <a:r>
              <a:rPr lang="en-US" sz="1200" dirty="0">
                <a:solidFill>
                  <a:schemeClr val="accent6"/>
                </a:solidFill>
              </a:rPr>
              <a:t>Temp &amp; humidity shift</a:t>
            </a:r>
            <a:endParaRPr lang="en-US" sz="1200" dirty="0"/>
          </a:p>
        </p:txBody>
      </p:sp>
      <p:sp>
        <p:nvSpPr>
          <p:cNvPr id="20" name="Shape 15"/>
          <p:cNvSpPr/>
          <p:nvPr/>
        </p:nvSpPr>
        <p:spPr>
          <a:xfrm>
            <a:off x="6821424" y="2148840"/>
            <a:ext cx="1865376" cy="1280160"/>
          </a:xfrm>
          <a:prstGeom prst="roundRect">
            <a:avLst>
              <a:gd name="adj" fmla="val 7143"/>
            </a:avLst>
          </a:prstGeom>
          <a:solidFill>
            <a:schemeClr val="bg1"/>
          </a:solidFill>
          <a:ln w="12700">
            <a:solidFill>
              <a:schemeClr val="accent5"/>
            </a:solidFill>
            <a:prstDash val="solid"/>
          </a:ln>
        </p:spPr>
      </p:sp>
      <p:sp>
        <p:nvSpPr>
          <p:cNvPr id="21" name="Shape 16"/>
          <p:cNvSpPr/>
          <p:nvPr/>
        </p:nvSpPr>
        <p:spPr>
          <a:xfrm>
            <a:off x="7004304" y="2304288"/>
            <a:ext cx="457200" cy="457200"/>
          </a:xfrm>
          <a:prstGeom prst="ellipse">
            <a:avLst/>
          </a:prstGeom>
          <a:solidFill>
            <a:schemeClr val="bg2"/>
          </a:solidFill>
          <a:ln/>
        </p:spPr>
      </p:sp>
      <p:pic>
        <p:nvPicPr>
          <p:cNvPr id="22" name="Image 3" descr="preencoded.png">    </p:cNvPr>
          <p:cNvPicPr>
            <a:picLocks noChangeAspect="1"/>
          </p:cNvPicPr>
          <p:nvPr/>
        </p:nvPicPr>
        <p:blipFill>
          <a:blip r:embed="rId4"/>
          <a:stretch>
            <a:fillRect/>
          </a:stretch>
        </p:blipFill>
        <p:spPr>
          <a:xfrm>
            <a:off x="7118604" y="2418588"/>
            <a:ext cx="228600" cy="228600"/>
          </a:xfrm>
          <a:prstGeom prst="rect">
            <a:avLst/>
          </a:prstGeom>
        </p:spPr>
      </p:pic>
      <p:sp>
        <p:nvSpPr>
          <p:cNvPr id="23" name="Text 17"/>
          <p:cNvSpPr txBox="1"/>
          <p:nvPr/>
        </p:nvSpPr>
        <p:spPr>
          <a:xfrm>
            <a:off x="7004304" y="2816352"/>
            <a:ext cx="1600200" cy="274320"/>
          </a:xfrm>
          <a:prstGeom prst="rect">
            <a:avLst/>
          </a:prstGeom>
          <a:noFill/>
          <a:ln/>
        </p:spPr>
        <p:txBody>
          <a:bodyPr wrap="square" lIns="0" tIns="0" rIns="0" bIns="0" rtlCol="0" anchor="t"/>
          <a:lstStyle/>
          <a:p>
            <a:pPr indent="0" marL="0">
              <a:buNone/>
            </a:pPr>
            <a:r>
              <a:rPr lang="en-US" sz="1500" b="1" dirty="0">
                <a:solidFill>
                  <a:schemeClr val="tx2"/>
                </a:solidFill>
              </a:rPr>
              <a:t>Soil pH</a:t>
            </a:r>
            <a:endParaRPr lang="en-US" sz="1500" dirty="0"/>
          </a:p>
        </p:txBody>
      </p:sp>
      <p:sp>
        <p:nvSpPr>
          <p:cNvPr id="24" name="Text 18"/>
          <p:cNvSpPr txBox="1"/>
          <p:nvPr/>
        </p:nvSpPr>
        <p:spPr>
          <a:xfrm>
            <a:off x="7004304" y="3090672"/>
            <a:ext cx="1645920" cy="274320"/>
          </a:xfrm>
          <a:prstGeom prst="rect">
            <a:avLst/>
          </a:prstGeom>
          <a:noFill/>
          <a:ln/>
        </p:spPr>
        <p:txBody>
          <a:bodyPr wrap="square" lIns="0" tIns="0" rIns="0" bIns="0" rtlCol="0" anchor="t"/>
          <a:lstStyle/>
          <a:p>
            <a:pPr indent="0" marL="0">
              <a:buNone/>
            </a:pPr>
            <a:r>
              <a:rPr lang="en-US" sz="1200" dirty="0">
                <a:solidFill>
                  <a:schemeClr val="accent6"/>
                </a:solidFill>
              </a:rPr>
              <a:t>Acidic to alkaline</a:t>
            </a:r>
            <a:endParaRPr lang="en-US" sz="1200" dirty="0"/>
          </a:p>
        </p:txBody>
      </p:sp>
      <p:sp>
        <p:nvSpPr>
          <p:cNvPr id="25" name="Shape 19"/>
          <p:cNvSpPr/>
          <p:nvPr/>
        </p:nvSpPr>
        <p:spPr>
          <a:xfrm>
            <a:off x="457200" y="3657600"/>
            <a:ext cx="3977640" cy="914400"/>
          </a:xfrm>
          <a:prstGeom prst="roundRect">
            <a:avLst>
              <a:gd name="adj" fmla="val 10000"/>
            </a:avLst>
          </a:prstGeom>
          <a:solidFill>
            <a:schemeClr val="bg2"/>
          </a:solidFill>
          <a:ln/>
        </p:spPr>
      </p:sp>
      <p:sp>
        <p:nvSpPr>
          <p:cNvPr id="26" name="Shape 20"/>
          <p:cNvSpPr/>
          <p:nvPr/>
        </p:nvSpPr>
        <p:spPr>
          <a:xfrm>
            <a:off x="640080" y="3858768"/>
            <a:ext cx="502920" cy="502920"/>
          </a:xfrm>
          <a:prstGeom prst="ellipse">
            <a:avLst/>
          </a:prstGeom>
          <a:solidFill>
            <a:schemeClr val="accent4"/>
          </a:solidFill>
          <a:ln/>
        </p:spPr>
      </p:sp>
      <p:pic>
        <p:nvPicPr>
          <p:cNvPr id="27" name="Image 4" descr="preencoded.png">    </p:cNvPr>
          <p:cNvPicPr>
            <a:picLocks noChangeAspect="1"/>
          </p:cNvPicPr>
          <p:nvPr/>
        </p:nvPicPr>
        <p:blipFill>
          <a:blip r:embed="rId5"/>
          <a:stretch>
            <a:fillRect/>
          </a:stretch>
        </p:blipFill>
        <p:spPr>
          <a:xfrm>
            <a:off x="765810" y="3984498"/>
            <a:ext cx="251460" cy="251460"/>
          </a:xfrm>
          <a:prstGeom prst="rect">
            <a:avLst/>
          </a:prstGeom>
        </p:spPr>
      </p:pic>
      <p:sp>
        <p:nvSpPr>
          <p:cNvPr id="28" name="Text 21"/>
          <p:cNvSpPr txBox="1"/>
          <p:nvPr/>
        </p:nvSpPr>
        <p:spPr>
          <a:xfrm>
            <a:off x="1325880" y="3794760"/>
            <a:ext cx="3017520" cy="685800"/>
          </a:xfrm>
          <a:prstGeom prst="rect">
            <a:avLst/>
          </a:prstGeom>
          <a:noFill/>
          <a:ln/>
        </p:spPr>
        <p:txBody>
          <a:bodyPr wrap="square" lIns="0" tIns="0" rIns="0" bIns="0" rtlCol="0" anchor="ctr"/>
          <a:lstStyle/>
          <a:p>
            <a:pPr indent="0" marL="0">
              <a:buNone/>
            </a:pPr>
            <a:r>
              <a:rPr lang="en-US" sz="1400" b="1" dirty="0">
                <a:solidFill>
                  <a:schemeClr val="tx2"/>
                </a:solidFill>
              </a:rPr>
              <a:t>Wrong crop choice</a:t>
            </a:r>
            <a:endParaRPr lang="en-US" sz="1400" dirty="0"/>
          </a:p>
          <a:p>
            <a:pPr indent="0" marL="0">
              <a:buNone/>
            </a:pPr>
            <a:r>
              <a:rPr lang="en-US" sz="1400" dirty="0">
                <a:solidFill>
                  <a:schemeClr val="tx1"/>
                </a:solidFill>
              </a:rPr>
              <a:t>Low yield, wasted fertilizer, money loss</a:t>
            </a:r>
            <a:endParaRPr lang="en-US" sz="1400" dirty="0"/>
          </a:p>
        </p:txBody>
      </p:sp>
      <p:sp>
        <p:nvSpPr>
          <p:cNvPr id="29" name="Shape 22"/>
          <p:cNvSpPr/>
          <p:nvPr/>
        </p:nvSpPr>
        <p:spPr>
          <a:xfrm>
            <a:off x="4709160" y="3657600"/>
            <a:ext cx="3977640" cy="914400"/>
          </a:xfrm>
          <a:prstGeom prst="roundRect">
            <a:avLst>
              <a:gd name="adj" fmla="val 10000"/>
            </a:avLst>
          </a:prstGeom>
          <a:solidFill>
            <a:schemeClr val="bg2"/>
          </a:solidFill>
          <a:ln/>
        </p:spPr>
      </p:sp>
      <p:sp>
        <p:nvSpPr>
          <p:cNvPr id="30" name="Shape 23"/>
          <p:cNvSpPr/>
          <p:nvPr/>
        </p:nvSpPr>
        <p:spPr>
          <a:xfrm>
            <a:off x="4892040" y="3858768"/>
            <a:ext cx="502920" cy="502920"/>
          </a:xfrm>
          <a:prstGeom prst="ellipse">
            <a:avLst/>
          </a:prstGeom>
          <a:solidFill>
            <a:schemeClr val="accent1"/>
          </a:solidFill>
          <a:ln/>
        </p:spPr>
      </p:sp>
      <p:pic>
        <p:nvPicPr>
          <p:cNvPr id="31" name="Image 5" descr="preencoded.png">    </p:cNvPr>
          <p:cNvPicPr>
            <a:picLocks noChangeAspect="1"/>
          </p:cNvPicPr>
          <p:nvPr/>
        </p:nvPicPr>
        <p:blipFill>
          <a:blip r:embed="rId6"/>
          <a:stretch>
            <a:fillRect/>
          </a:stretch>
        </p:blipFill>
        <p:spPr>
          <a:xfrm>
            <a:off x="5017770" y="3984498"/>
            <a:ext cx="251460" cy="251460"/>
          </a:xfrm>
          <a:prstGeom prst="rect">
            <a:avLst/>
          </a:prstGeom>
        </p:spPr>
      </p:pic>
      <p:sp>
        <p:nvSpPr>
          <p:cNvPr id="32" name="Text 24"/>
          <p:cNvSpPr txBox="1"/>
          <p:nvPr/>
        </p:nvSpPr>
        <p:spPr>
          <a:xfrm>
            <a:off x="5577840" y="3794760"/>
            <a:ext cx="3017520" cy="685800"/>
          </a:xfrm>
          <a:prstGeom prst="rect">
            <a:avLst/>
          </a:prstGeom>
          <a:noFill/>
          <a:ln/>
        </p:spPr>
        <p:txBody>
          <a:bodyPr wrap="square" lIns="0" tIns="0" rIns="0" bIns="0" rtlCol="0" anchor="ctr"/>
          <a:lstStyle/>
          <a:p>
            <a:pPr indent="0" marL="0">
              <a:buNone/>
            </a:pPr>
            <a:r>
              <a:rPr lang="en-US" sz="1400" b="1" dirty="0">
                <a:solidFill>
                  <a:schemeClr val="tx2"/>
                </a:solidFill>
              </a:rPr>
              <a:t>Who is affected?</a:t>
            </a:r>
            <a:endParaRPr lang="en-US" sz="1400" dirty="0"/>
          </a:p>
          <a:p>
            <a:pPr indent="0" marL="0">
              <a:buNone/>
            </a:pPr>
            <a:r>
              <a:rPr lang="en-US" sz="1400" dirty="0">
                <a:solidFill>
                  <a:schemeClr val="tx1"/>
                </a:solidFill>
              </a:rPr>
              <a:t>Small farmers with no access to soil experts</a:t>
            </a:r>
            <a:endParaRPr lang="en-US" sz="14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Motivation</a:t>
            </a:r>
            <a:endParaRPr lang="en-US" sz="3200" dirty="0"/>
          </a:p>
        </p:txBody>
      </p:sp>
      <p:sp>
        <p:nvSpPr>
          <p:cNvPr id="3" name="Shape 1"/>
          <p:cNvSpPr/>
          <p:nvPr/>
        </p:nvSpPr>
        <p:spPr>
          <a:xfrm>
            <a:off x="457200" y="1188720"/>
            <a:ext cx="3977640" cy="1554480"/>
          </a:xfrm>
          <a:prstGeom prst="roundRect">
            <a:avLst>
              <a:gd name="adj" fmla="val 5882"/>
            </a:avLst>
          </a:prstGeom>
          <a:solidFill>
            <a:schemeClr val="bg2"/>
          </a:solidFill>
          <a:ln/>
        </p:spPr>
      </p:sp>
      <p:sp>
        <p:nvSpPr>
          <p:cNvPr id="4" name="Shape 2"/>
          <p:cNvSpPr/>
          <p:nvPr/>
        </p:nvSpPr>
        <p:spPr>
          <a:xfrm>
            <a:off x="731520" y="1463040"/>
            <a:ext cx="640080" cy="64008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891540" y="1623060"/>
            <a:ext cx="320040" cy="320040"/>
          </a:xfrm>
          <a:prstGeom prst="rect">
            <a:avLst/>
          </a:prstGeom>
        </p:spPr>
      </p:pic>
      <p:sp>
        <p:nvSpPr>
          <p:cNvPr id="6" name="Text 3"/>
          <p:cNvSpPr txBox="1"/>
          <p:nvPr/>
        </p:nvSpPr>
        <p:spPr>
          <a:xfrm>
            <a:off x="1600200" y="1444752"/>
            <a:ext cx="2651760" cy="320040"/>
          </a:xfrm>
          <a:prstGeom prst="rect">
            <a:avLst/>
          </a:prstGeom>
          <a:noFill/>
          <a:ln/>
        </p:spPr>
        <p:txBody>
          <a:bodyPr wrap="square" lIns="0" tIns="0" rIns="0" bIns="0" rtlCol="0" anchor="t"/>
          <a:lstStyle/>
          <a:p>
            <a:pPr indent="0" marL="0">
              <a:buNone/>
            </a:pPr>
            <a:r>
              <a:rPr lang="en-US" sz="1700" b="1" dirty="0">
                <a:solidFill>
                  <a:schemeClr val="tx2"/>
                </a:solidFill>
              </a:rPr>
              <a:t>Real-world need</a:t>
            </a:r>
            <a:endParaRPr lang="en-US" sz="1700" dirty="0"/>
          </a:p>
        </p:txBody>
      </p:sp>
      <p:sp>
        <p:nvSpPr>
          <p:cNvPr id="7" name="Text 4"/>
          <p:cNvSpPr txBox="1"/>
          <p:nvPr/>
        </p:nvSpPr>
        <p:spPr>
          <a:xfrm>
            <a:off x="1600200" y="1810512"/>
            <a:ext cx="2651760" cy="777240"/>
          </a:xfrm>
          <a:prstGeom prst="rect">
            <a:avLst/>
          </a:prstGeom>
          <a:noFill/>
          <a:ln/>
        </p:spPr>
        <p:txBody>
          <a:bodyPr wrap="square" lIns="0" tIns="0" rIns="0" bIns="0" rtlCol="0" anchor="t"/>
          <a:lstStyle/>
          <a:p>
            <a:pPr indent="0" marL="0">
              <a:buNone/>
            </a:pPr>
            <a:r>
              <a:rPr lang="en-US" sz="1400" dirty="0">
                <a:solidFill>
                  <a:schemeClr val="tx1"/>
                </a:solidFill>
              </a:rPr>
              <a:t>Most small farmers cannot easily reach soil scientists or agronomists for advice.</a:t>
            </a:r>
            <a:endParaRPr lang="en-US" sz="1400" dirty="0"/>
          </a:p>
        </p:txBody>
      </p:sp>
      <p:sp>
        <p:nvSpPr>
          <p:cNvPr id="8" name="Shape 5"/>
          <p:cNvSpPr/>
          <p:nvPr/>
        </p:nvSpPr>
        <p:spPr>
          <a:xfrm>
            <a:off x="4709160" y="1188720"/>
            <a:ext cx="3977640" cy="1554480"/>
          </a:xfrm>
          <a:prstGeom prst="roundRect">
            <a:avLst>
              <a:gd name="adj" fmla="val 5882"/>
            </a:avLst>
          </a:prstGeom>
          <a:solidFill>
            <a:schemeClr val="bg2"/>
          </a:solidFill>
          <a:ln/>
        </p:spPr>
      </p:sp>
      <p:sp>
        <p:nvSpPr>
          <p:cNvPr id="9" name="Shape 6"/>
          <p:cNvSpPr/>
          <p:nvPr/>
        </p:nvSpPr>
        <p:spPr>
          <a:xfrm>
            <a:off x="4983480" y="1463040"/>
            <a:ext cx="640080" cy="64008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5143500" y="1623060"/>
            <a:ext cx="320040" cy="320040"/>
          </a:xfrm>
          <a:prstGeom prst="rect">
            <a:avLst/>
          </a:prstGeom>
        </p:spPr>
      </p:pic>
      <p:sp>
        <p:nvSpPr>
          <p:cNvPr id="11" name="Text 7"/>
          <p:cNvSpPr txBox="1"/>
          <p:nvPr/>
        </p:nvSpPr>
        <p:spPr>
          <a:xfrm>
            <a:off x="5852160" y="1444752"/>
            <a:ext cx="2651760" cy="320040"/>
          </a:xfrm>
          <a:prstGeom prst="rect">
            <a:avLst/>
          </a:prstGeom>
          <a:noFill/>
          <a:ln/>
        </p:spPr>
        <p:txBody>
          <a:bodyPr wrap="square" lIns="0" tIns="0" rIns="0" bIns="0" rtlCol="0" anchor="t"/>
          <a:lstStyle/>
          <a:p>
            <a:pPr indent="0" marL="0">
              <a:buNone/>
            </a:pPr>
            <a:r>
              <a:rPr lang="en-US" sz="1700" b="1" dirty="0">
                <a:solidFill>
                  <a:schemeClr val="tx2"/>
                </a:solidFill>
              </a:rPr>
              <a:t>Better yield</a:t>
            </a:r>
            <a:endParaRPr lang="en-US" sz="1700" dirty="0"/>
          </a:p>
        </p:txBody>
      </p:sp>
      <p:sp>
        <p:nvSpPr>
          <p:cNvPr id="12" name="Text 8"/>
          <p:cNvSpPr txBox="1"/>
          <p:nvPr/>
        </p:nvSpPr>
        <p:spPr>
          <a:xfrm>
            <a:off x="5852160" y="1810512"/>
            <a:ext cx="2651760" cy="777240"/>
          </a:xfrm>
          <a:prstGeom prst="rect">
            <a:avLst/>
          </a:prstGeom>
          <a:noFill/>
          <a:ln/>
        </p:spPr>
        <p:txBody>
          <a:bodyPr wrap="square" lIns="0" tIns="0" rIns="0" bIns="0" rtlCol="0" anchor="t"/>
          <a:lstStyle/>
          <a:p>
            <a:pPr indent="0" marL="0">
              <a:buNone/>
            </a:pPr>
            <a:r>
              <a:rPr lang="en-US" sz="1400" dirty="0">
                <a:solidFill>
                  <a:schemeClr val="tx1"/>
                </a:solidFill>
              </a:rPr>
              <a:t>Matching the crop to soil and climate improves the chance of a healthy harvest.</a:t>
            </a:r>
            <a:endParaRPr lang="en-US" sz="1400" dirty="0"/>
          </a:p>
        </p:txBody>
      </p:sp>
      <p:sp>
        <p:nvSpPr>
          <p:cNvPr id="13" name="Shape 9"/>
          <p:cNvSpPr/>
          <p:nvPr/>
        </p:nvSpPr>
        <p:spPr>
          <a:xfrm>
            <a:off x="457200" y="2971800"/>
            <a:ext cx="3977640" cy="1554480"/>
          </a:xfrm>
          <a:prstGeom prst="roundRect">
            <a:avLst>
              <a:gd name="adj" fmla="val 5882"/>
            </a:avLst>
          </a:prstGeom>
          <a:solidFill>
            <a:schemeClr val="bg2"/>
          </a:solidFill>
          <a:ln/>
        </p:spPr>
      </p:sp>
      <p:sp>
        <p:nvSpPr>
          <p:cNvPr id="14" name="Shape 10"/>
          <p:cNvSpPr/>
          <p:nvPr/>
        </p:nvSpPr>
        <p:spPr>
          <a:xfrm>
            <a:off x="731520" y="3246120"/>
            <a:ext cx="640080" cy="64008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891540" y="3406140"/>
            <a:ext cx="320040" cy="320040"/>
          </a:xfrm>
          <a:prstGeom prst="rect">
            <a:avLst/>
          </a:prstGeom>
        </p:spPr>
      </p:pic>
      <p:sp>
        <p:nvSpPr>
          <p:cNvPr id="16" name="Text 11"/>
          <p:cNvSpPr txBox="1"/>
          <p:nvPr/>
        </p:nvSpPr>
        <p:spPr>
          <a:xfrm>
            <a:off x="1600200" y="3227832"/>
            <a:ext cx="2651760" cy="320040"/>
          </a:xfrm>
          <a:prstGeom prst="rect">
            <a:avLst/>
          </a:prstGeom>
          <a:noFill/>
          <a:ln/>
        </p:spPr>
        <p:txBody>
          <a:bodyPr wrap="square" lIns="0" tIns="0" rIns="0" bIns="0" rtlCol="0" anchor="t"/>
          <a:lstStyle/>
          <a:p>
            <a:pPr indent="0" marL="0">
              <a:buNone/>
            </a:pPr>
            <a:r>
              <a:rPr lang="en-US" sz="1700" b="1" dirty="0">
                <a:solidFill>
                  <a:schemeClr val="tx2"/>
                </a:solidFill>
              </a:rPr>
              <a:t>Less fertilizer waste</a:t>
            </a:r>
            <a:endParaRPr lang="en-US" sz="1700" dirty="0"/>
          </a:p>
        </p:txBody>
      </p:sp>
      <p:sp>
        <p:nvSpPr>
          <p:cNvPr id="17" name="Text 12"/>
          <p:cNvSpPr txBox="1"/>
          <p:nvPr/>
        </p:nvSpPr>
        <p:spPr>
          <a:xfrm>
            <a:off x="1600200" y="3593592"/>
            <a:ext cx="2651760" cy="777240"/>
          </a:xfrm>
          <a:prstGeom prst="rect">
            <a:avLst/>
          </a:prstGeom>
          <a:noFill/>
          <a:ln/>
        </p:spPr>
        <p:txBody>
          <a:bodyPr wrap="square" lIns="0" tIns="0" rIns="0" bIns="0" rtlCol="0" anchor="t"/>
          <a:lstStyle/>
          <a:p>
            <a:pPr indent="0" marL="0">
              <a:buNone/>
            </a:pPr>
            <a:r>
              <a:rPr lang="en-US" sz="1400" dirty="0">
                <a:solidFill>
                  <a:schemeClr val="tx1"/>
                </a:solidFill>
              </a:rPr>
              <a:t>Nutrient-based advice avoids overusing urea, DAP and potash.</a:t>
            </a:r>
            <a:endParaRPr lang="en-US" sz="1400" dirty="0"/>
          </a:p>
        </p:txBody>
      </p:sp>
      <p:sp>
        <p:nvSpPr>
          <p:cNvPr id="18" name="Shape 13"/>
          <p:cNvSpPr/>
          <p:nvPr/>
        </p:nvSpPr>
        <p:spPr>
          <a:xfrm>
            <a:off x="4709160" y="2971800"/>
            <a:ext cx="3977640" cy="1554480"/>
          </a:xfrm>
          <a:prstGeom prst="roundRect">
            <a:avLst>
              <a:gd name="adj" fmla="val 5882"/>
            </a:avLst>
          </a:prstGeom>
          <a:solidFill>
            <a:schemeClr val="bg2"/>
          </a:solidFill>
          <a:ln/>
        </p:spPr>
      </p:sp>
      <p:sp>
        <p:nvSpPr>
          <p:cNvPr id="19" name="Shape 14"/>
          <p:cNvSpPr/>
          <p:nvPr/>
        </p:nvSpPr>
        <p:spPr>
          <a:xfrm>
            <a:off x="4983480" y="3246120"/>
            <a:ext cx="640080" cy="64008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5143500" y="3406140"/>
            <a:ext cx="320040" cy="320040"/>
          </a:xfrm>
          <a:prstGeom prst="rect">
            <a:avLst/>
          </a:prstGeom>
        </p:spPr>
      </p:pic>
      <p:sp>
        <p:nvSpPr>
          <p:cNvPr id="21" name="Text 15"/>
          <p:cNvSpPr txBox="1"/>
          <p:nvPr/>
        </p:nvSpPr>
        <p:spPr>
          <a:xfrm>
            <a:off x="5852160" y="3227832"/>
            <a:ext cx="2651760" cy="320040"/>
          </a:xfrm>
          <a:prstGeom prst="rect">
            <a:avLst/>
          </a:prstGeom>
          <a:noFill/>
          <a:ln/>
        </p:spPr>
        <p:txBody>
          <a:bodyPr wrap="square" lIns="0" tIns="0" rIns="0" bIns="0" rtlCol="0" anchor="t"/>
          <a:lstStyle/>
          <a:p>
            <a:pPr indent="0" marL="0">
              <a:buNone/>
            </a:pPr>
            <a:r>
              <a:rPr lang="en-US" sz="1700" b="1" dirty="0">
                <a:solidFill>
                  <a:schemeClr val="tx2"/>
                </a:solidFill>
              </a:rPr>
              <a:t>Data-driven farming</a:t>
            </a:r>
            <a:endParaRPr lang="en-US" sz="1700" dirty="0"/>
          </a:p>
        </p:txBody>
      </p:sp>
      <p:sp>
        <p:nvSpPr>
          <p:cNvPr id="22" name="Text 16"/>
          <p:cNvSpPr txBox="1"/>
          <p:nvPr/>
        </p:nvSpPr>
        <p:spPr>
          <a:xfrm>
            <a:off x="5852160" y="3593592"/>
            <a:ext cx="2651760" cy="777240"/>
          </a:xfrm>
          <a:prstGeom prst="rect">
            <a:avLst/>
          </a:prstGeom>
          <a:noFill/>
          <a:ln/>
        </p:spPr>
        <p:txBody>
          <a:bodyPr wrap="square" lIns="0" tIns="0" rIns="0" bIns="0" rtlCol="0" anchor="t"/>
          <a:lstStyle/>
          <a:p>
            <a:pPr indent="0" marL="0">
              <a:buNone/>
            </a:pPr>
            <a:r>
              <a:rPr lang="en-US" sz="1400" dirty="0">
                <a:solidFill>
                  <a:schemeClr val="tx1"/>
                </a:solidFill>
              </a:rPr>
              <a:t>Decisions backed by measured values, and ML is cheap to run on any device.</a:t>
            </a:r>
            <a:endParaRPr lang="en-US" sz="14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Objectives</a:t>
            </a:r>
            <a:endParaRPr lang="en-US" sz="3200" dirty="0"/>
          </a:p>
        </p:txBody>
      </p:sp>
      <p:sp>
        <p:nvSpPr>
          <p:cNvPr id="3" name="Shape 1"/>
          <p:cNvSpPr/>
          <p:nvPr/>
        </p:nvSpPr>
        <p:spPr>
          <a:xfrm>
            <a:off x="457200" y="1143000"/>
            <a:ext cx="8229600" cy="914400"/>
          </a:xfrm>
          <a:prstGeom prst="roundRect">
            <a:avLst>
              <a:gd name="adj" fmla="val 10000"/>
            </a:avLst>
          </a:prstGeom>
          <a:solidFill>
            <a:schemeClr val="tx2"/>
          </a:solidFill>
          <a:ln/>
        </p:spPr>
      </p:sp>
      <p:sp>
        <p:nvSpPr>
          <p:cNvPr id="4" name="Shape 2"/>
          <p:cNvSpPr/>
          <p:nvPr/>
        </p:nvSpPr>
        <p:spPr>
          <a:xfrm>
            <a:off x="658368" y="1325880"/>
            <a:ext cx="548640" cy="54864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795528" y="1463040"/>
            <a:ext cx="274320" cy="274320"/>
          </a:xfrm>
          <a:prstGeom prst="rect">
            <a:avLst/>
          </a:prstGeom>
        </p:spPr>
      </p:pic>
      <p:sp>
        <p:nvSpPr>
          <p:cNvPr id="6" name="Text 3"/>
          <p:cNvSpPr txBox="1"/>
          <p:nvPr/>
        </p:nvSpPr>
        <p:spPr>
          <a:xfrm>
            <a:off x="1417320" y="1216152"/>
            <a:ext cx="7132320" cy="777240"/>
          </a:xfrm>
          <a:prstGeom prst="rect">
            <a:avLst/>
          </a:prstGeom>
          <a:noFill/>
          <a:ln/>
        </p:spPr>
        <p:txBody>
          <a:bodyPr wrap="square" lIns="0" tIns="0" rIns="0" bIns="0" rtlCol="0" anchor="ctr"/>
          <a:lstStyle/>
          <a:p>
            <a:pPr indent="0" marL="0">
              <a:buNone/>
            </a:pPr>
            <a:r>
              <a:rPr lang="en-US" sz="1000" b="1" spc="100" kern="0" dirty="0">
                <a:solidFill>
                  <a:schemeClr val="accent3"/>
                </a:solidFill>
              </a:rPr>
              <a:t>MAIN OBJECTIVE</a:t>
            </a:r>
            <a:endParaRPr lang="en-US" sz="1500" dirty="0"/>
          </a:p>
          <a:p>
            <a:pPr indent="0" marL="0">
              <a:buNone/>
            </a:pPr>
            <a:r>
              <a:rPr lang="en-US" sz="1500" dirty="0">
                <a:solidFill>
                  <a:schemeClr val="bg1"/>
                </a:solidFill>
              </a:rPr>
              <a:t>Build a web system that recommends the best crop and a fertilizer plan from soil and climate values using machine learning.</a:t>
            </a:r>
            <a:endParaRPr lang="en-US" sz="1500" dirty="0"/>
          </a:p>
        </p:txBody>
      </p:sp>
      <p:sp>
        <p:nvSpPr>
          <p:cNvPr id="7" name="Shape 4"/>
          <p:cNvSpPr/>
          <p:nvPr/>
        </p:nvSpPr>
        <p:spPr>
          <a:xfrm>
            <a:off x="548640" y="2322576"/>
            <a:ext cx="329184" cy="329184"/>
          </a:xfrm>
          <a:prstGeom prst="ellipse">
            <a:avLst/>
          </a:prstGeom>
          <a:solidFill>
            <a:schemeClr val="accent2"/>
          </a:solidFill>
          <a:ln/>
        </p:spPr>
      </p:sp>
      <p:sp>
        <p:nvSpPr>
          <p:cNvPr id="8" name="Text 5"/>
          <p:cNvSpPr txBox="1"/>
          <p:nvPr/>
        </p:nvSpPr>
        <p:spPr>
          <a:xfrm>
            <a:off x="548640" y="232257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6"/>
          <p:cNvSpPr txBox="1"/>
          <p:nvPr/>
        </p:nvSpPr>
        <p:spPr>
          <a:xfrm>
            <a:off x="1051560" y="2286000"/>
            <a:ext cx="7589520" cy="402336"/>
          </a:xfrm>
          <a:prstGeom prst="rect">
            <a:avLst/>
          </a:prstGeom>
          <a:noFill/>
          <a:ln/>
        </p:spPr>
        <p:txBody>
          <a:bodyPr wrap="square" lIns="0" tIns="0" rIns="0" bIns="0" rtlCol="0" anchor="ctr"/>
          <a:lstStyle/>
          <a:p>
            <a:pPr indent="0" marL="0">
              <a:buNone/>
            </a:pPr>
            <a:r>
              <a:rPr lang="en-US" sz="1500" dirty="0">
                <a:solidFill>
                  <a:schemeClr val="tx1"/>
                </a:solidFill>
              </a:rPr>
              <a:t>Collect and preprocess the Crop Recommendation dataset (2,200 records, 22 crops)</a:t>
            </a:r>
            <a:endParaRPr lang="en-US" sz="1500" dirty="0"/>
          </a:p>
        </p:txBody>
      </p:sp>
      <p:sp>
        <p:nvSpPr>
          <p:cNvPr id="10" name="Shape 7"/>
          <p:cNvSpPr/>
          <p:nvPr/>
        </p:nvSpPr>
        <p:spPr>
          <a:xfrm>
            <a:off x="548640" y="2779776"/>
            <a:ext cx="329184" cy="329184"/>
          </a:xfrm>
          <a:prstGeom prst="ellipse">
            <a:avLst/>
          </a:prstGeom>
          <a:solidFill>
            <a:schemeClr val="accent2"/>
          </a:solidFill>
          <a:ln/>
        </p:spPr>
      </p:sp>
      <p:sp>
        <p:nvSpPr>
          <p:cNvPr id="11" name="Text 8"/>
          <p:cNvSpPr txBox="1"/>
          <p:nvPr/>
        </p:nvSpPr>
        <p:spPr>
          <a:xfrm>
            <a:off x="548640" y="277977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9"/>
          <p:cNvSpPr txBox="1"/>
          <p:nvPr/>
        </p:nvSpPr>
        <p:spPr>
          <a:xfrm>
            <a:off x="1051560" y="2743200"/>
            <a:ext cx="7589520" cy="402336"/>
          </a:xfrm>
          <a:prstGeom prst="rect">
            <a:avLst/>
          </a:prstGeom>
          <a:noFill/>
          <a:ln/>
        </p:spPr>
        <p:txBody>
          <a:bodyPr wrap="square" lIns="0" tIns="0" rIns="0" bIns="0" rtlCol="0" anchor="ctr"/>
          <a:lstStyle/>
          <a:p>
            <a:pPr indent="0" marL="0">
              <a:buNone/>
            </a:pPr>
            <a:r>
              <a:rPr lang="en-US" sz="1500" dirty="0">
                <a:solidFill>
                  <a:schemeClr val="tx1"/>
                </a:solidFill>
              </a:rPr>
              <a:t>Train and compare five ML classifiers and select the best one</a:t>
            </a:r>
            <a:endParaRPr lang="en-US" sz="1500" dirty="0"/>
          </a:p>
        </p:txBody>
      </p:sp>
      <p:sp>
        <p:nvSpPr>
          <p:cNvPr id="13" name="Shape 10"/>
          <p:cNvSpPr/>
          <p:nvPr/>
        </p:nvSpPr>
        <p:spPr>
          <a:xfrm>
            <a:off x="548640" y="3236976"/>
            <a:ext cx="329184" cy="329184"/>
          </a:xfrm>
          <a:prstGeom prst="ellipse">
            <a:avLst/>
          </a:prstGeom>
          <a:solidFill>
            <a:schemeClr val="accent2"/>
          </a:solidFill>
          <a:ln/>
        </p:spPr>
      </p:sp>
      <p:sp>
        <p:nvSpPr>
          <p:cNvPr id="14" name="Text 11"/>
          <p:cNvSpPr txBox="1"/>
          <p:nvPr/>
        </p:nvSpPr>
        <p:spPr>
          <a:xfrm>
            <a:off x="548640" y="323697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2"/>
          <p:cNvSpPr txBox="1"/>
          <p:nvPr/>
        </p:nvSpPr>
        <p:spPr>
          <a:xfrm>
            <a:off x="1051560" y="3200400"/>
            <a:ext cx="7589520" cy="402336"/>
          </a:xfrm>
          <a:prstGeom prst="rect">
            <a:avLst/>
          </a:prstGeom>
          <a:noFill/>
          <a:ln/>
        </p:spPr>
        <p:txBody>
          <a:bodyPr wrap="square" lIns="0" tIns="0" rIns="0" bIns="0" rtlCol="0" anchor="ctr"/>
          <a:lstStyle/>
          <a:p>
            <a:pPr indent="0" marL="0">
              <a:buNone/>
            </a:pPr>
            <a:r>
              <a:rPr lang="en-US" sz="1500" dirty="0">
                <a:solidFill>
                  <a:schemeClr val="tx1"/>
                </a:solidFill>
              </a:rPr>
              <a:t>Show the top 3 suitable crops with confidence scores</a:t>
            </a:r>
            <a:endParaRPr lang="en-US" sz="1500" dirty="0"/>
          </a:p>
        </p:txBody>
      </p:sp>
      <p:sp>
        <p:nvSpPr>
          <p:cNvPr id="16" name="Shape 13"/>
          <p:cNvSpPr/>
          <p:nvPr/>
        </p:nvSpPr>
        <p:spPr>
          <a:xfrm>
            <a:off x="548640" y="3694176"/>
            <a:ext cx="329184" cy="329184"/>
          </a:xfrm>
          <a:prstGeom prst="ellipse">
            <a:avLst/>
          </a:prstGeom>
          <a:solidFill>
            <a:schemeClr val="accent2"/>
          </a:solidFill>
          <a:ln/>
        </p:spPr>
      </p:sp>
      <p:sp>
        <p:nvSpPr>
          <p:cNvPr id="17" name="Text 14"/>
          <p:cNvSpPr txBox="1"/>
          <p:nvPr/>
        </p:nvSpPr>
        <p:spPr>
          <a:xfrm>
            <a:off x="548640" y="369417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5"/>
          <p:cNvSpPr txBox="1"/>
          <p:nvPr/>
        </p:nvSpPr>
        <p:spPr>
          <a:xfrm>
            <a:off x="1051560" y="3657600"/>
            <a:ext cx="7589520" cy="402336"/>
          </a:xfrm>
          <a:prstGeom prst="rect">
            <a:avLst/>
          </a:prstGeom>
          <a:noFill/>
          <a:ln/>
        </p:spPr>
        <p:txBody>
          <a:bodyPr wrap="square" lIns="0" tIns="0" rIns="0" bIns="0" rtlCol="0" anchor="ctr"/>
          <a:lstStyle/>
          <a:p>
            <a:pPr indent="0" marL="0">
              <a:buNone/>
            </a:pPr>
            <a:r>
              <a:rPr lang="en-US" sz="1500" dirty="0">
                <a:solidFill>
                  <a:schemeClr val="tx1"/>
                </a:solidFill>
              </a:rPr>
              <a:t>Give simple fertilizer advice based on N, P, K and soil pH</a:t>
            </a:r>
            <a:endParaRPr lang="en-US" sz="1500" dirty="0"/>
          </a:p>
        </p:txBody>
      </p:sp>
      <p:sp>
        <p:nvSpPr>
          <p:cNvPr id="19" name="Shape 16"/>
          <p:cNvSpPr/>
          <p:nvPr/>
        </p:nvSpPr>
        <p:spPr>
          <a:xfrm>
            <a:off x="548640" y="4151376"/>
            <a:ext cx="329184" cy="329184"/>
          </a:xfrm>
          <a:prstGeom prst="ellipse">
            <a:avLst/>
          </a:prstGeom>
          <a:solidFill>
            <a:schemeClr val="accent2"/>
          </a:solidFill>
          <a:ln/>
        </p:spPr>
      </p:sp>
      <p:sp>
        <p:nvSpPr>
          <p:cNvPr id="20" name="Text 17"/>
          <p:cNvSpPr txBox="1"/>
          <p:nvPr/>
        </p:nvSpPr>
        <p:spPr>
          <a:xfrm>
            <a:off x="548640" y="415137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Text 18"/>
          <p:cNvSpPr txBox="1"/>
          <p:nvPr/>
        </p:nvSpPr>
        <p:spPr>
          <a:xfrm>
            <a:off x="1051560" y="4114800"/>
            <a:ext cx="7589520" cy="402336"/>
          </a:xfrm>
          <a:prstGeom prst="rect">
            <a:avLst/>
          </a:prstGeom>
          <a:noFill/>
          <a:ln/>
        </p:spPr>
        <p:txBody>
          <a:bodyPr wrap="square" lIns="0" tIns="0" rIns="0" bIns="0" rtlCol="0" anchor="ctr"/>
          <a:lstStyle/>
          <a:p>
            <a:pPr indent="0" marL="0">
              <a:buNone/>
            </a:pPr>
            <a:r>
              <a:rPr lang="en-US" sz="1500" dirty="0">
                <a:solidFill>
                  <a:schemeClr val="tx1"/>
                </a:solidFill>
              </a:rPr>
              <a:t>Deploy the model in a Flask web app with dashboard, updates and history</a:t>
            </a:r>
            <a:endParaRPr lang="en-US" sz="15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Existing System</a:t>
            </a:r>
            <a:endParaRPr lang="en-US" sz="3200" dirty="0"/>
          </a:p>
        </p:txBody>
      </p:sp>
      <p:sp>
        <p:nvSpPr>
          <p:cNvPr id="3" name="Text 1"/>
          <p:cNvSpPr txBox="1"/>
          <p:nvPr/>
        </p:nvSpPr>
        <p:spPr>
          <a:xfrm>
            <a:off x="457200" y="1143000"/>
            <a:ext cx="3931920" cy="320040"/>
          </a:xfrm>
          <a:prstGeom prst="rect">
            <a:avLst/>
          </a:prstGeom>
          <a:noFill/>
          <a:ln/>
        </p:spPr>
        <p:txBody>
          <a:bodyPr wrap="square" lIns="0" tIns="0" rIns="0" bIns="0" rtlCol="0" anchor="t"/>
          <a:lstStyle/>
          <a:p>
            <a:pPr indent="0" marL="0">
              <a:buNone/>
            </a:pPr>
            <a:r>
              <a:rPr lang="en-US" sz="1700" b="1" dirty="0">
                <a:solidFill>
                  <a:schemeClr val="accent1"/>
                </a:solidFill>
              </a:rPr>
              <a:t>How crops are chosen today</a:t>
            </a:r>
            <a:endParaRPr lang="en-US" sz="1700" dirty="0"/>
          </a:p>
        </p:txBody>
      </p:sp>
      <p:sp>
        <p:nvSpPr>
          <p:cNvPr id="4" name="Shape 2"/>
          <p:cNvSpPr/>
          <p:nvPr/>
        </p:nvSpPr>
        <p:spPr>
          <a:xfrm>
            <a:off x="457200" y="1645920"/>
            <a:ext cx="548640" cy="548640"/>
          </a:xfrm>
          <a:prstGeom prst="ellipse">
            <a:avLst/>
          </a:prstGeom>
          <a:solidFill>
            <a:schemeClr val="bg2"/>
          </a:solidFill>
          <a:ln/>
        </p:spPr>
      </p:sp>
      <p:pic>
        <p:nvPicPr>
          <p:cNvPr id="5" name="Image 0" descr="preencoded.png">    </p:cNvPr>
          <p:cNvPicPr>
            <a:picLocks noChangeAspect="1"/>
          </p:cNvPicPr>
          <p:nvPr/>
        </p:nvPicPr>
        <p:blipFill>
          <a:blip r:embed="rId1"/>
          <a:stretch>
            <a:fillRect/>
          </a:stretch>
        </p:blipFill>
        <p:spPr>
          <a:xfrm>
            <a:off x="594360" y="1783080"/>
            <a:ext cx="274320" cy="274320"/>
          </a:xfrm>
          <a:prstGeom prst="rect">
            <a:avLst/>
          </a:prstGeom>
        </p:spPr>
      </p:pic>
      <p:sp>
        <p:nvSpPr>
          <p:cNvPr id="6" name="Text 3"/>
          <p:cNvSpPr txBox="1"/>
          <p:nvPr/>
        </p:nvSpPr>
        <p:spPr>
          <a:xfrm>
            <a:off x="1188720" y="1627632"/>
            <a:ext cx="3291840" cy="292608"/>
          </a:xfrm>
          <a:prstGeom prst="rect">
            <a:avLst/>
          </a:prstGeom>
          <a:noFill/>
          <a:ln/>
        </p:spPr>
        <p:txBody>
          <a:bodyPr wrap="square" lIns="0" tIns="0" rIns="0" bIns="0" rtlCol="0" anchor="t"/>
          <a:lstStyle/>
          <a:p>
            <a:pPr indent="0" marL="0">
              <a:buNone/>
            </a:pPr>
            <a:r>
              <a:rPr lang="en-US" sz="1600" b="1" dirty="0">
                <a:solidFill>
                  <a:schemeClr val="tx2"/>
                </a:solidFill>
              </a:rPr>
              <a:t>Manual selection</a:t>
            </a:r>
            <a:endParaRPr lang="en-US" sz="1600" dirty="0"/>
          </a:p>
        </p:txBody>
      </p:sp>
      <p:sp>
        <p:nvSpPr>
          <p:cNvPr id="7" name="Text 4"/>
          <p:cNvSpPr txBox="1"/>
          <p:nvPr/>
        </p:nvSpPr>
        <p:spPr>
          <a:xfrm>
            <a:off x="1188720" y="1938528"/>
            <a:ext cx="3291840" cy="502920"/>
          </a:xfrm>
          <a:prstGeom prst="rect">
            <a:avLst/>
          </a:prstGeom>
          <a:noFill/>
          <a:ln/>
        </p:spPr>
        <p:txBody>
          <a:bodyPr wrap="square" lIns="0" tIns="0" rIns="0" bIns="0" rtlCol="0" anchor="t"/>
          <a:lstStyle/>
          <a:p>
            <a:pPr indent="0" marL="0">
              <a:buNone/>
            </a:pPr>
            <a:r>
              <a:rPr lang="en-US" sz="1400" dirty="0">
                <a:solidFill>
                  <a:schemeClr val="tx1"/>
                </a:solidFill>
              </a:rPr>
              <a:t>Repeat last season's crop or follow neighbours</a:t>
            </a:r>
            <a:endParaRPr lang="en-US" sz="1400" dirty="0"/>
          </a:p>
        </p:txBody>
      </p:sp>
      <p:sp>
        <p:nvSpPr>
          <p:cNvPr id="8" name="Shape 5"/>
          <p:cNvSpPr/>
          <p:nvPr/>
        </p:nvSpPr>
        <p:spPr>
          <a:xfrm>
            <a:off x="457200" y="2633472"/>
            <a:ext cx="548640" cy="548640"/>
          </a:xfrm>
          <a:prstGeom prst="ellipse">
            <a:avLst/>
          </a:prstGeom>
          <a:solidFill>
            <a:schemeClr val="bg2"/>
          </a:solidFill>
          <a:ln/>
        </p:spPr>
      </p:sp>
      <p:pic>
        <p:nvPicPr>
          <p:cNvPr id="9" name="Image 1" descr="preencoded.png">    </p:cNvPr>
          <p:cNvPicPr>
            <a:picLocks noChangeAspect="1"/>
          </p:cNvPicPr>
          <p:nvPr/>
        </p:nvPicPr>
        <p:blipFill>
          <a:blip r:embed="rId2"/>
          <a:stretch>
            <a:fillRect/>
          </a:stretch>
        </p:blipFill>
        <p:spPr>
          <a:xfrm>
            <a:off x="594360" y="2770632"/>
            <a:ext cx="274320" cy="274320"/>
          </a:xfrm>
          <a:prstGeom prst="rect">
            <a:avLst/>
          </a:prstGeom>
        </p:spPr>
      </p:pic>
      <p:sp>
        <p:nvSpPr>
          <p:cNvPr id="10" name="Text 6"/>
          <p:cNvSpPr txBox="1"/>
          <p:nvPr/>
        </p:nvSpPr>
        <p:spPr>
          <a:xfrm>
            <a:off x="1188720" y="2615184"/>
            <a:ext cx="3291840" cy="292608"/>
          </a:xfrm>
          <a:prstGeom prst="rect">
            <a:avLst/>
          </a:prstGeom>
          <a:noFill/>
          <a:ln/>
        </p:spPr>
        <p:txBody>
          <a:bodyPr wrap="square" lIns="0" tIns="0" rIns="0" bIns="0" rtlCol="0" anchor="t"/>
          <a:lstStyle/>
          <a:p>
            <a:pPr indent="0" marL="0">
              <a:buNone/>
            </a:pPr>
            <a:r>
              <a:rPr lang="en-US" sz="1600" b="1" dirty="0">
                <a:solidFill>
                  <a:schemeClr val="tx2"/>
                </a:solidFill>
              </a:rPr>
              <a:t>Farmer experience</a:t>
            </a:r>
            <a:endParaRPr lang="en-US" sz="1600" dirty="0"/>
          </a:p>
        </p:txBody>
      </p:sp>
      <p:sp>
        <p:nvSpPr>
          <p:cNvPr id="11" name="Text 7"/>
          <p:cNvSpPr txBox="1"/>
          <p:nvPr/>
        </p:nvSpPr>
        <p:spPr>
          <a:xfrm>
            <a:off x="1188720" y="2926080"/>
            <a:ext cx="3291840" cy="502920"/>
          </a:xfrm>
          <a:prstGeom prst="rect">
            <a:avLst/>
          </a:prstGeom>
          <a:noFill/>
          <a:ln/>
        </p:spPr>
        <p:txBody>
          <a:bodyPr wrap="square" lIns="0" tIns="0" rIns="0" bIns="0" rtlCol="0" anchor="t"/>
          <a:lstStyle/>
          <a:p>
            <a:pPr indent="0" marL="0">
              <a:buNone/>
            </a:pPr>
            <a:r>
              <a:rPr lang="en-US" sz="1400" dirty="0">
                <a:solidFill>
                  <a:schemeClr val="tx1"/>
                </a:solidFill>
              </a:rPr>
              <a:t>Knowledge passed down, not measured data</a:t>
            </a:r>
            <a:endParaRPr lang="en-US" sz="1400" dirty="0"/>
          </a:p>
        </p:txBody>
      </p:sp>
      <p:sp>
        <p:nvSpPr>
          <p:cNvPr id="12" name="Shape 8"/>
          <p:cNvSpPr/>
          <p:nvPr/>
        </p:nvSpPr>
        <p:spPr>
          <a:xfrm>
            <a:off x="457200" y="3621024"/>
            <a:ext cx="548640" cy="548640"/>
          </a:xfrm>
          <a:prstGeom prst="ellipse">
            <a:avLst/>
          </a:prstGeom>
          <a:solidFill>
            <a:schemeClr val="bg2"/>
          </a:solidFill>
          <a:ln/>
        </p:spPr>
      </p:sp>
      <p:pic>
        <p:nvPicPr>
          <p:cNvPr id="13" name="Image 2" descr="preencoded.png">    </p:cNvPr>
          <p:cNvPicPr>
            <a:picLocks noChangeAspect="1"/>
          </p:cNvPicPr>
          <p:nvPr/>
        </p:nvPicPr>
        <p:blipFill>
          <a:blip r:embed="rId3"/>
          <a:stretch>
            <a:fillRect/>
          </a:stretch>
        </p:blipFill>
        <p:spPr>
          <a:xfrm>
            <a:off x="594360" y="3758184"/>
            <a:ext cx="274320" cy="274320"/>
          </a:xfrm>
          <a:prstGeom prst="rect">
            <a:avLst/>
          </a:prstGeom>
        </p:spPr>
      </p:pic>
      <p:sp>
        <p:nvSpPr>
          <p:cNvPr id="14" name="Text 9"/>
          <p:cNvSpPr txBox="1"/>
          <p:nvPr/>
        </p:nvSpPr>
        <p:spPr>
          <a:xfrm>
            <a:off x="1188720" y="3602736"/>
            <a:ext cx="3291840" cy="292608"/>
          </a:xfrm>
          <a:prstGeom prst="rect">
            <a:avLst/>
          </a:prstGeom>
          <a:noFill/>
          <a:ln/>
        </p:spPr>
        <p:txBody>
          <a:bodyPr wrap="square" lIns="0" tIns="0" rIns="0" bIns="0" rtlCol="0" anchor="t"/>
          <a:lstStyle/>
          <a:p>
            <a:pPr indent="0" marL="0">
              <a:buNone/>
            </a:pPr>
            <a:r>
              <a:rPr lang="en-US" sz="1600" b="1" dirty="0">
                <a:solidFill>
                  <a:schemeClr val="tx2"/>
                </a:solidFill>
              </a:rPr>
              <a:t>Local expert advice</a:t>
            </a:r>
            <a:endParaRPr lang="en-US" sz="1600" dirty="0"/>
          </a:p>
        </p:txBody>
      </p:sp>
      <p:sp>
        <p:nvSpPr>
          <p:cNvPr id="15" name="Text 10"/>
          <p:cNvSpPr txBox="1"/>
          <p:nvPr/>
        </p:nvSpPr>
        <p:spPr>
          <a:xfrm>
            <a:off x="1188720" y="3913632"/>
            <a:ext cx="3291840" cy="502920"/>
          </a:xfrm>
          <a:prstGeom prst="rect">
            <a:avLst/>
          </a:prstGeom>
          <a:noFill/>
          <a:ln/>
        </p:spPr>
        <p:txBody>
          <a:bodyPr wrap="square" lIns="0" tIns="0" rIns="0" bIns="0" rtlCol="0" anchor="t"/>
          <a:lstStyle/>
          <a:p>
            <a:pPr indent="0" marL="0">
              <a:buNone/>
            </a:pPr>
            <a:r>
              <a:rPr lang="en-US" sz="1400" dirty="0">
                <a:solidFill>
                  <a:schemeClr val="tx1"/>
                </a:solidFill>
              </a:rPr>
              <a:t>Agri officer or dealer, not always available</a:t>
            </a:r>
            <a:endParaRPr lang="en-US" sz="1400" dirty="0"/>
          </a:p>
        </p:txBody>
      </p:sp>
      <p:sp>
        <p:nvSpPr>
          <p:cNvPr id="16" name="Shape 11"/>
          <p:cNvSpPr/>
          <p:nvPr/>
        </p:nvSpPr>
        <p:spPr>
          <a:xfrm>
            <a:off x="4754880" y="1143000"/>
            <a:ext cx="3931920" cy="3429000"/>
          </a:xfrm>
          <a:prstGeom prst="roundRect">
            <a:avLst>
              <a:gd name="adj" fmla="val 2667"/>
            </a:avLst>
          </a:prstGeom>
          <a:solidFill>
            <a:schemeClr val="bg2"/>
          </a:solidFill>
          <a:ln/>
        </p:spPr>
      </p:sp>
      <p:sp>
        <p:nvSpPr>
          <p:cNvPr id="17" name="Shape 12"/>
          <p:cNvSpPr/>
          <p:nvPr/>
        </p:nvSpPr>
        <p:spPr>
          <a:xfrm>
            <a:off x="4983480" y="1325880"/>
            <a:ext cx="457200" cy="457200"/>
          </a:xfrm>
          <a:prstGeom prst="ellipse">
            <a:avLst/>
          </a:prstGeom>
          <a:solidFill>
            <a:schemeClr val="accent4"/>
          </a:solidFill>
          <a:ln/>
        </p:spPr>
      </p:sp>
      <p:pic>
        <p:nvPicPr>
          <p:cNvPr id="18" name="Image 3" descr="preencoded.png">    </p:cNvPr>
          <p:cNvPicPr>
            <a:picLocks noChangeAspect="1"/>
          </p:cNvPicPr>
          <p:nvPr/>
        </p:nvPicPr>
        <p:blipFill>
          <a:blip r:embed="rId4"/>
          <a:stretch>
            <a:fillRect/>
          </a:stretch>
        </p:blipFill>
        <p:spPr>
          <a:xfrm>
            <a:off x="5097780" y="1440180"/>
            <a:ext cx="228600" cy="228600"/>
          </a:xfrm>
          <a:prstGeom prst="rect">
            <a:avLst/>
          </a:prstGeom>
        </p:spPr>
      </p:pic>
      <p:sp>
        <p:nvSpPr>
          <p:cNvPr id="19" name="Text 13"/>
          <p:cNvSpPr txBox="1"/>
          <p:nvPr/>
        </p:nvSpPr>
        <p:spPr>
          <a:xfrm>
            <a:off x="5577840" y="1371600"/>
            <a:ext cx="2743200" cy="365760"/>
          </a:xfrm>
          <a:prstGeom prst="rect">
            <a:avLst/>
          </a:prstGeom>
          <a:noFill/>
          <a:ln/>
        </p:spPr>
        <p:txBody>
          <a:bodyPr wrap="square" lIns="0" tIns="0" rIns="0" bIns="0" rtlCol="0" anchor="ctr"/>
          <a:lstStyle/>
          <a:p>
            <a:pPr indent="0" marL="0">
              <a:buNone/>
            </a:pPr>
            <a:r>
              <a:rPr lang="en-US" sz="1800" b="1" dirty="0">
                <a:solidFill>
                  <a:schemeClr val="accent4"/>
                </a:solidFill>
              </a:rPr>
              <a:t>Limitations</a:t>
            </a:r>
            <a:endParaRPr lang="en-US" sz="1800" dirty="0"/>
          </a:p>
        </p:txBody>
      </p:sp>
      <p:sp>
        <p:nvSpPr>
          <p:cNvPr id="20" name="Text 14"/>
          <p:cNvSpPr txBox="1"/>
          <p:nvPr/>
        </p:nvSpPr>
        <p:spPr>
          <a:xfrm>
            <a:off x="5029200" y="1965960"/>
            <a:ext cx="352044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Subjective and inconsistent</a:t>
            </a:r>
            <a:endParaRPr lang="en-US" sz="1500" dirty="0"/>
          </a:p>
          <a:p>
            <a:pPr marL="342900" indent="-342900">
              <a:spcAft>
                <a:spcPts val="800"/>
              </a:spcAft>
              <a:buSzPct val="100000"/>
              <a:buChar char="•"/>
            </a:pPr>
            <a:r>
              <a:rPr lang="en-US" sz="1500" dirty="0">
                <a:solidFill>
                  <a:schemeClr val="tx1"/>
                </a:solidFill>
              </a:rPr>
              <a:t>Ignores measured soil and weather data</a:t>
            </a:r>
            <a:endParaRPr lang="en-US" sz="1500" dirty="0"/>
          </a:p>
          <a:p>
            <a:pPr marL="342900" indent="-342900">
              <a:spcAft>
                <a:spcPts val="800"/>
              </a:spcAft>
              <a:buSzPct val="100000"/>
              <a:buChar char="•"/>
            </a:pPr>
            <a:r>
              <a:rPr lang="en-US" sz="1500" dirty="0">
                <a:solidFill>
                  <a:schemeClr val="tx1"/>
                </a:solidFill>
              </a:rPr>
              <a:t>Experts are hard to reach in villages</a:t>
            </a:r>
            <a:endParaRPr lang="en-US" sz="1500" dirty="0"/>
          </a:p>
          <a:p>
            <a:pPr marL="342900" indent="-342900">
              <a:spcAft>
                <a:spcPts val="800"/>
              </a:spcAft>
              <a:buSzPct val="100000"/>
              <a:buChar char="•"/>
            </a:pPr>
            <a:r>
              <a:rPr lang="en-US" sz="1500" dirty="0">
                <a:solidFill>
                  <a:schemeClr val="tx1"/>
                </a:solidFill>
              </a:rPr>
              <a:t>No nutrient-based fertilizer guidance</a:t>
            </a:r>
            <a:endParaRPr lang="en-US" sz="1500" dirty="0"/>
          </a:p>
          <a:p>
            <a:pPr marL="342900" indent="-342900">
              <a:spcAft>
                <a:spcPts val="800"/>
              </a:spcAft>
              <a:buSzPct val="100000"/>
              <a:buChar char="•"/>
            </a:pPr>
            <a:r>
              <a:rPr lang="en-US" sz="1500" dirty="0">
                <a:solidFill>
                  <a:schemeClr val="tx1"/>
                </a:solidFill>
              </a:rPr>
              <a:t>Slow to adapt to changing climate</a:t>
            </a:r>
            <a:endParaRPr lang="en-US" sz="15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Proposed System</a:t>
            </a:r>
            <a:endParaRPr lang="en-US" sz="3200" dirty="0"/>
          </a:p>
        </p:txBody>
      </p:sp>
      <p:sp>
        <p:nvSpPr>
          <p:cNvPr id="3" name="Text 1"/>
          <p:cNvSpPr txBox="1"/>
          <p:nvPr/>
        </p:nvSpPr>
        <p:spPr>
          <a:xfrm>
            <a:off x="457200" y="1143000"/>
            <a:ext cx="4023360" cy="914400"/>
          </a:xfrm>
          <a:prstGeom prst="rect">
            <a:avLst/>
          </a:prstGeom>
          <a:noFill/>
          <a:ln/>
        </p:spPr>
        <p:txBody>
          <a:bodyPr wrap="square" lIns="0" tIns="0" rIns="0" bIns="0" rtlCol="0" anchor="t"/>
          <a:lstStyle/>
          <a:p>
            <a:pPr indent="0" marL="0">
              <a:buNone/>
            </a:pPr>
            <a:r>
              <a:rPr lang="en-US" sz="1500" b="1" dirty="0">
                <a:solidFill>
                  <a:schemeClr val="accent1"/>
                </a:solidFill>
              </a:rPr>
              <a:t>Smart Crop AI</a:t>
            </a:r>
            <a:pPr indent="0" marL="0">
              <a:buNone/>
            </a:pPr>
            <a:r>
              <a:rPr lang="en-US" sz="1500" dirty="0">
                <a:solidFill>
                  <a:schemeClr val="tx1"/>
                </a:solidFill>
              </a:rPr>
              <a:t> is a farmer-friendly website. The farmer enters 7 soil and weather values and instantly gets an ML-based crop recommendation with fertilizer advice.</a:t>
            </a:r>
            <a:endParaRPr lang="en-US" sz="1500" dirty="0"/>
          </a:p>
        </p:txBody>
      </p:sp>
      <p:sp>
        <p:nvSpPr>
          <p:cNvPr id="4" name="Text 2"/>
          <p:cNvSpPr txBox="1"/>
          <p:nvPr/>
        </p:nvSpPr>
        <p:spPr>
          <a:xfrm>
            <a:off x="457200" y="2194560"/>
            <a:ext cx="4023360" cy="274320"/>
          </a:xfrm>
          <a:prstGeom prst="rect">
            <a:avLst/>
          </a:prstGeom>
          <a:noFill/>
          <a:ln/>
        </p:spPr>
        <p:txBody>
          <a:bodyPr wrap="square" lIns="0" tIns="0" rIns="0" bIns="0" rtlCol="0" anchor="t"/>
          <a:lstStyle/>
          <a:p>
            <a:pPr indent="0" marL="0">
              <a:buNone/>
            </a:pPr>
            <a:r>
              <a:rPr lang="en-US" sz="1400" b="1" dirty="0">
                <a:solidFill>
                  <a:schemeClr val="tx2"/>
                </a:solidFill>
              </a:rPr>
              <a:t>How it fixes the gaps</a:t>
            </a:r>
            <a:endParaRPr lang="en-US" sz="1400" dirty="0"/>
          </a:p>
        </p:txBody>
      </p:sp>
      <p:sp>
        <p:nvSpPr>
          <p:cNvPr id="5" name="Shape 3"/>
          <p:cNvSpPr/>
          <p:nvPr/>
        </p:nvSpPr>
        <p:spPr>
          <a:xfrm>
            <a:off x="457200" y="2560320"/>
            <a:ext cx="1600200" cy="530352"/>
          </a:xfrm>
          <a:prstGeom prst="roundRect">
            <a:avLst>
              <a:gd name="adj" fmla="val 17241"/>
            </a:avLst>
          </a:prstGeom>
          <a:solidFill>
            <a:schemeClr val="bg2"/>
          </a:solidFill>
          <a:ln/>
        </p:spPr>
      </p:sp>
      <p:sp>
        <p:nvSpPr>
          <p:cNvPr id="6" name="Text 4"/>
          <p:cNvSpPr txBox="1"/>
          <p:nvPr/>
        </p:nvSpPr>
        <p:spPr>
          <a:xfrm>
            <a:off x="548640" y="2560320"/>
            <a:ext cx="1463040" cy="530352"/>
          </a:xfrm>
          <a:prstGeom prst="rect">
            <a:avLst/>
          </a:prstGeom>
          <a:noFill/>
          <a:ln/>
        </p:spPr>
        <p:txBody>
          <a:bodyPr wrap="square" lIns="0" tIns="0" rIns="0" bIns="0" rtlCol="0" anchor="ctr"/>
          <a:lstStyle/>
          <a:p>
            <a:pPr algn="ctr" indent="0" marL="0">
              <a:buNone/>
            </a:pPr>
            <a:r>
              <a:rPr lang="en-US" sz="1300" b="1" dirty="0">
                <a:solidFill>
                  <a:schemeClr val="accent4"/>
                </a:solidFill>
              </a:rPr>
              <a:t>Guesswork</a:t>
            </a:r>
            <a:endParaRPr lang="en-US" sz="1300" dirty="0"/>
          </a:p>
        </p:txBody>
      </p:sp>
      <p:sp>
        <p:nvSpPr>
          <p:cNvPr id="7" name="Shape 5"/>
          <p:cNvSpPr/>
          <p:nvPr/>
        </p:nvSpPr>
        <p:spPr>
          <a:xfrm>
            <a:off x="2130552" y="2825496"/>
            <a:ext cx="384048" cy="0"/>
          </a:xfrm>
          <a:prstGeom prst="line">
            <a:avLst/>
          </a:prstGeom>
          <a:noFill/>
          <a:ln w="19050">
            <a:solidFill>
              <a:schemeClr val="accent1"/>
            </a:solidFill>
            <a:prstDash val="solid"/>
            <a:tailEnd type="triangle"/>
          </a:ln>
        </p:spPr>
      </p:sp>
      <p:sp>
        <p:nvSpPr>
          <p:cNvPr id="8" name="Shape 6"/>
          <p:cNvSpPr/>
          <p:nvPr/>
        </p:nvSpPr>
        <p:spPr>
          <a:xfrm>
            <a:off x="2606040" y="2560320"/>
            <a:ext cx="1874520" cy="530352"/>
          </a:xfrm>
          <a:prstGeom prst="roundRect">
            <a:avLst>
              <a:gd name="adj" fmla="val 17241"/>
            </a:avLst>
          </a:prstGeom>
          <a:solidFill>
            <a:schemeClr val="accent1"/>
          </a:solidFill>
          <a:ln/>
        </p:spPr>
      </p:sp>
      <p:sp>
        <p:nvSpPr>
          <p:cNvPr id="9" name="Text 7"/>
          <p:cNvSpPr txBox="1"/>
          <p:nvPr/>
        </p:nvSpPr>
        <p:spPr>
          <a:xfrm>
            <a:off x="2651760" y="2560320"/>
            <a:ext cx="1783080" cy="530352"/>
          </a:xfrm>
          <a:prstGeom prst="rect">
            <a:avLst/>
          </a:prstGeom>
          <a:noFill/>
          <a:ln/>
        </p:spPr>
        <p:txBody>
          <a:bodyPr wrap="square" lIns="0" tIns="0" rIns="0" bIns="0" rtlCol="0" anchor="ctr"/>
          <a:lstStyle/>
          <a:p>
            <a:pPr algn="ctr" indent="0" marL="0">
              <a:buNone/>
            </a:pPr>
            <a:r>
              <a:rPr lang="en-US" sz="1300" b="1" dirty="0">
                <a:solidFill>
                  <a:schemeClr val="bg1"/>
                </a:solidFill>
              </a:rPr>
              <a:t>ML prediction from data</a:t>
            </a:r>
            <a:endParaRPr lang="en-US" sz="1300" dirty="0"/>
          </a:p>
        </p:txBody>
      </p:sp>
      <p:sp>
        <p:nvSpPr>
          <p:cNvPr id="10" name="Shape 8"/>
          <p:cNvSpPr/>
          <p:nvPr/>
        </p:nvSpPr>
        <p:spPr>
          <a:xfrm>
            <a:off x="457200" y="3246120"/>
            <a:ext cx="1600200" cy="530352"/>
          </a:xfrm>
          <a:prstGeom prst="roundRect">
            <a:avLst>
              <a:gd name="adj" fmla="val 17241"/>
            </a:avLst>
          </a:prstGeom>
          <a:solidFill>
            <a:schemeClr val="bg2"/>
          </a:solidFill>
          <a:ln/>
        </p:spPr>
      </p:sp>
      <p:sp>
        <p:nvSpPr>
          <p:cNvPr id="11" name="Text 9"/>
          <p:cNvSpPr txBox="1"/>
          <p:nvPr/>
        </p:nvSpPr>
        <p:spPr>
          <a:xfrm>
            <a:off x="548640" y="3246120"/>
            <a:ext cx="1463040" cy="530352"/>
          </a:xfrm>
          <a:prstGeom prst="rect">
            <a:avLst/>
          </a:prstGeom>
          <a:noFill/>
          <a:ln/>
        </p:spPr>
        <p:txBody>
          <a:bodyPr wrap="square" lIns="0" tIns="0" rIns="0" bIns="0" rtlCol="0" anchor="ctr"/>
          <a:lstStyle/>
          <a:p>
            <a:pPr algn="ctr" indent="0" marL="0">
              <a:buNone/>
            </a:pPr>
            <a:r>
              <a:rPr lang="en-US" sz="1300" b="1" dirty="0">
                <a:solidFill>
                  <a:schemeClr val="accent4"/>
                </a:solidFill>
              </a:rPr>
              <a:t>No expert nearby</a:t>
            </a:r>
            <a:endParaRPr lang="en-US" sz="1300" dirty="0"/>
          </a:p>
        </p:txBody>
      </p:sp>
      <p:sp>
        <p:nvSpPr>
          <p:cNvPr id="12" name="Shape 10"/>
          <p:cNvSpPr/>
          <p:nvPr/>
        </p:nvSpPr>
        <p:spPr>
          <a:xfrm>
            <a:off x="2130552" y="3511296"/>
            <a:ext cx="384048" cy="0"/>
          </a:xfrm>
          <a:prstGeom prst="line">
            <a:avLst/>
          </a:prstGeom>
          <a:noFill/>
          <a:ln w="19050">
            <a:solidFill>
              <a:schemeClr val="accent1"/>
            </a:solidFill>
            <a:prstDash val="solid"/>
            <a:tailEnd type="triangle"/>
          </a:ln>
        </p:spPr>
      </p:sp>
      <p:sp>
        <p:nvSpPr>
          <p:cNvPr id="13" name="Shape 11"/>
          <p:cNvSpPr/>
          <p:nvPr/>
        </p:nvSpPr>
        <p:spPr>
          <a:xfrm>
            <a:off x="2606040" y="3246120"/>
            <a:ext cx="1874520" cy="530352"/>
          </a:xfrm>
          <a:prstGeom prst="roundRect">
            <a:avLst>
              <a:gd name="adj" fmla="val 17241"/>
            </a:avLst>
          </a:prstGeom>
          <a:solidFill>
            <a:schemeClr val="accent1"/>
          </a:solidFill>
          <a:ln/>
        </p:spPr>
      </p:sp>
      <p:sp>
        <p:nvSpPr>
          <p:cNvPr id="14" name="Text 12"/>
          <p:cNvSpPr txBox="1"/>
          <p:nvPr/>
        </p:nvSpPr>
        <p:spPr>
          <a:xfrm>
            <a:off x="2651760" y="3246120"/>
            <a:ext cx="1783080" cy="530352"/>
          </a:xfrm>
          <a:prstGeom prst="rect">
            <a:avLst/>
          </a:prstGeom>
          <a:noFill/>
          <a:ln/>
        </p:spPr>
        <p:txBody>
          <a:bodyPr wrap="square" lIns="0" tIns="0" rIns="0" bIns="0" rtlCol="0" anchor="ctr"/>
          <a:lstStyle/>
          <a:p>
            <a:pPr algn="ctr" indent="0" marL="0">
              <a:buNone/>
            </a:pPr>
            <a:r>
              <a:rPr lang="en-US" sz="1300" b="1" dirty="0">
                <a:solidFill>
                  <a:schemeClr val="bg1"/>
                </a:solidFill>
              </a:rPr>
              <a:t>Advice online, anytime</a:t>
            </a:r>
            <a:endParaRPr lang="en-US" sz="1300" dirty="0"/>
          </a:p>
        </p:txBody>
      </p:sp>
      <p:sp>
        <p:nvSpPr>
          <p:cNvPr id="15" name="Shape 13"/>
          <p:cNvSpPr/>
          <p:nvPr/>
        </p:nvSpPr>
        <p:spPr>
          <a:xfrm>
            <a:off x="457200" y="3931920"/>
            <a:ext cx="1600200" cy="530352"/>
          </a:xfrm>
          <a:prstGeom prst="roundRect">
            <a:avLst>
              <a:gd name="adj" fmla="val 17241"/>
            </a:avLst>
          </a:prstGeom>
          <a:solidFill>
            <a:schemeClr val="bg2"/>
          </a:solidFill>
          <a:ln/>
        </p:spPr>
      </p:sp>
      <p:sp>
        <p:nvSpPr>
          <p:cNvPr id="16" name="Text 14"/>
          <p:cNvSpPr txBox="1"/>
          <p:nvPr/>
        </p:nvSpPr>
        <p:spPr>
          <a:xfrm>
            <a:off x="548640" y="3931920"/>
            <a:ext cx="1463040" cy="530352"/>
          </a:xfrm>
          <a:prstGeom prst="rect">
            <a:avLst/>
          </a:prstGeom>
          <a:noFill/>
          <a:ln/>
        </p:spPr>
        <p:txBody>
          <a:bodyPr wrap="square" lIns="0" tIns="0" rIns="0" bIns="0" rtlCol="0" anchor="ctr"/>
          <a:lstStyle/>
          <a:p>
            <a:pPr algn="ctr" indent="0" marL="0">
              <a:buNone/>
            </a:pPr>
            <a:r>
              <a:rPr lang="en-US" sz="1300" b="1" dirty="0">
                <a:solidFill>
                  <a:schemeClr val="accent4"/>
                </a:solidFill>
              </a:rPr>
              <a:t>No fertilizer plan</a:t>
            </a:r>
            <a:endParaRPr lang="en-US" sz="1300" dirty="0"/>
          </a:p>
        </p:txBody>
      </p:sp>
      <p:sp>
        <p:nvSpPr>
          <p:cNvPr id="17" name="Shape 15"/>
          <p:cNvSpPr/>
          <p:nvPr/>
        </p:nvSpPr>
        <p:spPr>
          <a:xfrm>
            <a:off x="2130552" y="4197096"/>
            <a:ext cx="384048" cy="0"/>
          </a:xfrm>
          <a:prstGeom prst="line">
            <a:avLst/>
          </a:prstGeom>
          <a:noFill/>
          <a:ln w="19050">
            <a:solidFill>
              <a:schemeClr val="accent1"/>
            </a:solidFill>
            <a:prstDash val="solid"/>
            <a:tailEnd type="triangle"/>
          </a:ln>
        </p:spPr>
      </p:sp>
      <p:sp>
        <p:nvSpPr>
          <p:cNvPr id="18" name="Shape 16"/>
          <p:cNvSpPr/>
          <p:nvPr/>
        </p:nvSpPr>
        <p:spPr>
          <a:xfrm>
            <a:off x="2606040" y="3931920"/>
            <a:ext cx="1874520" cy="530352"/>
          </a:xfrm>
          <a:prstGeom prst="roundRect">
            <a:avLst>
              <a:gd name="adj" fmla="val 17241"/>
            </a:avLst>
          </a:prstGeom>
          <a:solidFill>
            <a:schemeClr val="accent1"/>
          </a:solidFill>
          <a:ln/>
        </p:spPr>
      </p:sp>
      <p:sp>
        <p:nvSpPr>
          <p:cNvPr id="19" name="Text 17"/>
          <p:cNvSpPr txBox="1"/>
          <p:nvPr/>
        </p:nvSpPr>
        <p:spPr>
          <a:xfrm>
            <a:off x="2651760" y="3931920"/>
            <a:ext cx="1783080" cy="530352"/>
          </a:xfrm>
          <a:prstGeom prst="rect">
            <a:avLst/>
          </a:prstGeom>
          <a:noFill/>
          <a:ln/>
        </p:spPr>
        <p:txBody>
          <a:bodyPr wrap="square" lIns="0" tIns="0" rIns="0" bIns="0" rtlCol="0" anchor="ctr"/>
          <a:lstStyle/>
          <a:p>
            <a:pPr algn="ctr" indent="0" marL="0">
              <a:buNone/>
            </a:pPr>
            <a:r>
              <a:rPr lang="en-US" sz="1300" b="1" dirty="0">
                <a:solidFill>
                  <a:schemeClr val="bg1"/>
                </a:solidFill>
              </a:rPr>
              <a:t>N-P-K and pH based tips</a:t>
            </a:r>
            <a:endParaRPr lang="en-US" sz="1300" dirty="0"/>
          </a:p>
        </p:txBody>
      </p:sp>
      <p:sp>
        <p:nvSpPr>
          <p:cNvPr id="20" name="Shape 18"/>
          <p:cNvSpPr/>
          <p:nvPr/>
        </p:nvSpPr>
        <p:spPr>
          <a:xfrm>
            <a:off x="4846320" y="1188720"/>
            <a:ext cx="1783080" cy="960120"/>
          </a:xfrm>
          <a:prstGeom prst="roundRect">
            <a:avLst>
              <a:gd name="adj" fmla="val 9524"/>
            </a:avLst>
          </a:prstGeom>
          <a:solidFill>
            <a:schemeClr val="bg2"/>
          </a:solidFill>
          <a:ln/>
        </p:spPr>
      </p:sp>
      <p:sp>
        <p:nvSpPr>
          <p:cNvPr id="21" name="Shape 19"/>
          <p:cNvSpPr/>
          <p:nvPr/>
        </p:nvSpPr>
        <p:spPr>
          <a:xfrm>
            <a:off x="5504688" y="1298448"/>
            <a:ext cx="457200" cy="457200"/>
          </a:xfrm>
          <a:prstGeom prst="ellipse">
            <a:avLst/>
          </a:prstGeom>
          <a:solidFill>
            <a:schemeClr val="accent1"/>
          </a:solidFill>
          <a:ln/>
        </p:spPr>
      </p:sp>
      <p:pic>
        <p:nvPicPr>
          <p:cNvPr id="22" name="Image 0" descr="preencoded.png">    </p:cNvPr>
          <p:cNvPicPr>
            <a:picLocks noChangeAspect="1"/>
          </p:cNvPicPr>
          <p:nvPr/>
        </p:nvPicPr>
        <p:blipFill>
          <a:blip r:embed="rId1"/>
          <a:stretch>
            <a:fillRect/>
          </a:stretch>
        </p:blipFill>
        <p:spPr>
          <a:xfrm>
            <a:off x="5618988" y="1412748"/>
            <a:ext cx="228600" cy="228600"/>
          </a:xfrm>
          <a:prstGeom prst="rect">
            <a:avLst/>
          </a:prstGeom>
        </p:spPr>
      </p:pic>
      <p:sp>
        <p:nvSpPr>
          <p:cNvPr id="23" name="Text 20"/>
          <p:cNvSpPr txBox="1"/>
          <p:nvPr/>
        </p:nvSpPr>
        <p:spPr>
          <a:xfrm>
            <a:off x="4892040" y="1801368"/>
            <a:ext cx="1691640" cy="274320"/>
          </a:xfrm>
          <a:prstGeom prst="rect">
            <a:avLst/>
          </a:prstGeom>
          <a:noFill/>
          <a:ln/>
        </p:spPr>
        <p:txBody>
          <a:bodyPr wrap="square" lIns="0" tIns="0" rIns="0" bIns="0" rtlCol="0" anchor="t"/>
          <a:lstStyle/>
          <a:p>
            <a:pPr algn="ctr" indent="0" marL="0">
              <a:buNone/>
            </a:pPr>
            <a:r>
              <a:rPr lang="en-US" sz="1300" b="1" dirty="0">
                <a:solidFill>
                  <a:schemeClr val="tx2"/>
                </a:solidFill>
              </a:rPr>
              <a:t>Crop prediction</a:t>
            </a:r>
            <a:endParaRPr lang="en-US" sz="1300" dirty="0"/>
          </a:p>
        </p:txBody>
      </p:sp>
      <p:sp>
        <p:nvSpPr>
          <p:cNvPr id="24" name="Shape 21"/>
          <p:cNvSpPr/>
          <p:nvPr/>
        </p:nvSpPr>
        <p:spPr>
          <a:xfrm>
            <a:off x="6812280" y="1188720"/>
            <a:ext cx="1783080" cy="960120"/>
          </a:xfrm>
          <a:prstGeom prst="roundRect">
            <a:avLst>
              <a:gd name="adj" fmla="val 9524"/>
            </a:avLst>
          </a:prstGeom>
          <a:solidFill>
            <a:schemeClr val="bg2"/>
          </a:solidFill>
          <a:ln/>
        </p:spPr>
      </p:sp>
      <p:sp>
        <p:nvSpPr>
          <p:cNvPr id="25" name="Shape 22"/>
          <p:cNvSpPr/>
          <p:nvPr/>
        </p:nvSpPr>
        <p:spPr>
          <a:xfrm>
            <a:off x="7470648" y="1298448"/>
            <a:ext cx="457200" cy="457200"/>
          </a:xfrm>
          <a:prstGeom prst="ellipse">
            <a:avLst/>
          </a:prstGeom>
          <a:solidFill>
            <a:schemeClr val="accent1"/>
          </a:solidFill>
          <a:ln/>
        </p:spPr>
      </p:sp>
      <p:pic>
        <p:nvPicPr>
          <p:cNvPr id="26" name="Image 1" descr="preencoded.png">    </p:cNvPr>
          <p:cNvPicPr>
            <a:picLocks noChangeAspect="1"/>
          </p:cNvPicPr>
          <p:nvPr/>
        </p:nvPicPr>
        <p:blipFill>
          <a:blip r:embed="rId2"/>
          <a:stretch>
            <a:fillRect/>
          </a:stretch>
        </p:blipFill>
        <p:spPr>
          <a:xfrm>
            <a:off x="7584948" y="1412748"/>
            <a:ext cx="228600" cy="228600"/>
          </a:xfrm>
          <a:prstGeom prst="rect">
            <a:avLst/>
          </a:prstGeom>
        </p:spPr>
      </p:pic>
      <p:sp>
        <p:nvSpPr>
          <p:cNvPr id="27" name="Text 23"/>
          <p:cNvSpPr txBox="1"/>
          <p:nvPr/>
        </p:nvSpPr>
        <p:spPr>
          <a:xfrm>
            <a:off x="6858000" y="1801368"/>
            <a:ext cx="1691640" cy="274320"/>
          </a:xfrm>
          <a:prstGeom prst="rect">
            <a:avLst/>
          </a:prstGeom>
          <a:noFill/>
          <a:ln/>
        </p:spPr>
        <p:txBody>
          <a:bodyPr wrap="square" lIns="0" tIns="0" rIns="0" bIns="0" rtlCol="0" anchor="t"/>
          <a:lstStyle/>
          <a:p>
            <a:pPr algn="ctr" indent="0" marL="0">
              <a:buNone/>
            </a:pPr>
            <a:r>
              <a:rPr lang="en-US" sz="1300" b="1" dirty="0">
                <a:solidFill>
                  <a:schemeClr val="tx2"/>
                </a:solidFill>
              </a:rPr>
              <a:t>Top 3 crops</a:t>
            </a:r>
            <a:endParaRPr lang="en-US" sz="1300" dirty="0"/>
          </a:p>
        </p:txBody>
      </p:sp>
      <p:sp>
        <p:nvSpPr>
          <p:cNvPr id="28" name="Shape 24"/>
          <p:cNvSpPr/>
          <p:nvPr/>
        </p:nvSpPr>
        <p:spPr>
          <a:xfrm>
            <a:off x="4846320" y="2331720"/>
            <a:ext cx="1783080" cy="960120"/>
          </a:xfrm>
          <a:prstGeom prst="roundRect">
            <a:avLst>
              <a:gd name="adj" fmla="val 9524"/>
            </a:avLst>
          </a:prstGeom>
          <a:solidFill>
            <a:schemeClr val="bg2"/>
          </a:solidFill>
          <a:ln/>
        </p:spPr>
      </p:sp>
      <p:sp>
        <p:nvSpPr>
          <p:cNvPr id="29" name="Shape 25"/>
          <p:cNvSpPr/>
          <p:nvPr/>
        </p:nvSpPr>
        <p:spPr>
          <a:xfrm>
            <a:off x="5504688" y="2441448"/>
            <a:ext cx="457200" cy="457200"/>
          </a:xfrm>
          <a:prstGeom prst="ellipse">
            <a:avLst/>
          </a:prstGeom>
          <a:solidFill>
            <a:schemeClr val="accent1"/>
          </a:solidFill>
          <a:ln/>
        </p:spPr>
      </p:sp>
      <p:pic>
        <p:nvPicPr>
          <p:cNvPr id="30" name="Image 2" descr="preencoded.png">    </p:cNvPr>
          <p:cNvPicPr>
            <a:picLocks noChangeAspect="1"/>
          </p:cNvPicPr>
          <p:nvPr/>
        </p:nvPicPr>
        <p:blipFill>
          <a:blip r:embed="rId3"/>
          <a:stretch>
            <a:fillRect/>
          </a:stretch>
        </p:blipFill>
        <p:spPr>
          <a:xfrm>
            <a:off x="5618988" y="2555748"/>
            <a:ext cx="228600" cy="228600"/>
          </a:xfrm>
          <a:prstGeom prst="rect">
            <a:avLst/>
          </a:prstGeom>
        </p:spPr>
      </p:pic>
      <p:sp>
        <p:nvSpPr>
          <p:cNvPr id="31" name="Text 26"/>
          <p:cNvSpPr txBox="1"/>
          <p:nvPr/>
        </p:nvSpPr>
        <p:spPr>
          <a:xfrm>
            <a:off x="4892040" y="2944368"/>
            <a:ext cx="1691640" cy="274320"/>
          </a:xfrm>
          <a:prstGeom prst="rect">
            <a:avLst/>
          </a:prstGeom>
          <a:noFill/>
          <a:ln/>
        </p:spPr>
        <p:txBody>
          <a:bodyPr wrap="square" lIns="0" tIns="0" rIns="0" bIns="0" rtlCol="0" anchor="t"/>
          <a:lstStyle/>
          <a:p>
            <a:pPr algn="ctr" indent="0" marL="0">
              <a:buNone/>
            </a:pPr>
            <a:r>
              <a:rPr lang="en-US" sz="1300" b="1" dirty="0">
                <a:solidFill>
                  <a:schemeClr val="tx2"/>
                </a:solidFill>
              </a:rPr>
              <a:t>Fertilizer advice</a:t>
            </a:r>
            <a:endParaRPr lang="en-US" sz="1300" dirty="0"/>
          </a:p>
        </p:txBody>
      </p:sp>
      <p:sp>
        <p:nvSpPr>
          <p:cNvPr id="32" name="Shape 27"/>
          <p:cNvSpPr/>
          <p:nvPr/>
        </p:nvSpPr>
        <p:spPr>
          <a:xfrm>
            <a:off x="6812280" y="2331720"/>
            <a:ext cx="1783080" cy="960120"/>
          </a:xfrm>
          <a:prstGeom prst="roundRect">
            <a:avLst>
              <a:gd name="adj" fmla="val 9524"/>
            </a:avLst>
          </a:prstGeom>
          <a:solidFill>
            <a:schemeClr val="bg2"/>
          </a:solidFill>
          <a:ln/>
        </p:spPr>
      </p:sp>
      <p:sp>
        <p:nvSpPr>
          <p:cNvPr id="33" name="Shape 28"/>
          <p:cNvSpPr/>
          <p:nvPr/>
        </p:nvSpPr>
        <p:spPr>
          <a:xfrm>
            <a:off x="7470648" y="2441448"/>
            <a:ext cx="457200" cy="457200"/>
          </a:xfrm>
          <a:prstGeom prst="ellipse">
            <a:avLst/>
          </a:prstGeom>
          <a:solidFill>
            <a:schemeClr val="accent1"/>
          </a:solidFill>
          <a:ln/>
        </p:spPr>
      </p:sp>
      <p:pic>
        <p:nvPicPr>
          <p:cNvPr id="34" name="Image 3" descr="preencoded.png">    </p:cNvPr>
          <p:cNvPicPr>
            <a:picLocks noChangeAspect="1"/>
          </p:cNvPicPr>
          <p:nvPr/>
        </p:nvPicPr>
        <p:blipFill>
          <a:blip r:embed="rId4"/>
          <a:stretch>
            <a:fillRect/>
          </a:stretch>
        </p:blipFill>
        <p:spPr>
          <a:xfrm>
            <a:off x="7584948" y="2555748"/>
            <a:ext cx="228600" cy="228600"/>
          </a:xfrm>
          <a:prstGeom prst="rect">
            <a:avLst/>
          </a:prstGeom>
        </p:spPr>
      </p:pic>
      <p:sp>
        <p:nvSpPr>
          <p:cNvPr id="35" name="Text 29"/>
          <p:cNvSpPr txBox="1"/>
          <p:nvPr/>
        </p:nvSpPr>
        <p:spPr>
          <a:xfrm>
            <a:off x="6858000" y="2944368"/>
            <a:ext cx="1691640" cy="274320"/>
          </a:xfrm>
          <a:prstGeom prst="rect">
            <a:avLst/>
          </a:prstGeom>
          <a:noFill/>
          <a:ln/>
        </p:spPr>
        <p:txBody>
          <a:bodyPr wrap="square" lIns="0" tIns="0" rIns="0" bIns="0" rtlCol="0" anchor="t"/>
          <a:lstStyle/>
          <a:p>
            <a:pPr algn="ctr" indent="0" marL="0">
              <a:buNone/>
            </a:pPr>
            <a:r>
              <a:rPr lang="en-US" sz="1300" b="1" dirty="0">
                <a:solidFill>
                  <a:schemeClr val="tx2"/>
                </a:solidFill>
              </a:rPr>
              <a:t>Weather updates</a:t>
            </a:r>
            <a:endParaRPr lang="en-US" sz="1300" dirty="0"/>
          </a:p>
        </p:txBody>
      </p:sp>
      <p:sp>
        <p:nvSpPr>
          <p:cNvPr id="36" name="Shape 30"/>
          <p:cNvSpPr/>
          <p:nvPr/>
        </p:nvSpPr>
        <p:spPr>
          <a:xfrm>
            <a:off x="4846320" y="3474720"/>
            <a:ext cx="1783080" cy="960120"/>
          </a:xfrm>
          <a:prstGeom prst="roundRect">
            <a:avLst>
              <a:gd name="adj" fmla="val 9524"/>
            </a:avLst>
          </a:prstGeom>
          <a:solidFill>
            <a:schemeClr val="bg2"/>
          </a:solidFill>
          <a:ln/>
        </p:spPr>
      </p:sp>
      <p:sp>
        <p:nvSpPr>
          <p:cNvPr id="37" name="Shape 31"/>
          <p:cNvSpPr/>
          <p:nvPr/>
        </p:nvSpPr>
        <p:spPr>
          <a:xfrm>
            <a:off x="5504688" y="3584448"/>
            <a:ext cx="457200" cy="457200"/>
          </a:xfrm>
          <a:prstGeom prst="ellipse">
            <a:avLst/>
          </a:prstGeom>
          <a:solidFill>
            <a:schemeClr val="accent1"/>
          </a:solidFill>
          <a:ln/>
        </p:spPr>
      </p:sp>
      <p:pic>
        <p:nvPicPr>
          <p:cNvPr id="38" name="Image 4" descr="preencoded.png">    </p:cNvPr>
          <p:cNvPicPr>
            <a:picLocks noChangeAspect="1"/>
          </p:cNvPicPr>
          <p:nvPr/>
        </p:nvPicPr>
        <p:blipFill>
          <a:blip r:embed="rId5"/>
          <a:stretch>
            <a:fillRect/>
          </a:stretch>
        </p:blipFill>
        <p:spPr>
          <a:xfrm>
            <a:off x="5618988" y="3698748"/>
            <a:ext cx="228600" cy="228600"/>
          </a:xfrm>
          <a:prstGeom prst="rect">
            <a:avLst/>
          </a:prstGeom>
        </p:spPr>
      </p:pic>
      <p:sp>
        <p:nvSpPr>
          <p:cNvPr id="39" name="Text 32"/>
          <p:cNvSpPr txBox="1"/>
          <p:nvPr/>
        </p:nvSpPr>
        <p:spPr>
          <a:xfrm>
            <a:off x="4892040" y="4087368"/>
            <a:ext cx="1691640" cy="274320"/>
          </a:xfrm>
          <a:prstGeom prst="rect">
            <a:avLst/>
          </a:prstGeom>
          <a:noFill/>
          <a:ln/>
        </p:spPr>
        <p:txBody>
          <a:bodyPr wrap="square" lIns="0" tIns="0" rIns="0" bIns="0" rtlCol="0" anchor="t"/>
          <a:lstStyle/>
          <a:p>
            <a:pPr algn="ctr" indent="0" marL="0">
              <a:buNone/>
            </a:pPr>
            <a:r>
              <a:rPr lang="en-US" sz="1300" b="1" dirty="0">
                <a:solidFill>
                  <a:schemeClr val="tx2"/>
                </a:solidFill>
              </a:rPr>
              <a:t>Market updates</a:t>
            </a:r>
            <a:endParaRPr lang="en-US" sz="1300" dirty="0"/>
          </a:p>
        </p:txBody>
      </p:sp>
      <p:sp>
        <p:nvSpPr>
          <p:cNvPr id="40" name="Shape 33"/>
          <p:cNvSpPr/>
          <p:nvPr/>
        </p:nvSpPr>
        <p:spPr>
          <a:xfrm>
            <a:off x="6812280" y="3474720"/>
            <a:ext cx="1783080" cy="960120"/>
          </a:xfrm>
          <a:prstGeom prst="roundRect">
            <a:avLst>
              <a:gd name="adj" fmla="val 9524"/>
            </a:avLst>
          </a:prstGeom>
          <a:solidFill>
            <a:schemeClr val="bg2"/>
          </a:solidFill>
          <a:ln/>
        </p:spPr>
      </p:sp>
      <p:sp>
        <p:nvSpPr>
          <p:cNvPr id="41" name="Shape 34"/>
          <p:cNvSpPr/>
          <p:nvPr/>
        </p:nvSpPr>
        <p:spPr>
          <a:xfrm>
            <a:off x="7470648" y="3584448"/>
            <a:ext cx="457200" cy="457200"/>
          </a:xfrm>
          <a:prstGeom prst="ellipse">
            <a:avLst/>
          </a:prstGeom>
          <a:solidFill>
            <a:schemeClr val="accent1"/>
          </a:solidFill>
          <a:ln/>
        </p:spPr>
      </p:sp>
      <p:pic>
        <p:nvPicPr>
          <p:cNvPr id="42" name="Image 5" descr="preencoded.png">    </p:cNvPr>
          <p:cNvPicPr>
            <a:picLocks noChangeAspect="1"/>
          </p:cNvPicPr>
          <p:nvPr/>
        </p:nvPicPr>
        <p:blipFill>
          <a:blip r:embed="rId6"/>
          <a:stretch>
            <a:fillRect/>
          </a:stretch>
        </p:blipFill>
        <p:spPr>
          <a:xfrm>
            <a:off x="7584948" y="3698748"/>
            <a:ext cx="228600" cy="228600"/>
          </a:xfrm>
          <a:prstGeom prst="rect">
            <a:avLst/>
          </a:prstGeom>
        </p:spPr>
      </p:pic>
      <p:sp>
        <p:nvSpPr>
          <p:cNvPr id="43" name="Text 35"/>
          <p:cNvSpPr txBox="1"/>
          <p:nvPr/>
        </p:nvSpPr>
        <p:spPr>
          <a:xfrm>
            <a:off x="6858000" y="4087368"/>
            <a:ext cx="1691640" cy="274320"/>
          </a:xfrm>
          <a:prstGeom prst="rect">
            <a:avLst/>
          </a:prstGeom>
          <a:noFill/>
          <a:ln/>
        </p:spPr>
        <p:txBody>
          <a:bodyPr wrap="square" lIns="0" tIns="0" rIns="0" bIns="0" rtlCol="0" anchor="t"/>
          <a:lstStyle/>
          <a:p>
            <a:pPr algn="ctr" indent="0" marL="0">
              <a:buNone/>
            </a:pPr>
            <a:r>
              <a:rPr lang="en-US" sz="1300" b="1" dirty="0">
                <a:solidFill>
                  <a:schemeClr val="tx2"/>
                </a:solidFill>
              </a:rPr>
              <a:t>Prediction history</a:t>
            </a:r>
            <a:endParaRPr lang="en-US" sz="13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System Architecture</a:t>
            </a:r>
            <a:endParaRPr lang="en-US" sz="3200" dirty="0"/>
          </a:p>
        </p:txBody>
      </p:sp>
      <p:sp>
        <p:nvSpPr>
          <p:cNvPr id="3" name="Shape 1"/>
          <p:cNvSpPr/>
          <p:nvPr/>
        </p:nvSpPr>
        <p:spPr>
          <a:xfrm>
            <a:off x="457200" y="1280160"/>
            <a:ext cx="960120" cy="1417320"/>
          </a:xfrm>
          <a:prstGeom prst="roundRect">
            <a:avLst>
              <a:gd name="adj" fmla="val 9524"/>
            </a:avLst>
          </a:prstGeom>
          <a:solidFill>
            <a:schemeClr val="bg2"/>
          </a:solidFill>
          <a:ln w="12700">
            <a:solidFill>
              <a:schemeClr val="accent5"/>
            </a:solidFill>
            <a:prstDash val="solid"/>
          </a:ln>
        </p:spPr>
      </p:sp>
      <p:sp>
        <p:nvSpPr>
          <p:cNvPr id="4" name="Shape 2"/>
          <p:cNvSpPr/>
          <p:nvPr/>
        </p:nvSpPr>
        <p:spPr>
          <a:xfrm>
            <a:off x="685800" y="1417320"/>
            <a:ext cx="502920" cy="502920"/>
          </a:xfrm>
          <a:prstGeom prst="ellipse">
            <a:avLst/>
          </a:prstGeom>
          <a:solidFill>
            <a:schemeClr val="bg1"/>
          </a:solidFill>
          <a:ln/>
        </p:spPr>
      </p:sp>
      <p:pic>
        <p:nvPicPr>
          <p:cNvPr id="5" name="Image 0" descr="preencoded.png">    </p:cNvPr>
          <p:cNvPicPr>
            <a:picLocks noChangeAspect="1"/>
          </p:cNvPicPr>
          <p:nvPr/>
        </p:nvPicPr>
        <p:blipFill>
          <a:blip r:embed="rId1"/>
          <a:stretch>
            <a:fillRect/>
          </a:stretch>
        </p:blipFill>
        <p:spPr>
          <a:xfrm>
            <a:off x="811530" y="1543050"/>
            <a:ext cx="251460" cy="251460"/>
          </a:xfrm>
          <a:prstGeom prst="rect">
            <a:avLst/>
          </a:prstGeom>
        </p:spPr>
      </p:pic>
      <p:sp>
        <p:nvSpPr>
          <p:cNvPr id="6" name="Text 3"/>
          <p:cNvSpPr txBox="1"/>
          <p:nvPr/>
        </p:nvSpPr>
        <p:spPr>
          <a:xfrm>
            <a:off x="493776" y="2011680"/>
            <a:ext cx="886968" cy="594360"/>
          </a:xfrm>
          <a:prstGeom prst="rect">
            <a:avLst/>
          </a:prstGeom>
          <a:noFill/>
          <a:ln/>
        </p:spPr>
        <p:txBody>
          <a:bodyPr wrap="square" lIns="0" tIns="0" rIns="0" bIns="0" rtlCol="0" anchor="ctr"/>
          <a:lstStyle/>
          <a:p>
            <a:pPr algn="ctr" indent="0" marL="0">
              <a:buNone/>
            </a:pPr>
            <a:r>
              <a:rPr lang="en-US" sz="1200" b="1" dirty="0">
                <a:solidFill>
                  <a:schemeClr val="tx2"/>
                </a:solidFill>
              </a:rPr>
              <a:t>User Login</a:t>
            </a:r>
            <a:endParaRPr lang="en-US" sz="1200" dirty="0"/>
          </a:p>
        </p:txBody>
      </p:sp>
      <p:sp>
        <p:nvSpPr>
          <p:cNvPr id="7" name="Shape 4"/>
          <p:cNvSpPr/>
          <p:nvPr/>
        </p:nvSpPr>
        <p:spPr>
          <a:xfrm>
            <a:off x="1444752" y="1984248"/>
            <a:ext cx="201168" cy="0"/>
          </a:xfrm>
          <a:prstGeom prst="line">
            <a:avLst/>
          </a:prstGeom>
          <a:noFill/>
          <a:ln w="19050">
            <a:solidFill>
              <a:schemeClr val="accent6"/>
            </a:solidFill>
            <a:prstDash val="solid"/>
            <a:tailEnd type="triangle"/>
          </a:ln>
        </p:spPr>
      </p:sp>
      <p:sp>
        <p:nvSpPr>
          <p:cNvPr id="8" name="Shape 5"/>
          <p:cNvSpPr/>
          <p:nvPr/>
        </p:nvSpPr>
        <p:spPr>
          <a:xfrm>
            <a:off x="1673352" y="1280160"/>
            <a:ext cx="960120" cy="1417320"/>
          </a:xfrm>
          <a:prstGeom prst="roundRect">
            <a:avLst>
              <a:gd name="adj" fmla="val 9524"/>
            </a:avLst>
          </a:prstGeom>
          <a:solidFill>
            <a:schemeClr val="bg2"/>
          </a:solidFill>
          <a:ln w="12700">
            <a:solidFill>
              <a:schemeClr val="accent5"/>
            </a:solidFill>
            <a:prstDash val="solid"/>
          </a:ln>
        </p:spPr>
      </p:sp>
      <p:sp>
        <p:nvSpPr>
          <p:cNvPr id="9" name="Shape 6"/>
          <p:cNvSpPr/>
          <p:nvPr/>
        </p:nvSpPr>
        <p:spPr>
          <a:xfrm>
            <a:off x="1901952" y="1417320"/>
            <a:ext cx="502920" cy="502920"/>
          </a:xfrm>
          <a:prstGeom prst="ellipse">
            <a:avLst/>
          </a:prstGeom>
          <a:solidFill>
            <a:schemeClr val="bg1"/>
          </a:solidFill>
          <a:ln/>
        </p:spPr>
      </p:sp>
      <p:pic>
        <p:nvPicPr>
          <p:cNvPr id="10" name="Image 1" descr="preencoded.png">    </p:cNvPr>
          <p:cNvPicPr>
            <a:picLocks noChangeAspect="1"/>
          </p:cNvPicPr>
          <p:nvPr/>
        </p:nvPicPr>
        <p:blipFill>
          <a:blip r:embed="rId2"/>
          <a:stretch>
            <a:fillRect/>
          </a:stretch>
        </p:blipFill>
        <p:spPr>
          <a:xfrm>
            <a:off x="2027682" y="1543050"/>
            <a:ext cx="251460" cy="251460"/>
          </a:xfrm>
          <a:prstGeom prst="rect">
            <a:avLst/>
          </a:prstGeom>
        </p:spPr>
      </p:pic>
      <p:sp>
        <p:nvSpPr>
          <p:cNvPr id="11" name="Text 7"/>
          <p:cNvSpPr txBox="1"/>
          <p:nvPr/>
        </p:nvSpPr>
        <p:spPr>
          <a:xfrm>
            <a:off x="1709928" y="2011680"/>
            <a:ext cx="886968" cy="594360"/>
          </a:xfrm>
          <a:prstGeom prst="rect">
            <a:avLst/>
          </a:prstGeom>
          <a:noFill/>
          <a:ln/>
        </p:spPr>
        <p:txBody>
          <a:bodyPr wrap="square" lIns="0" tIns="0" rIns="0" bIns="0" rtlCol="0" anchor="ctr"/>
          <a:lstStyle/>
          <a:p>
            <a:pPr algn="ctr" indent="0" marL="0">
              <a:buNone/>
            </a:pPr>
            <a:r>
              <a:rPr lang="en-US" sz="1200" b="1" dirty="0">
                <a:solidFill>
                  <a:schemeClr val="tx2"/>
                </a:solidFill>
              </a:rPr>
              <a:t>Enter Farm Values</a:t>
            </a:r>
            <a:endParaRPr lang="en-US" sz="1200" dirty="0"/>
          </a:p>
        </p:txBody>
      </p:sp>
      <p:sp>
        <p:nvSpPr>
          <p:cNvPr id="12" name="Shape 8"/>
          <p:cNvSpPr/>
          <p:nvPr/>
        </p:nvSpPr>
        <p:spPr>
          <a:xfrm>
            <a:off x="2660904" y="1984248"/>
            <a:ext cx="201168" cy="0"/>
          </a:xfrm>
          <a:prstGeom prst="line">
            <a:avLst/>
          </a:prstGeom>
          <a:noFill/>
          <a:ln w="19050">
            <a:solidFill>
              <a:schemeClr val="accent6"/>
            </a:solidFill>
            <a:prstDash val="solid"/>
            <a:tailEnd type="triangle"/>
          </a:ln>
        </p:spPr>
      </p:sp>
      <p:sp>
        <p:nvSpPr>
          <p:cNvPr id="13" name="Shape 9"/>
          <p:cNvSpPr/>
          <p:nvPr/>
        </p:nvSpPr>
        <p:spPr>
          <a:xfrm>
            <a:off x="2889504" y="1280160"/>
            <a:ext cx="960120" cy="1417320"/>
          </a:xfrm>
          <a:prstGeom prst="roundRect">
            <a:avLst>
              <a:gd name="adj" fmla="val 9524"/>
            </a:avLst>
          </a:prstGeom>
          <a:solidFill>
            <a:schemeClr val="accent1"/>
          </a:solidFill>
          <a:ln/>
        </p:spPr>
      </p:sp>
      <p:sp>
        <p:nvSpPr>
          <p:cNvPr id="14" name="Shape 10"/>
          <p:cNvSpPr/>
          <p:nvPr/>
        </p:nvSpPr>
        <p:spPr>
          <a:xfrm>
            <a:off x="3118104" y="1417320"/>
            <a:ext cx="502920" cy="502920"/>
          </a:xfrm>
          <a:prstGeom prst="ellipse">
            <a:avLst/>
          </a:prstGeom>
          <a:solidFill>
            <a:schemeClr val="accent2"/>
          </a:solidFill>
          <a:ln/>
        </p:spPr>
      </p:sp>
      <p:pic>
        <p:nvPicPr>
          <p:cNvPr id="15" name="Image 2" descr="preencoded.png">    </p:cNvPr>
          <p:cNvPicPr>
            <a:picLocks noChangeAspect="1"/>
          </p:cNvPicPr>
          <p:nvPr/>
        </p:nvPicPr>
        <p:blipFill>
          <a:blip r:embed="rId3"/>
          <a:stretch>
            <a:fillRect/>
          </a:stretch>
        </p:blipFill>
        <p:spPr>
          <a:xfrm>
            <a:off x="3243834" y="1543050"/>
            <a:ext cx="251460" cy="251460"/>
          </a:xfrm>
          <a:prstGeom prst="rect">
            <a:avLst/>
          </a:prstGeom>
        </p:spPr>
      </p:pic>
      <p:sp>
        <p:nvSpPr>
          <p:cNvPr id="16" name="Text 11"/>
          <p:cNvSpPr txBox="1"/>
          <p:nvPr/>
        </p:nvSpPr>
        <p:spPr>
          <a:xfrm>
            <a:off x="2926080" y="2011680"/>
            <a:ext cx="886968" cy="594360"/>
          </a:xfrm>
          <a:prstGeom prst="rect">
            <a:avLst/>
          </a:prstGeom>
          <a:noFill/>
          <a:ln/>
        </p:spPr>
        <p:txBody>
          <a:bodyPr wrap="square" lIns="0" tIns="0" rIns="0" bIns="0" rtlCol="0" anchor="ctr"/>
          <a:lstStyle/>
          <a:p>
            <a:pPr algn="ctr" indent="0" marL="0">
              <a:buNone/>
            </a:pPr>
            <a:r>
              <a:rPr lang="en-US" sz="1200" b="1" dirty="0">
                <a:solidFill>
                  <a:schemeClr val="bg1"/>
                </a:solidFill>
              </a:rPr>
              <a:t>Flask Backend</a:t>
            </a:r>
            <a:endParaRPr lang="en-US" sz="1200" dirty="0"/>
          </a:p>
        </p:txBody>
      </p:sp>
      <p:sp>
        <p:nvSpPr>
          <p:cNvPr id="17" name="Shape 12"/>
          <p:cNvSpPr/>
          <p:nvPr/>
        </p:nvSpPr>
        <p:spPr>
          <a:xfrm>
            <a:off x="3877056" y="1984248"/>
            <a:ext cx="201168" cy="0"/>
          </a:xfrm>
          <a:prstGeom prst="line">
            <a:avLst/>
          </a:prstGeom>
          <a:noFill/>
          <a:ln w="19050">
            <a:solidFill>
              <a:schemeClr val="accent6"/>
            </a:solidFill>
            <a:prstDash val="solid"/>
            <a:tailEnd type="triangle"/>
          </a:ln>
        </p:spPr>
      </p:sp>
      <p:sp>
        <p:nvSpPr>
          <p:cNvPr id="18" name="Shape 13"/>
          <p:cNvSpPr/>
          <p:nvPr/>
        </p:nvSpPr>
        <p:spPr>
          <a:xfrm>
            <a:off x="4105656" y="1280160"/>
            <a:ext cx="960120" cy="1417320"/>
          </a:xfrm>
          <a:prstGeom prst="roundRect">
            <a:avLst>
              <a:gd name="adj" fmla="val 9524"/>
            </a:avLst>
          </a:prstGeom>
          <a:solidFill>
            <a:schemeClr val="tx2"/>
          </a:solidFill>
          <a:ln/>
        </p:spPr>
      </p:sp>
      <p:sp>
        <p:nvSpPr>
          <p:cNvPr id="19" name="Shape 14"/>
          <p:cNvSpPr/>
          <p:nvPr/>
        </p:nvSpPr>
        <p:spPr>
          <a:xfrm>
            <a:off x="4334256" y="1417320"/>
            <a:ext cx="502920" cy="50292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4459986" y="1543050"/>
            <a:ext cx="251460" cy="251460"/>
          </a:xfrm>
          <a:prstGeom prst="rect">
            <a:avLst/>
          </a:prstGeom>
        </p:spPr>
      </p:pic>
      <p:sp>
        <p:nvSpPr>
          <p:cNvPr id="21" name="Text 15"/>
          <p:cNvSpPr txBox="1"/>
          <p:nvPr/>
        </p:nvSpPr>
        <p:spPr>
          <a:xfrm>
            <a:off x="4142232" y="2011680"/>
            <a:ext cx="886968" cy="594360"/>
          </a:xfrm>
          <a:prstGeom prst="rect">
            <a:avLst/>
          </a:prstGeom>
          <a:noFill/>
          <a:ln/>
        </p:spPr>
        <p:txBody>
          <a:bodyPr wrap="square" lIns="0" tIns="0" rIns="0" bIns="0" rtlCol="0" anchor="ctr"/>
          <a:lstStyle/>
          <a:p>
            <a:pPr algn="ctr" indent="0" marL="0">
              <a:buNone/>
            </a:pPr>
            <a:r>
              <a:rPr lang="en-US" sz="1200" b="1" dirty="0">
                <a:solidFill>
                  <a:schemeClr val="bg1"/>
                </a:solidFill>
              </a:rPr>
              <a:t>ML Model</a:t>
            </a:r>
            <a:endParaRPr lang="en-US" sz="1200" dirty="0"/>
          </a:p>
        </p:txBody>
      </p:sp>
      <p:sp>
        <p:nvSpPr>
          <p:cNvPr id="22" name="Shape 16"/>
          <p:cNvSpPr/>
          <p:nvPr/>
        </p:nvSpPr>
        <p:spPr>
          <a:xfrm>
            <a:off x="5093208" y="1984248"/>
            <a:ext cx="201168" cy="0"/>
          </a:xfrm>
          <a:prstGeom prst="line">
            <a:avLst/>
          </a:prstGeom>
          <a:noFill/>
          <a:ln w="19050">
            <a:solidFill>
              <a:schemeClr val="accent6"/>
            </a:solidFill>
            <a:prstDash val="solid"/>
            <a:tailEnd type="triangle"/>
          </a:ln>
        </p:spPr>
      </p:sp>
      <p:sp>
        <p:nvSpPr>
          <p:cNvPr id="23" name="Shape 17"/>
          <p:cNvSpPr/>
          <p:nvPr/>
        </p:nvSpPr>
        <p:spPr>
          <a:xfrm>
            <a:off x="5321808" y="1280160"/>
            <a:ext cx="960120" cy="1417320"/>
          </a:xfrm>
          <a:prstGeom prst="roundRect">
            <a:avLst>
              <a:gd name="adj" fmla="val 9524"/>
            </a:avLst>
          </a:prstGeom>
          <a:solidFill>
            <a:schemeClr val="tx2"/>
          </a:solidFill>
          <a:ln/>
        </p:spPr>
      </p:sp>
      <p:sp>
        <p:nvSpPr>
          <p:cNvPr id="24" name="Shape 18"/>
          <p:cNvSpPr/>
          <p:nvPr/>
        </p:nvSpPr>
        <p:spPr>
          <a:xfrm>
            <a:off x="5550408" y="1417320"/>
            <a:ext cx="502920" cy="502920"/>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5676138" y="1543050"/>
            <a:ext cx="251460" cy="251460"/>
          </a:xfrm>
          <a:prstGeom prst="rect">
            <a:avLst/>
          </a:prstGeom>
        </p:spPr>
      </p:pic>
      <p:sp>
        <p:nvSpPr>
          <p:cNvPr id="26" name="Text 19"/>
          <p:cNvSpPr txBox="1"/>
          <p:nvPr/>
        </p:nvSpPr>
        <p:spPr>
          <a:xfrm>
            <a:off x="5358384" y="2011680"/>
            <a:ext cx="886968" cy="594360"/>
          </a:xfrm>
          <a:prstGeom prst="rect">
            <a:avLst/>
          </a:prstGeom>
          <a:noFill/>
          <a:ln/>
        </p:spPr>
        <p:txBody>
          <a:bodyPr wrap="square" lIns="0" tIns="0" rIns="0" bIns="0" rtlCol="0" anchor="ctr"/>
          <a:lstStyle/>
          <a:p>
            <a:pPr algn="ctr" indent="0" marL="0">
              <a:buNone/>
            </a:pPr>
            <a:r>
              <a:rPr lang="en-US" sz="1200" b="1" dirty="0">
                <a:solidFill>
                  <a:schemeClr val="bg1"/>
                </a:solidFill>
              </a:rPr>
              <a:t>Crop Result</a:t>
            </a:r>
            <a:endParaRPr lang="en-US" sz="1200" dirty="0"/>
          </a:p>
        </p:txBody>
      </p:sp>
      <p:sp>
        <p:nvSpPr>
          <p:cNvPr id="27" name="Shape 20"/>
          <p:cNvSpPr/>
          <p:nvPr/>
        </p:nvSpPr>
        <p:spPr>
          <a:xfrm>
            <a:off x="6309360" y="1984248"/>
            <a:ext cx="201168" cy="0"/>
          </a:xfrm>
          <a:prstGeom prst="line">
            <a:avLst/>
          </a:prstGeom>
          <a:noFill/>
          <a:ln w="19050">
            <a:solidFill>
              <a:schemeClr val="accent6"/>
            </a:solidFill>
            <a:prstDash val="solid"/>
            <a:tailEnd type="triangle"/>
          </a:ln>
        </p:spPr>
      </p:sp>
      <p:sp>
        <p:nvSpPr>
          <p:cNvPr id="28" name="Shape 21"/>
          <p:cNvSpPr/>
          <p:nvPr/>
        </p:nvSpPr>
        <p:spPr>
          <a:xfrm>
            <a:off x="6537960" y="1280160"/>
            <a:ext cx="960120" cy="1417320"/>
          </a:xfrm>
          <a:prstGeom prst="roundRect">
            <a:avLst>
              <a:gd name="adj" fmla="val 9524"/>
            </a:avLst>
          </a:prstGeom>
          <a:solidFill>
            <a:schemeClr val="tx2"/>
          </a:solidFill>
          <a:ln/>
        </p:spPr>
      </p:sp>
      <p:sp>
        <p:nvSpPr>
          <p:cNvPr id="29" name="Shape 22"/>
          <p:cNvSpPr/>
          <p:nvPr/>
        </p:nvSpPr>
        <p:spPr>
          <a:xfrm>
            <a:off x="6766560" y="1417320"/>
            <a:ext cx="502920" cy="502920"/>
          </a:xfrm>
          <a:prstGeom prst="ellipse">
            <a:avLst/>
          </a:prstGeom>
          <a:solidFill>
            <a:schemeClr val="accent1"/>
          </a:solidFill>
          <a:ln/>
        </p:spPr>
      </p:sp>
      <p:pic>
        <p:nvPicPr>
          <p:cNvPr id="30" name="Image 5" descr="preencoded.png">    </p:cNvPr>
          <p:cNvPicPr>
            <a:picLocks noChangeAspect="1"/>
          </p:cNvPicPr>
          <p:nvPr/>
        </p:nvPicPr>
        <p:blipFill>
          <a:blip r:embed="rId6"/>
          <a:stretch>
            <a:fillRect/>
          </a:stretch>
        </p:blipFill>
        <p:spPr>
          <a:xfrm>
            <a:off x="6892290" y="1543050"/>
            <a:ext cx="251460" cy="251460"/>
          </a:xfrm>
          <a:prstGeom prst="rect">
            <a:avLst/>
          </a:prstGeom>
        </p:spPr>
      </p:pic>
      <p:sp>
        <p:nvSpPr>
          <p:cNvPr id="31" name="Text 23"/>
          <p:cNvSpPr txBox="1"/>
          <p:nvPr/>
        </p:nvSpPr>
        <p:spPr>
          <a:xfrm>
            <a:off x="6574536" y="2011680"/>
            <a:ext cx="886968" cy="594360"/>
          </a:xfrm>
          <a:prstGeom prst="rect">
            <a:avLst/>
          </a:prstGeom>
          <a:noFill/>
          <a:ln/>
        </p:spPr>
        <p:txBody>
          <a:bodyPr wrap="square" lIns="0" tIns="0" rIns="0" bIns="0" rtlCol="0" anchor="ctr"/>
          <a:lstStyle/>
          <a:p>
            <a:pPr algn="ctr" indent="0" marL="0">
              <a:buNone/>
            </a:pPr>
            <a:r>
              <a:rPr lang="en-US" sz="1200" b="1" dirty="0">
                <a:solidFill>
                  <a:schemeClr val="bg1"/>
                </a:solidFill>
              </a:rPr>
              <a:t>Fertilizer Advice</a:t>
            </a:r>
            <a:endParaRPr lang="en-US" sz="1200" dirty="0"/>
          </a:p>
        </p:txBody>
      </p:sp>
      <p:sp>
        <p:nvSpPr>
          <p:cNvPr id="32" name="Shape 24"/>
          <p:cNvSpPr/>
          <p:nvPr/>
        </p:nvSpPr>
        <p:spPr>
          <a:xfrm>
            <a:off x="7525512" y="1984248"/>
            <a:ext cx="201168" cy="0"/>
          </a:xfrm>
          <a:prstGeom prst="line">
            <a:avLst/>
          </a:prstGeom>
          <a:noFill/>
          <a:ln w="19050">
            <a:solidFill>
              <a:schemeClr val="accent6"/>
            </a:solidFill>
            <a:prstDash val="solid"/>
            <a:tailEnd type="triangle"/>
          </a:ln>
        </p:spPr>
      </p:sp>
      <p:sp>
        <p:nvSpPr>
          <p:cNvPr id="33" name="Shape 25"/>
          <p:cNvSpPr/>
          <p:nvPr/>
        </p:nvSpPr>
        <p:spPr>
          <a:xfrm>
            <a:off x="7754112" y="1280160"/>
            <a:ext cx="960120" cy="1417320"/>
          </a:xfrm>
          <a:prstGeom prst="roundRect">
            <a:avLst>
              <a:gd name="adj" fmla="val 9524"/>
            </a:avLst>
          </a:prstGeom>
          <a:solidFill>
            <a:schemeClr val="bg2"/>
          </a:solidFill>
          <a:ln w="12700">
            <a:solidFill>
              <a:schemeClr val="accent5"/>
            </a:solidFill>
            <a:prstDash val="solid"/>
          </a:ln>
        </p:spPr>
      </p:sp>
      <p:sp>
        <p:nvSpPr>
          <p:cNvPr id="34" name="Shape 26"/>
          <p:cNvSpPr/>
          <p:nvPr/>
        </p:nvSpPr>
        <p:spPr>
          <a:xfrm>
            <a:off x="7982712" y="1417320"/>
            <a:ext cx="502920" cy="502920"/>
          </a:xfrm>
          <a:prstGeom prst="ellipse">
            <a:avLst/>
          </a:prstGeom>
          <a:solidFill>
            <a:schemeClr val="bg1"/>
          </a:solidFill>
          <a:ln/>
        </p:spPr>
      </p:sp>
      <p:pic>
        <p:nvPicPr>
          <p:cNvPr id="35" name="Image 6" descr="preencoded.png">    </p:cNvPr>
          <p:cNvPicPr>
            <a:picLocks noChangeAspect="1"/>
          </p:cNvPicPr>
          <p:nvPr/>
        </p:nvPicPr>
        <p:blipFill>
          <a:blip r:embed="rId7"/>
          <a:stretch>
            <a:fillRect/>
          </a:stretch>
        </p:blipFill>
        <p:spPr>
          <a:xfrm>
            <a:off x="8108442" y="1543050"/>
            <a:ext cx="251460" cy="251460"/>
          </a:xfrm>
          <a:prstGeom prst="rect">
            <a:avLst/>
          </a:prstGeom>
        </p:spPr>
      </p:pic>
      <p:sp>
        <p:nvSpPr>
          <p:cNvPr id="36" name="Text 27"/>
          <p:cNvSpPr txBox="1"/>
          <p:nvPr/>
        </p:nvSpPr>
        <p:spPr>
          <a:xfrm>
            <a:off x="7790688" y="2011680"/>
            <a:ext cx="886968" cy="594360"/>
          </a:xfrm>
          <a:prstGeom prst="rect">
            <a:avLst/>
          </a:prstGeom>
          <a:noFill/>
          <a:ln/>
        </p:spPr>
        <p:txBody>
          <a:bodyPr wrap="square" lIns="0" tIns="0" rIns="0" bIns="0" rtlCol="0" anchor="ctr"/>
          <a:lstStyle/>
          <a:p>
            <a:pPr algn="ctr" indent="0" marL="0">
              <a:buNone/>
            </a:pPr>
            <a:r>
              <a:rPr lang="en-US" sz="1200" b="1" dirty="0">
                <a:solidFill>
                  <a:schemeClr val="tx2"/>
                </a:solidFill>
              </a:rPr>
              <a:t>Dashboard</a:t>
            </a:r>
            <a:endParaRPr lang="en-US" sz="1200" dirty="0"/>
          </a:p>
        </p:txBody>
      </p:sp>
      <p:sp>
        <p:nvSpPr>
          <p:cNvPr id="37" name="Shape 28"/>
          <p:cNvSpPr/>
          <p:nvPr/>
        </p:nvSpPr>
        <p:spPr>
          <a:xfrm>
            <a:off x="457200" y="3017520"/>
            <a:ext cx="2606040" cy="1554480"/>
          </a:xfrm>
          <a:prstGeom prst="roundRect">
            <a:avLst>
              <a:gd name="adj" fmla="val 5882"/>
            </a:avLst>
          </a:prstGeom>
          <a:solidFill>
            <a:schemeClr val="bg1"/>
          </a:solidFill>
          <a:ln w="12700">
            <a:solidFill>
              <a:schemeClr val="accent5"/>
            </a:solidFill>
            <a:prstDash val="solid"/>
          </a:ln>
        </p:spPr>
      </p:sp>
      <p:sp>
        <p:nvSpPr>
          <p:cNvPr id="38" name="Shape 29"/>
          <p:cNvSpPr/>
          <p:nvPr/>
        </p:nvSpPr>
        <p:spPr>
          <a:xfrm>
            <a:off x="658368" y="3200400"/>
            <a:ext cx="237744" cy="237744"/>
          </a:xfrm>
          <a:prstGeom prst="ellipse">
            <a:avLst/>
          </a:prstGeom>
          <a:solidFill>
            <a:schemeClr val="bg2"/>
          </a:solidFill>
          <a:ln w="12700">
            <a:solidFill>
              <a:schemeClr val="accent1"/>
            </a:solidFill>
            <a:prstDash val="solid"/>
          </a:ln>
        </p:spPr>
      </p:sp>
      <p:sp>
        <p:nvSpPr>
          <p:cNvPr id="39" name="Text 30"/>
          <p:cNvSpPr txBox="1"/>
          <p:nvPr/>
        </p:nvSpPr>
        <p:spPr>
          <a:xfrm>
            <a:off x="1005840" y="3154680"/>
            <a:ext cx="1965960" cy="329184"/>
          </a:xfrm>
          <a:prstGeom prst="rect">
            <a:avLst/>
          </a:prstGeom>
          <a:noFill/>
          <a:ln/>
        </p:spPr>
        <p:txBody>
          <a:bodyPr wrap="square" lIns="0" tIns="0" rIns="0" bIns="0" rtlCol="0" anchor="ctr"/>
          <a:lstStyle/>
          <a:p>
            <a:pPr indent="0" marL="0">
              <a:buNone/>
            </a:pPr>
            <a:r>
              <a:rPr lang="en-US" sz="1500" b="1" dirty="0">
                <a:solidFill>
                  <a:schemeClr val="tx2"/>
                </a:solidFill>
              </a:rPr>
              <a:t>Presentation layer</a:t>
            </a:r>
            <a:endParaRPr lang="en-US" sz="1500" dirty="0"/>
          </a:p>
        </p:txBody>
      </p:sp>
      <p:sp>
        <p:nvSpPr>
          <p:cNvPr id="40" name="Text 31"/>
          <p:cNvSpPr txBox="1"/>
          <p:nvPr/>
        </p:nvSpPr>
        <p:spPr>
          <a:xfrm>
            <a:off x="658368" y="3566160"/>
            <a:ext cx="2240280" cy="914400"/>
          </a:xfrm>
          <a:prstGeom prst="rect">
            <a:avLst/>
          </a:prstGeom>
          <a:noFill/>
          <a:ln/>
        </p:spPr>
        <p:txBody>
          <a:bodyPr wrap="square" lIns="0" tIns="0" rIns="0" bIns="0" rtlCol="0" anchor="t"/>
          <a:lstStyle/>
          <a:p>
            <a:pPr indent="0" marL="0">
              <a:buNone/>
            </a:pPr>
            <a:r>
              <a:rPr lang="en-US" sz="1200" dirty="0">
                <a:solidFill>
                  <a:schemeClr val="tx1"/>
                </a:solidFill>
              </a:rPr>
              <a:t>HTML, CSS, JavaScript: login, input form, result and dashboard screens</a:t>
            </a:r>
            <a:endParaRPr lang="en-US" sz="1200" dirty="0"/>
          </a:p>
        </p:txBody>
      </p:sp>
      <p:sp>
        <p:nvSpPr>
          <p:cNvPr id="41" name="Shape 32"/>
          <p:cNvSpPr/>
          <p:nvPr/>
        </p:nvSpPr>
        <p:spPr>
          <a:xfrm>
            <a:off x="3246120" y="3017520"/>
            <a:ext cx="2606040" cy="1554480"/>
          </a:xfrm>
          <a:prstGeom prst="roundRect">
            <a:avLst>
              <a:gd name="adj" fmla="val 5882"/>
            </a:avLst>
          </a:prstGeom>
          <a:solidFill>
            <a:schemeClr val="bg1"/>
          </a:solidFill>
          <a:ln w="12700">
            <a:solidFill>
              <a:schemeClr val="accent5"/>
            </a:solidFill>
            <a:prstDash val="solid"/>
          </a:ln>
        </p:spPr>
      </p:sp>
      <p:sp>
        <p:nvSpPr>
          <p:cNvPr id="42" name="Shape 33"/>
          <p:cNvSpPr/>
          <p:nvPr/>
        </p:nvSpPr>
        <p:spPr>
          <a:xfrm>
            <a:off x="3447288" y="3200400"/>
            <a:ext cx="237744" cy="237744"/>
          </a:xfrm>
          <a:prstGeom prst="ellipse">
            <a:avLst/>
          </a:prstGeom>
          <a:solidFill>
            <a:schemeClr val="accent1"/>
          </a:solidFill>
          <a:ln w="12700">
            <a:solidFill>
              <a:schemeClr val="accent1"/>
            </a:solidFill>
            <a:prstDash val="solid"/>
          </a:ln>
        </p:spPr>
      </p:sp>
      <p:sp>
        <p:nvSpPr>
          <p:cNvPr id="43" name="Text 34"/>
          <p:cNvSpPr txBox="1"/>
          <p:nvPr/>
        </p:nvSpPr>
        <p:spPr>
          <a:xfrm>
            <a:off x="3794760" y="3154680"/>
            <a:ext cx="1965960" cy="329184"/>
          </a:xfrm>
          <a:prstGeom prst="rect">
            <a:avLst/>
          </a:prstGeom>
          <a:noFill/>
          <a:ln/>
        </p:spPr>
        <p:txBody>
          <a:bodyPr wrap="square" lIns="0" tIns="0" rIns="0" bIns="0" rtlCol="0" anchor="ctr"/>
          <a:lstStyle/>
          <a:p>
            <a:pPr indent="0" marL="0">
              <a:buNone/>
            </a:pPr>
            <a:r>
              <a:rPr lang="en-US" sz="1500" b="1" dirty="0">
                <a:solidFill>
                  <a:schemeClr val="tx2"/>
                </a:solidFill>
              </a:rPr>
              <a:t>Application layer</a:t>
            </a:r>
            <a:endParaRPr lang="en-US" sz="1500" dirty="0"/>
          </a:p>
        </p:txBody>
      </p:sp>
      <p:sp>
        <p:nvSpPr>
          <p:cNvPr id="44" name="Text 35"/>
          <p:cNvSpPr txBox="1"/>
          <p:nvPr/>
        </p:nvSpPr>
        <p:spPr>
          <a:xfrm>
            <a:off x="3447288" y="3566160"/>
            <a:ext cx="2240280" cy="914400"/>
          </a:xfrm>
          <a:prstGeom prst="rect">
            <a:avLst/>
          </a:prstGeom>
          <a:noFill/>
          <a:ln/>
        </p:spPr>
        <p:txBody>
          <a:bodyPr wrap="square" lIns="0" tIns="0" rIns="0" bIns="0" rtlCol="0" anchor="t"/>
          <a:lstStyle/>
          <a:p>
            <a:pPr indent="0" marL="0">
              <a:buNone/>
            </a:pPr>
            <a:r>
              <a:rPr lang="en-US" sz="1200" dirty="0">
                <a:solidFill>
                  <a:schemeClr val="tx1"/>
                </a:solidFill>
              </a:rPr>
              <a:t>Flask REST API: POST /api/predict validates the 7 inputs and calls the model</a:t>
            </a:r>
            <a:endParaRPr lang="en-US" sz="1200" dirty="0"/>
          </a:p>
        </p:txBody>
      </p:sp>
      <p:sp>
        <p:nvSpPr>
          <p:cNvPr id="45" name="Shape 36"/>
          <p:cNvSpPr/>
          <p:nvPr/>
        </p:nvSpPr>
        <p:spPr>
          <a:xfrm>
            <a:off x="6035040" y="3017520"/>
            <a:ext cx="2606040" cy="1554480"/>
          </a:xfrm>
          <a:prstGeom prst="roundRect">
            <a:avLst>
              <a:gd name="adj" fmla="val 5882"/>
            </a:avLst>
          </a:prstGeom>
          <a:solidFill>
            <a:schemeClr val="bg1"/>
          </a:solidFill>
          <a:ln w="12700">
            <a:solidFill>
              <a:schemeClr val="accent5"/>
            </a:solidFill>
            <a:prstDash val="solid"/>
          </a:ln>
        </p:spPr>
      </p:sp>
      <p:sp>
        <p:nvSpPr>
          <p:cNvPr id="46" name="Shape 37"/>
          <p:cNvSpPr/>
          <p:nvPr/>
        </p:nvSpPr>
        <p:spPr>
          <a:xfrm>
            <a:off x="6236208" y="3200400"/>
            <a:ext cx="237744" cy="237744"/>
          </a:xfrm>
          <a:prstGeom prst="ellipse">
            <a:avLst/>
          </a:prstGeom>
          <a:solidFill>
            <a:schemeClr val="tx2"/>
          </a:solidFill>
          <a:ln w="12700">
            <a:solidFill>
              <a:schemeClr val="accent1"/>
            </a:solidFill>
            <a:prstDash val="solid"/>
          </a:ln>
        </p:spPr>
      </p:sp>
      <p:sp>
        <p:nvSpPr>
          <p:cNvPr id="47" name="Text 38"/>
          <p:cNvSpPr txBox="1"/>
          <p:nvPr/>
        </p:nvSpPr>
        <p:spPr>
          <a:xfrm>
            <a:off x="6583680" y="3154680"/>
            <a:ext cx="1965960" cy="329184"/>
          </a:xfrm>
          <a:prstGeom prst="rect">
            <a:avLst/>
          </a:prstGeom>
          <a:noFill/>
          <a:ln/>
        </p:spPr>
        <p:txBody>
          <a:bodyPr wrap="square" lIns="0" tIns="0" rIns="0" bIns="0" rtlCol="0" anchor="ctr"/>
          <a:lstStyle/>
          <a:p>
            <a:pPr indent="0" marL="0">
              <a:buNone/>
            </a:pPr>
            <a:r>
              <a:rPr lang="en-US" sz="1500" b="1" dirty="0">
                <a:solidFill>
                  <a:schemeClr val="tx2"/>
                </a:solidFill>
              </a:rPr>
              <a:t>ML layer</a:t>
            </a:r>
            <a:endParaRPr lang="en-US" sz="1500" dirty="0"/>
          </a:p>
        </p:txBody>
      </p:sp>
      <p:sp>
        <p:nvSpPr>
          <p:cNvPr id="48" name="Text 39"/>
          <p:cNvSpPr txBox="1"/>
          <p:nvPr/>
        </p:nvSpPr>
        <p:spPr>
          <a:xfrm>
            <a:off x="6236208" y="3566160"/>
            <a:ext cx="2240280" cy="914400"/>
          </a:xfrm>
          <a:prstGeom prst="rect">
            <a:avLst/>
          </a:prstGeom>
          <a:noFill/>
          <a:ln/>
        </p:spPr>
        <p:txBody>
          <a:bodyPr wrap="square" lIns="0" tIns="0" rIns="0" bIns="0" rtlCol="0" anchor="t"/>
          <a:lstStyle/>
          <a:p>
            <a:pPr indent="0" marL="0">
              <a:buNone/>
            </a:pPr>
            <a:r>
              <a:rPr lang="en-US" sz="1200" dirty="0">
                <a:solidFill>
                  <a:schemeClr val="tx1"/>
                </a:solidFill>
              </a:rPr>
              <a:t>Random Forest (200 trees) loaded from crop_model.joblib returns top 3 crops + fertilizer plan</a:t>
            </a:r>
            <a:endParaRPr lang="en-US" sz="12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Methodology / Workflow</a:t>
            </a:r>
            <a:endParaRPr lang="en-US" sz="3200" dirty="0"/>
          </a:p>
        </p:txBody>
      </p:sp>
      <p:sp>
        <p:nvSpPr>
          <p:cNvPr id="3" name="Shape 1"/>
          <p:cNvSpPr/>
          <p:nvPr/>
        </p:nvSpPr>
        <p:spPr>
          <a:xfrm>
            <a:off x="868680" y="1874520"/>
            <a:ext cx="7406640" cy="0"/>
          </a:xfrm>
          <a:prstGeom prst="line">
            <a:avLst/>
          </a:prstGeom>
          <a:noFill/>
          <a:ln w="25400">
            <a:solidFill>
              <a:schemeClr val="accent5"/>
            </a:solidFill>
            <a:prstDash val="solid"/>
          </a:ln>
        </p:spPr>
      </p:sp>
      <p:sp>
        <p:nvSpPr>
          <p:cNvPr id="4" name="Shape 2"/>
          <p:cNvSpPr/>
          <p:nvPr/>
        </p:nvSpPr>
        <p:spPr>
          <a:xfrm>
            <a:off x="530352" y="1536192"/>
            <a:ext cx="676656" cy="676656"/>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699516" y="1705356"/>
            <a:ext cx="338328" cy="338328"/>
          </a:xfrm>
          <a:prstGeom prst="rect">
            <a:avLst/>
          </a:prstGeom>
        </p:spPr>
      </p:pic>
      <p:sp>
        <p:nvSpPr>
          <p:cNvPr id="6" name="Text 3"/>
          <p:cNvSpPr txBox="1"/>
          <p:nvPr/>
        </p:nvSpPr>
        <p:spPr>
          <a:xfrm>
            <a:off x="320040" y="1188720"/>
            <a:ext cx="1097280" cy="256032"/>
          </a:xfrm>
          <a:prstGeom prst="rect">
            <a:avLst/>
          </a:prstGeom>
          <a:noFill/>
          <a:ln/>
        </p:spPr>
        <p:txBody>
          <a:bodyPr wrap="square" lIns="0" tIns="0" rIns="0" bIns="0" rtlCol="0" anchor="t"/>
          <a:lstStyle/>
          <a:p>
            <a:pPr algn="ctr" indent="0" marL="0">
              <a:buNone/>
            </a:pPr>
            <a:r>
              <a:rPr lang="en-US" sz="1000" b="1" dirty="0">
                <a:solidFill>
                  <a:schemeClr val="accent2"/>
                </a:solidFill>
              </a:rPr>
              <a:t>STEP 1</a:t>
            </a:r>
            <a:endParaRPr lang="en-US" sz="1000" dirty="0"/>
          </a:p>
        </p:txBody>
      </p:sp>
      <p:sp>
        <p:nvSpPr>
          <p:cNvPr id="7" name="Text 4"/>
          <p:cNvSpPr txBox="1"/>
          <p:nvPr/>
        </p:nvSpPr>
        <p:spPr>
          <a:xfrm>
            <a:off x="283464" y="2359152"/>
            <a:ext cx="1170432" cy="502920"/>
          </a:xfrm>
          <a:prstGeom prst="rect">
            <a:avLst/>
          </a:prstGeom>
          <a:noFill/>
          <a:ln/>
        </p:spPr>
        <p:txBody>
          <a:bodyPr wrap="square" lIns="0" tIns="0" rIns="0" bIns="0" rtlCol="0" anchor="t"/>
          <a:lstStyle/>
          <a:p>
            <a:pPr algn="ctr" indent="0" marL="0">
              <a:buNone/>
            </a:pPr>
            <a:r>
              <a:rPr lang="en-US" sz="1300" b="1" dirty="0">
                <a:solidFill>
                  <a:schemeClr val="tx2"/>
                </a:solidFill>
              </a:rPr>
              <a:t>Dataset collection</a:t>
            </a:r>
            <a:endParaRPr lang="en-US" sz="1300" dirty="0"/>
          </a:p>
        </p:txBody>
      </p:sp>
      <p:sp>
        <p:nvSpPr>
          <p:cNvPr id="8" name="Text 5"/>
          <p:cNvSpPr txBox="1"/>
          <p:nvPr/>
        </p:nvSpPr>
        <p:spPr>
          <a:xfrm>
            <a:off x="283464" y="2880360"/>
            <a:ext cx="1170432" cy="777240"/>
          </a:xfrm>
          <a:prstGeom prst="rect">
            <a:avLst/>
          </a:prstGeom>
          <a:noFill/>
          <a:ln/>
        </p:spPr>
        <p:txBody>
          <a:bodyPr wrap="square" lIns="0" tIns="0" rIns="0" bIns="0" rtlCol="0" anchor="t"/>
          <a:lstStyle/>
          <a:p>
            <a:pPr algn="ctr" indent="0" marL="0">
              <a:buNone/>
            </a:pPr>
            <a:r>
              <a:rPr lang="en-US" sz="1100" dirty="0">
                <a:solidFill>
                  <a:schemeClr val="accent6"/>
                </a:solidFill>
              </a:rPr>
              <a:t>Crop Recommendation CSV, 2,200 rows</a:t>
            </a:r>
            <a:endParaRPr lang="en-US" sz="1100" dirty="0"/>
          </a:p>
        </p:txBody>
      </p:sp>
      <p:sp>
        <p:nvSpPr>
          <p:cNvPr id="9" name="Shape 6"/>
          <p:cNvSpPr/>
          <p:nvPr/>
        </p:nvSpPr>
        <p:spPr>
          <a:xfrm>
            <a:off x="1764792" y="1536192"/>
            <a:ext cx="676656" cy="676656"/>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1933956" y="1705356"/>
            <a:ext cx="338328" cy="338328"/>
          </a:xfrm>
          <a:prstGeom prst="rect">
            <a:avLst/>
          </a:prstGeom>
        </p:spPr>
      </p:pic>
      <p:sp>
        <p:nvSpPr>
          <p:cNvPr id="11" name="Text 7"/>
          <p:cNvSpPr txBox="1"/>
          <p:nvPr/>
        </p:nvSpPr>
        <p:spPr>
          <a:xfrm>
            <a:off x="1554480" y="1188720"/>
            <a:ext cx="1097280" cy="256032"/>
          </a:xfrm>
          <a:prstGeom prst="rect">
            <a:avLst/>
          </a:prstGeom>
          <a:noFill/>
          <a:ln/>
        </p:spPr>
        <p:txBody>
          <a:bodyPr wrap="square" lIns="0" tIns="0" rIns="0" bIns="0" rtlCol="0" anchor="t"/>
          <a:lstStyle/>
          <a:p>
            <a:pPr algn="ctr" indent="0" marL="0">
              <a:buNone/>
            </a:pPr>
            <a:r>
              <a:rPr lang="en-US" sz="1000" b="1" dirty="0">
                <a:solidFill>
                  <a:schemeClr val="accent2"/>
                </a:solidFill>
              </a:rPr>
              <a:t>STEP 2</a:t>
            </a:r>
            <a:endParaRPr lang="en-US" sz="1000" dirty="0"/>
          </a:p>
        </p:txBody>
      </p:sp>
      <p:sp>
        <p:nvSpPr>
          <p:cNvPr id="12" name="Text 8"/>
          <p:cNvSpPr txBox="1"/>
          <p:nvPr/>
        </p:nvSpPr>
        <p:spPr>
          <a:xfrm>
            <a:off x="1517904" y="2359152"/>
            <a:ext cx="1170432" cy="502920"/>
          </a:xfrm>
          <a:prstGeom prst="rect">
            <a:avLst/>
          </a:prstGeom>
          <a:noFill/>
          <a:ln/>
        </p:spPr>
        <p:txBody>
          <a:bodyPr wrap="square" lIns="0" tIns="0" rIns="0" bIns="0" rtlCol="0" anchor="t"/>
          <a:lstStyle/>
          <a:p>
            <a:pPr algn="ctr" indent="0" marL="0">
              <a:buNone/>
            </a:pPr>
            <a:r>
              <a:rPr lang="en-US" sz="1300" b="1" dirty="0">
                <a:solidFill>
                  <a:schemeClr val="tx2"/>
                </a:solidFill>
              </a:rPr>
              <a:t>Preprocessing</a:t>
            </a:r>
            <a:endParaRPr lang="en-US" sz="1300" dirty="0"/>
          </a:p>
        </p:txBody>
      </p:sp>
      <p:sp>
        <p:nvSpPr>
          <p:cNvPr id="13" name="Text 9"/>
          <p:cNvSpPr txBox="1"/>
          <p:nvPr/>
        </p:nvSpPr>
        <p:spPr>
          <a:xfrm>
            <a:off x="1517904" y="2880360"/>
            <a:ext cx="1170432" cy="777240"/>
          </a:xfrm>
          <a:prstGeom prst="rect">
            <a:avLst/>
          </a:prstGeom>
          <a:noFill/>
          <a:ln/>
        </p:spPr>
        <p:txBody>
          <a:bodyPr wrap="square" lIns="0" tIns="0" rIns="0" bIns="0" rtlCol="0" anchor="t"/>
          <a:lstStyle/>
          <a:p>
            <a:pPr algn="ctr" indent="0" marL="0">
              <a:buNone/>
            </a:pPr>
            <a:r>
              <a:rPr lang="en-US" sz="1100" dirty="0">
                <a:solidFill>
                  <a:schemeClr val="accent6"/>
                </a:solidFill>
              </a:rPr>
              <a:t>Check nulls and duplicates, scale features</a:t>
            </a:r>
            <a:endParaRPr lang="en-US" sz="1100" dirty="0"/>
          </a:p>
        </p:txBody>
      </p:sp>
      <p:sp>
        <p:nvSpPr>
          <p:cNvPr id="14" name="Shape 10"/>
          <p:cNvSpPr/>
          <p:nvPr/>
        </p:nvSpPr>
        <p:spPr>
          <a:xfrm>
            <a:off x="2999232" y="1536192"/>
            <a:ext cx="676656" cy="676656"/>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3168396" y="1705356"/>
            <a:ext cx="338328" cy="338328"/>
          </a:xfrm>
          <a:prstGeom prst="rect">
            <a:avLst/>
          </a:prstGeom>
        </p:spPr>
      </p:pic>
      <p:sp>
        <p:nvSpPr>
          <p:cNvPr id="16" name="Text 11"/>
          <p:cNvSpPr txBox="1"/>
          <p:nvPr/>
        </p:nvSpPr>
        <p:spPr>
          <a:xfrm>
            <a:off x="2788920" y="1188720"/>
            <a:ext cx="1097280" cy="256032"/>
          </a:xfrm>
          <a:prstGeom prst="rect">
            <a:avLst/>
          </a:prstGeom>
          <a:noFill/>
          <a:ln/>
        </p:spPr>
        <p:txBody>
          <a:bodyPr wrap="square" lIns="0" tIns="0" rIns="0" bIns="0" rtlCol="0" anchor="t"/>
          <a:lstStyle/>
          <a:p>
            <a:pPr algn="ctr" indent="0" marL="0">
              <a:buNone/>
            </a:pPr>
            <a:r>
              <a:rPr lang="en-US" sz="1000" b="1" dirty="0">
                <a:solidFill>
                  <a:schemeClr val="accent2"/>
                </a:solidFill>
              </a:rPr>
              <a:t>STEP 3</a:t>
            </a:r>
            <a:endParaRPr lang="en-US" sz="1000" dirty="0"/>
          </a:p>
        </p:txBody>
      </p:sp>
      <p:sp>
        <p:nvSpPr>
          <p:cNvPr id="17" name="Text 12"/>
          <p:cNvSpPr txBox="1"/>
          <p:nvPr/>
        </p:nvSpPr>
        <p:spPr>
          <a:xfrm>
            <a:off x="2752344" y="2359152"/>
            <a:ext cx="1170432" cy="502920"/>
          </a:xfrm>
          <a:prstGeom prst="rect">
            <a:avLst/>
          </a:prstGeom>
          <a:noFill/>
          <a:ln/>
        </p:spPr>
        <p:txBody>
          <a:bodyPr wrap="square" lIns="0" tIns="0" rIns="0" bIns="0" rtlCol="0" anchor="t"/>
          <a:lstStyle/>
          <a:p>
            <a:pPr algn="ctr" indent="0" marL="0">
              <a:buNone/>
            </a:pPr>
            <a:r>
              <a:rPr lang="en-US" sz="1300" b="1" dirty="0">
                <a:solidFill>
                  <a:schemeClr val="tx2"/>
                </a:solidFill>
              </a:rPr>
              <a:t>Model training</a:t>
            </a:r>
            <a:endParaRPr lang="en-US" sz="1300" dirty="0"/>
          </a:p>
        </p:txBody>
      </p:sp>
      <p:sp>
        <p:nvSpPr>
          <p:cNvPr id="18" name="Text 13"/>
          <p:cNvSpPr txBox="1"/>
          <p:nvPr/>
        </p:nvSpPr>
        <p:spPr>
          <a:xfrm>
            <a:off x="2752344" y="2880360"/>
            <a:ext cx="1170432" cy="777240"/>
          </a:xfrm>
          <a:prstGeom prst="rect">
            <a:avLst/>
          </a:prstGeom>
          <a:noFill/>
          <a:ln/>
        </p:spPr>
        <p:txBody>
          <a:bodyPr wrap="square" lIns="0" tIns="0" rIns="0" bIns="0" rtlCol="0" anchor="t"/>
          <a:lstStyle/>
          <a:p>
            <a:pPr algn="ctr" indent="0" marL="0">
              <a:buNone/>
            </a:pPr>
            <a:r>
              <a:rPr lang="en-US" sz="1100" dirty="0">
                <a:solidFill>
                  <a:schemeClr val="accent6"/>
                </a:solidFill>
              </a:rPr>
              <a:t>5 algorithms, 80/20 stratified split</a:t>
            </a:r>
            <a:endParaRPr lang="en-US" sz="1100" dirty="0"/>
          </a:p>
        </p:txBody>
      </p:sp>
      <p:sp>
        <p:nvSpPr>
          <p:cNvPr id="19" name="Shape 14"/>
          <p:cNvSpPr/>
          <p:nvPr/>
        </p:nvSpPr>
        <p:spPr>
          <a:xfrm>
            <a:off x="4233672" y="1536192"/>
            <a:ext cx="676656" cy="676656"/>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4402836" y="1705356"/>
            <a:ext cx="338328" cy="338328"/>
          </a:xfrm>
          <a:prstGeom prst="rect">
            <a:avLst/>
          </a:prstGeom>
        </p:spPr>
      </p:pic>
      <p:sp>
        <p:nvSpPr>
          <p:cNvPr id="21" name="Text 15"/>
          <p:cNvSpPr txBox="1"/>
          <p:nvPr/>
        </p:nvSpPr>
        <p:spPr>
          <a:xfrm>
            <a:off x="4023360" y="1188720"/>
            <a:ext cx="1097280" cy="256032"/>
          </a:xfrm>
          <a:prstGeom prst="rect">
            <a:avLst/>
          </a:prstGeom>
          <a:noFill/>
          <a:ln/>
        </p:spPr>
        <p:txBody>
          <a:bodyPr wrap="square" lIns="0" tIns="0" rIns="0" bIns="0" rtlCol="0" anchor="t"/>
          <a:lstStyle/>
          <a:p>
            <a:pPr algn="ctr" indent="0" marL="0">
              <a:buNone/>
            </a:pPr>
            <a:r>
              <a:rPr lang="en-US" sz="1000" b="1" dirty="0">
                <a:solidFill>
                  <a:schemeClr val="accent2"/>
                </a:solidFill>
              </a:rPr>
              <a:t>STEP 4</a:t>
            </a:r>
            <a:endParaRPr lang="en-US" sz="1000" dirty="0"/>
          </a:p>
        </p:txBody>
      </p:sp>
      <p:sp>
        <p:nvSpPr>
          <p:cNvPr id="22" name="Text 16"/>
          <p:cNvSpPr txBox="1"/>
          <p:nvPr/>
        </p:nvSpPr>
        <p:spPr>
          <a:xfrm>
            <a:off x="3986784" y="2359152"/>
            <a:ext cx="1170432" cy="502920"/>
          </a:xfrm>
          <a:prstGeom prst="rect">
            <a:avLst/>
          </a:prstGeom>
          <a:noFill/>
          <a:ln/>
        </p:spPr>
        <p:txBody>
          <a:bodyPr wrap="square" lIns="0" tIns="0" rIns="0" bIns="0" rtlCol="0" anchor="t"/>
          <a:lstStyle/>
          <a:p>
            <a:pPr algn="ctr" indent="0" marL="0">
              <a:buNone/>
            </a:pPr>
            <a:r>
              <a:rPr lang="en-US" sz="1300" b="1" dirty="0">
                <a:solidFill>
                  <a:schemeClr val="tx2"/>
                </a:solidFill>
              </a:rPr>
              <a:t>Evaluation</a:t>
            </a:r>
            <a:endParaRPr lang="en-US" sz="1300" dirty="0"/>
          </a:p>
        </p:txBody>
      </p:sp>
      <p:sp>
        <p:nvSpPr>
          <p:cNvPr id="23" name="Text 17"/>
          <p:cNvSpPr txBox="1"/>
          <p:nvPr/>
        </p:nvSpPr>
        <p:spPr>
          <a:xfrm>
            <a:off x="3986784" y="2880360"/>
            <a:ext cx="1170432" cy="777240"/>
          </a:xfrm>
          <a:prstGeom prst="rect">
            <a:avLst/>
          </a:prstGeom>
          <a:noFill/>
          <a:ln/>
        </p:spPr>
        <p:txBody>
          <a:bodyPr wrap="square" lIns="0" tIns="0" rIns="0" bIns="0" rtlCol="0" anchor="t"/>
          <a:lstStyle/>
          <a:p>
            <a:pPr algn="ctr" indent="0" marL="0">
              <a:buNone/>
            </a:pPr>
            <a:r>
              <a:rPr lang="en-US" sz="1100" dirty="0">
                <a:solidFill>
                  <a:schemeClr val="accent6"/>
                </a:solidFill>
              </a:rPr>
              <a:t>Accuracy, precision, recall, F1</a:t>
            </a:r>
            <a:endParaRPr lang="en-US" sz="1100" dirty="0"/>
          </a:p>
        </p:txBody>
      </p:sp>
      <p:sp>
        <p:nvSpPr>
          <p:cNvPr id="24" name="Shape 18"/>
          <p:cNvSpPr/>
          <p:nvPr/>
        </p:nvSpPr>
        <p:spPr>
          <a:xfrm>
            <a:off x="5468112" y="1536192"/>
            <a:ext cx="676656" cy="676656"/>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5637276" y="1705356"/>
            <a:ext cx="338328" cy="338328"/>
          </a:xfrm>
          <a:prstGeom prst="rect">
            <a:avLst/>
          </a:prstGeom>
        </p:spPr>
      </p:pic>
      <p:sp>
        <p:nvSpPr>
          <p:cNvPr id="26" name="Text 19"/>
          <p:cNvSpPr txBox="1"/>
          <p:nvPr/>
        </p:nvSpPr>
        <p:spPr>
          <a:xfrm>
            <a:off x="5257800" y="1188720"/>
            <a:ext cx="1097280" cy="256032"/>
          </a:xfrm>
          <a:prstGeom prst="rect">
            <a:avLst/>
          </a:prstGeom>
          <a:noFill/>
          <a:ln/>
        </p:spPr>
        <p:txBody>
          <a:bodyPr wrap="square" lIns="0" tIns="0" rIns="0" bIns="0" rtlCol="0" anchor="t"/>
          <a:lstStyle/>
          <a:p>
            <a:pPr algn="ctr" indent="0" marL="0">
              <a:buNone/>
            </a:pPr>
            <a:r>
              <a:rPr lang="en-US" sz="1000" b="1" dirty="0">
                <a:solidFill>
                  <a:schemeClr val="accent2"/>
                </a:solidFill>
              </a:rPr>
              <a:t>STEP 5</a:t>
            </a:r>
            <a:endParaRPr lang="en-US" sz="1000" dirty="0"/>
          </a:p>
        </p:txBody>
      </p:sp>
      <p:sp>
        <p:nvSpPr>
          <p:cNvPr id="27" name="Text 20"/>
          <p:cNvSpPr txBox="1"/>
          <p:nvPr/>
        </p:nvSpPr>
        <p:spPr>
          <a:xfrm>
            <a:off x="5221224" y="2359152"/>
            <a:ext cx="1170432" cy="502920"/>
          </a:xfrm>
          <a:prstGeom prst="rect">
            <a:avLst/>
          </a:prstGeom>
          <a:noFill/>
          <a:ln/>
        </p:spPr>
        <p:txBody>
          <a:bodyPr wrap="square" lIns="0" tIns="0" rIns="0" bIns="0" rtlCol="0" anchor="t"/>
          <a:lstStyle/>
          <a:p>
            <a:pPr algn="ctr" indent="0" marL="0">
              <a:buNone/>
            </a:pPr>
            <a:r>
              <a:rPr lang="en-US" sz="1300" b="1" dirty="0">
                <a:solidFill>
                  <a:schemeClr val="tx2"/>
                </a:solidFill>
              </a:rPr>
              <a:t>Save model</a:t>
            </a:r>
            <a:endParaRPr lang="en-US" sz="1300" dirty="0"/>
          </a:p>
        </p:txBody>
      </p:sp>
      <p:sp>
        <p:nvSpPr>
          <p:cNvPr id="28" name="Text 21"/>
          <p:cNvSpPr txBox="1"/>
          <p:nvPr/>
        </p:nvSpPr>
        <p:spPr>
          <a:xfrm>
            <a:off x="5221224" y="2880360"/>
            <a:ext cx="1170432" cy="777240"/>
          </a:xfrm>
          <a:prstGeom prst="rect">
            <a:avLst/>
          </a:prstGeom>
          <a:noFill/>
          <a:ln/>
        </p:spPr>
        <p:txBody>
          <a:bodyPr wrap="square" lIns="0" tIns="0" rIns="0" bIns="0" rtlCol="0" anchor="t"/>
          <a:lstStyle/>
          <a:p>
            <a:pPr algn="ctr" indent="0" marL="0">
              <a:buNone/>
            </a:pPr>
            <a:r>
              <a:rPr lang="en-US" sz="1100" dirty="0">
                <a:solidFill>
                  <a:schemeClr val="accent6"/>
                </a:solidFill>
              </a:rPr>
              <a:t>Best model saved with Joblib</a:t>
            </a:r>
            <a:endParaRPr lang="en-US" sz="1100" dirty="0"/>
          </a:p>
        </p:txBody>
      </p:sp>
      <p:sp>
        <p:nvSpPr>
          <p:cNvPr id="29" name="Shape 22"/>
          <p:cNvSpPr/>
          <p:nvPr/>
        </p:nvSpPr>
        <p:spPr>
          <a:xfrm>
            <a:off x="6702552" y="1536192"/>
            <a:ext cx="676656" cy="676656"/>
          </a:xfrm>
          <a:prstGeom prst="ellipse">
            <a:avLst/>
          </a:prstGeom>
          <a:solidFill>
            <a:schemeClr val="accent1"/>
          </a:solidFill>
          <a:ln/>
        </p:spPr>
      </p:sp>
      <p:pic>
        <p:nvPicPr>
          <p:cNvPr id="30" name="Image 5" descr="preencoded.png">    </p:cNvPr>
          <p:cNvPicPr>
            <a:picLocks noChangeAspect="1"/>
          </p:cNvPicPr>
          <p:nvPr/>
        </p:nvPicPr>
        <p:blipFill>
          <a:blip r:embed="rId6"/>
          <a:stretch>
            <a:fillRect/>
          </a:stretch>
        </p:blipFill>
        <p:spPr>
          <a:xfrm>
            <a:off x="6871716" y="1705356"/>
            <a:ext cx="338328" cy="338328"/>
          </a:xfrm>
          <a:prstGeom prst="rect">
            <a:avLst/>
          </a:prstGeom>
        </p:spPr>
      </p:pic>
      <p:sp>
        <p:nvSpPr>
          <p:cNvPr id="31" name="Text 23"/>
          <p:cNvSpPr txBox="1"/>
          <p:nvPr/>
        </p:nvSpPr>
        <p:spPr>
          <a:xfrm>
            <a:off x="6492240" y="1188720"/>
            <a:ext cx="1097280" cy="256032"/>
          </a:xfrm>
          <a:prstGeom prst="rect">
            <a:avLst/>
          </a:prstGeom>
          <a:noFill/>
          <a:ln/>
        </p:spPr>
        <p:txBody>
          <a:bodyPr wrap="square" lIns="0" tIns="0" rIns="0" bIns="0" rtlCol="0" anchor="t"/>
          <a:lstStyle/>
          <a:p>
            <a:pPr algn="ctr" indent="0" marL="0">
              <a:buNone/>
            </a:pPr>
            <a:r>
              <a:rPr lang="en-US" sz="1000" b="1" dirty="0">
                <a:solidFill>
                  <a:schemeClr val="accent2"/>
                </a:solidFill>
              </a:rPr>
              <a:t>STEP 6</a:t>
            </a:r>
            <a:endParaRPr lang="en-US" sz="1000" dirty="0"/>
          </a:p>
        </p:txBody>
      </p:sp>
      <p:sp>
        <p:nvSpPr>
          <p:cNvPr id="32" name="Text 24"/>
          <p:cNvSpPr txBox="1"/>
          <p:nvPr/>
        </p:nvSpPr>
        <p:spPr>
          <a:xfrm>
            <a:off x="6455664" y="2359152"/>
            <a:ext cx="1170432" cy="502920"/>
          </a:xfrm>
          <a:prstGeom prst="rect">
            <a:avLst/>
          </a:prstGeom>
          <a:noFill/>
          <a:ln/>
        </p:spPr>
        <p:txBody>
          <a:bodyPr wrap="square" lIns="0" tIns="0" rIns="0" bIns="0" rtlCol="0" anchor="t"/>
          <a:lstStyle/>
          <a:p>
            <a:pPr algn="ctr" indent="0" marL="0">
              <a:buNone/>
            </a:pPr>
            <a:r>
              <a:rPr lang="en-US" sz="1300" b="1" dirty="0">
                <a:solidFill>
                  <a:schemeClr val="tx2"/>
                </a:solidFill>
              </a:rPr>
              <a:t>Flask deployment</a:t>
            </a:r>
            <a:endParaRPr lang="en-US" sz="1300" dirty="0"/>
          </a:p>
        </p:txBody>
      </p:sp>
      <p:sp>
        <p:nvSpPr>
          <p:cNvPr id="33" name="Text 25"/>
          <p:cNvSpPr txBox="1"/>
          <p:nvPr/>
        </p:nvSpPr>
        <p:spPr>
          <a:xfrm>
            <a:off x="6455664" y="2880360"/>
            <a:ext cx="1170432" cy="777240"/>
          </a:xfrm>
          <a:prstGeom prst="rect">
            <a:avLst/>
          </a:prstGeom>
          <a:noFill/>
          <a:ln/>
        </p:spPr>
        <p:txBody>
          <a:bodyPr wrap="square" lIns="0" tIns="0" rIns="0" bIns="0" rtlCol="0" anchor="t"/>
          <a:lstStyle/>
          <a:p>
            <a:pPr algn="ctr" indent="0" marL="0">
              <a:buNone/>
            </a:pPr>
            <a:r>
              <a:rPr lang="en-US" sz="1100" dirty="0">
                <a:solidFill>
                  <a:schemeClr val="accent6"/>
                </a:solidFill>
              </a:rPr>
              <a:t>REST endpoint /api/predict</a:t>
            </a:r>
            <a:endParaRPr lang="en-US" sz="1100" dirty="0"/>
          </a:p>
        </p:txBody>
      </p:sp>
      <p:sp>
        <p:nvSpPr>
          <p:cNvPr id="34" name="Shape 26"/>
          <p:cNvSpPr/>
          <p:nvPr/>
        </p:nvSpPr>
        <p:spPr>
          <a:xfrm>
            <a:off x="7936992" y="1536192"/>
            <a:ext cx="676656" cy="676656"/>
          </a:xfrm>
          <a:prstGeom prst="ellipse">
            <a:avLst/>
          </a:prstGeom>
          <a:solidFill>
            <a:schemeClr val="tx2"/>
          </a:solidFill>
          <a:ln/>
        </p:spPr>
      </p:sp>
      <p:pic>
        <p:nvPicPr>
          <p:cNvPr id="35" name="Image 6" descr="preencoded.png">    </p:cNvPr>
          <p:cNvPicPr>
            <a:picLocks noChangeAspect="1"/>
          </p:cNvPicPr>
          <p:nvPr/>
        </p:nvPicPr>
        <p:blipFill>
          <a:blip r:embed="rId7"/>
          <a:stretch>
            <a:fillRect/>
          </a:stretch>
        </p:blipFill>
        <p:spPr>
          <a:xfrm>
            <a:off x="8106156" y="1705356"/>
            <a:ext cx="338328" cy="338328"/>
          </a:xfrm>
          <a:prstGeom prst="rect">
            <a:avLst/>
          </a:prstGeom>
        </p:spPr>
      </p:pic>
      <p:sp>
        <p:nvSpPr>
          <p:cNvPr id="36" name="Text 27"/>
          <p:cNvSpPr txBox="1"/>
          <p:nvPr/>
        </p:nvSpPr>
        <p:spPr>
          <a:xfrm>
            <a:off x="7726680" y="1188720"/>
            <a:ext cx="1097280" cy="256032"/>
          </a:xfrm>
          <a:prstGeom prst="rect">
            <a:avLst/>
          </a:prstGeom>
          <a:noFill/>
          <a:ln/>
        </p:spPr>
        <p:txBody>
          <a:bodyPr wrap="square" lIns="0" tIns="0" rIns="0" bIns="0" rtlCol="0" anchor="t"/>
          <a:lstStyle/>
          <a:p>
            <a:pPr algn="ctr" indent="0" marL="0">
              <a:buNone/>
            </a:pPr>
            <a:r>
              <a:rPr lang="en-US" sz="1000" b="1" dirty="0">
                <a:solidFill>
                  <a:schemeClr val="accent2"/>
                </a:solidFill>
              </a:rPr>
              <a:t>STEP 7</a:t>
            </a:r>
            <a:endParaRPr lang="en-US" sz="1000" dirty="0"/>
          </a:p>
        </p:txBody>
      </p:sp>
      <p:sp>
        <p:nvSpPr>
          <p:cNvPr id="37" name="Text 28"/>
          <p:cNvSpPr txBox="1"/>
          <p:nvPr/>
        </p:nvSpPr>
        <p:spPr>
          <a:xfrm>
            <a:off x="7690104" y="2359152"/>
            <a:ext cx="1170432" cy="502920"/>
          </a:xfrm>
          <a:prstGeom prst="rect">
            <a:avLst/>
          </a:prstGeom>
          <a:noFill/>
          <a:ln/>
        </p:spPr>
        <p:txBody>
          <a:bodyPr wrap="square" lIns="0" tIns="0" rIns="0" bIns="0" rtlCol="0" anchor="t"/>
          <a:lstStyle/>
          <a:p>
            <a:pPr algn="ctr" indent="0" marL="0">
              <a:buNone/>
            </a:pPr>
            <a:r>
              <a:rPr lang="en-US" sz="1300" b="1" dirty="0">
                <a:solidFill>
                  <a:schemeClr val="tx2"/>
                </a:solidFill>
              </a:rPr>
              <a:t>UI display</a:t>
            </a:r>
            <a:endParaRPr lang="en-US" sz="1300" dirty="0"/>
          </a:p>
        </p:txBody>
      </p:sp>
      <p:sp>
        <p:nvSpPr>
          <p:cNvPr id="38" name="Text 29"/>
          <p:cNvSpPr txBox="1"/>
          <p:nvPr/>
        </p:nvSpPr>
        <p:spPr>
          <a:xfrm>
            <a:off x="7690104" y="2880360"/>
            <a:ext cx="1170432" cy="777240"/>
          </a:xfrm>
          <a:prstGeom prst="rect">
            <a:avLst/>
          </a:prstGeom>
          <a:noFill/>
          <a:ln/>
        </p:spPr>
        <p:txBody>
          <a:bodyPr wrap="square" lIns="0" tIns="0" rIns="0" bIns="0" rtlCol="0" anchor="t"/>
          <a:lstStyle/>
          <a:p>
            <a:pPr algn="ctr" indent="0" marL="0">
              <a:buNone/>
            </a:pPr>
            <a:r>
              <a:rPr lang="en-US" sz="1100" dirty="0">
                <a:solidFill>
                  <a:schemeClr val="accent6"/>
                </a:solidFill>
              </a:rPr>
              <a:t>Crop, top 3, fertilizer, history</a:t>
            </a:r>
            <a:endParaRPr lang="en-US" sz="1100" dirty="0"/>
          </a:p>
        </p:txBody>
      </p:sp>
      <p:sp>
        <p:nvSpPr>
          <p:cNvPr id="39" name="Shape 30"/>
          <p:cNvSpPr/>
          <p:nvPr/>
        </p:nvSpPr>
        <p:spPr>
          <a:xfrm>
            <a:off x="457200" y="3931920"/>
            <a:ext cx="8229600" cy="640080"/>
          </a:xfrm>
          <a:prstGeom prst="roundRect">
            <a:avLst>
              <a:gd name="adj" fmla="val 14286"/>
            </a:avLst>
          </a:prstGeom>
          <a:solidFill>
            <a:schemeClr val="bg2"/>
          </a:solidFill>
          <a:ln/>
        </p:spPr>
      </p:sp>
      <p:sp>
        <p:nvSpPr>
          <p:cNvPr id="40" name="Shape 31"/>
          <p:cNvSpPr/>
          <p:nvPr/>
        </p:nvSpPr>
        <p:spPr>
          <a:xfrm>
            <a:off x="640080" y="4023360"/>
            <a:ext cx="457200" cy="457200"/>
          </a:xfrm>
          <a:prstGeom prst="ellipse">
            <a:avLst/>
          </a:prstGeom>
          <a:solidFill>
            <a:schemeClr val="bg1"/>
          </a:solidFill>
          <a:ln/>
        </p:spPr>
      </p:sp>
      <p:pic>
        <p:nvPicPr>
          <p:cNvPr id="41" name="Image 7" descr="preencoded.png">    </p:cNvPr>
          <p:cNvPicPr>
            <a:picLocks noChangeAspect="1"/>
          </p:cNvPicPr>
          <p:nvPr/>
        </p:nvPicPr>
        <p:blipFill>
          <a:blip r:embed="rId8"/>
          <a:stretch>
            <a:fillRect/>
          </a:stretch>
        </p:blipFill>
        <p:spPr>
          <a:xfrm>
            <a:off x="754380" y="4137660"/>
            <a:ext cx="228600" cy="228600"/>
          </a:xfrm>
          <a:prstGeom prst="rect">
            <a:avLst/>
          </a:prstGeom>
        </p:spPr>
      </p:pic>
      <p:sp>
        <p:nvSpPr>
          <p:cNvPr id="42" name="Text 32"/>
          <p:cNvSpPr txBox="1"/>
          <p:nvPr/>
        </p:nvSpPr>
        <p:spPr>
          <a:xfrm>
            <a:off x="1280160" y="3931920"/>
            <a:ext cx="7269480" cy="640080"/>
          </a:xfrm>
          <a:prstGeom prst="rect">
            <a:avLst/>
          </a:prstGeom>
          <a:noFill/>
          <a:ln/>
        </p:spPr>
        <p:txBody>
          <a:bodyPr wrap="square" lIns="0" tIns="0" rIns="0" bIns="0" rtlCol="0" anchor="ctr"/>
          <a:lstStyle/>
          <a:p>
            <a:pPr indent="0" marL="0">
              <a:buNone/>
            </a:pPr>
            <a:r>
              <a:rPr lang="en-US" sz="1400" b="1" dirty="0">
                <a:solidFill>
                  <a:schemeClr val="tx2"/>
                </a:solidFill>
              </a:rPr>
              <a:t>Training: </a:t>
            </a:r>
            <a:pPr indent="0" marL="0">
              <a:buNone/>
            </a:pPr>
            <a:r>
              <a:rPr lang="en-US" sz="1400" dirty="0">
                <a:solidFill>
                  <a:schemeClr val="tx1"/>
                </a:solidFill>
              </a:rPr>
              <a:t>Google Colab     </a:t>
            </a:r>
            <a:pPr indent="0" marL="0">
              <a:buNone/>
            </a:pPr>
            <a:r>
              <a:rPr lang="en-US" sz="1400" b="1" dirty="0">
                <a:solidFill>
                  <a:schemeClr val="tx2"/>
                </a:solidFill>
              </a:rPr>
              <a:t>Web app: </a:t>
            </a:r>
            <a:pPr indent="0" marL="0">
              <a:buNone/>
            </a:pPr>
            <a:r>
              <a:rPr lang="en-US" sz="1400" dirty="0">
                <a:solidFill>
                  <a:schemeClr val="tx1"/>
                </a:solidFill>
              </a:rPr>
              <a:t>VS Code + Flask     </a:t>
            </a:r>
            <a:pPr indent="0" marL="0">
              <a:buNone/>
            </a:pPr>
            <a:r>
              <a:rPr lang="en-US" sz="1400" b="1" dirty="0">
                <a:solidFill>
                  <a:schemeClr val="tx2"/>
                </a:solidFill>
              </a:rPr>
              <a:t>Selection rule: </a:t>
            </a:r>
            <a:pPr indent="0" marL="0">
              <a:buNone/>
            </a:pPr>
            <a:r>
              <a:rPr lang="en-US" sz="1400" dirty="0">
                <a:solidFill>
                  <a:schemeClr val="tx1"/>
                </a:solidFill>
              </a:rPr>
              <a:t>highest macro F1-score</a:t>
            </a:r>
            <a:endParaRPr lang="en-US" sz="14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Technology Stack</a:t>
            </a:r>
            <a:endParaRPr lang="en-US" sz="3200" dirty="0"/>
          </a:p>
        </p:txBody>
      </p:sp>
      <p:sp>
        <p:nvSpPr>
          <p:cNvPr id="3" name="Shape 1"/>
          <p:cNvSpPr/>
          <p:nvPr/>
        </p:nvSpPr>
        <p:spPr>
          <a:xfrm>
            <a:off x="457200" y="1188720"/>
            <a:ext cx="2560320" cy="1508760"/>
          </a:xfrm>
          <a:prstGeom prst="roundRect">
            <a:avLst>
              <a:gd name="adj" fmla="val 6061"/>
            </a:avLst>
          </a:prstGeom>
          <a:solidFill>
            <a:schemeClr val="bg2"/>
          </a:solidFill>
          <a:ln/>
        </p:spPr>
      </p:sp>
      <p:sp>
        <p:nvSpPr>
          <p:cNvPr id="4" name="Shape 2"/>
          <p:cNvSpPr/>
          <p:nvPr/>
        </p:nvSpPr>
        <p:spPr>
          <a:xfrm>
            <a:off x="685800" y="1417320"/>
            <a:ext cx="566928" cy="566928"/>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827532" y="1559052"/>
            <a:ext cx="283464" cy="283464"/>
          </a:xfrm>
          <a:prstGeom prst="rect">
            <a:avLst/>
          </a:prstGeom>
        </p:spPr>
      </p:pic>
      <p:sp>
        <p:nvSpPr>
          <p:cNvPr id="6" name="Text 3"/>
          <p:cNvSpPr txBox="1"/>
          <p:nvPr/>
        </p:nvSpPr>
        <p:spPr>
          <a:xfrm>
            <a:off x="1417320" y="1463040"/>
            <a:ext cx="1508760" cy="457200"/>
          </a:xfrm>
          <a:prstGeom prst="rect">
            <a:avLst/>
          </a:prstGeom>
          <a:noFill/>
          <a:ln/>
        </p:spPr>
        <p:txBody>
          <a:bodyPr wrap="square" lIns="0" tIns="0" rIns="0" bIns="0" rtlCol="0" anchor="ctr"/>
          <a:lstStyle/>
          <a:p>
            <a:pPr indent="0" marL="0">
              <a:buNone/>
            </a:pPr>
            <a:r>
              <a:rPr lang="en-US" sz="1700" b="1" dirty="0">
                <a:solidFill>
                  <a:schemeClr val="tx2"/>
                </a:solidFill>
              </a:rPr>
              <a:t>Frontend</a:t>
            </a:r>
            <a:endParaRPr lang="en-US" sz="1700" dirty="0"/>
          </a:p>
        </p:txBody>
      </p:sp>
      <p:sp>
        <p:nvSpPr>
          <p:cNvPr id="7" name="Text 4"/>
          <p:cNvSpPr txBox="1"/>
          <p:nvPr/>
        </p:nvSpPr>
        <p:spPr>
          <a:xfrm>
            <a:off x="685800" y="2084832"/>
            <a:ext cx="2194560" cy="548640"/>
          </a:xfrm>
          <a:prstGeom prst="rect">
            <a:avLst/>
          </a:prstGeom>
          <a:noFill/>
          <a:ln/>
        </p:spPr>
        <p:txBody>
          <a:bodyPr wrap="square" lIns="0" tIns="0" rIns="0" bIns="0" rtlCol="0" anchor="t"/>
          <a:lstStyle/>
          <a:p>
            <a:pPr indent="0" marL="0">
              <a:buNone/>
            </a:pPr>
            <a:r>
              <a:rPr lang="en-US" sz="1400" dirty="0">
                <a:solidFill>
                  <a:schemeClr val="tx1"/>
                </a:solidFill>
              </a:rPr>
              <a:t>HTML5, CSS3, JavaScript</a:t>
            </a:r>
            <a:endParaRPr lang="en-US" sz="1400" dirty="0"/>
          </a:p>
        </p:txBody>
      </p:sp>
      <p:sp>
        <p:nvSpPr>
          <p:cNvPr id="8" name="Shape 5"/>
          <p:cNvSpPr/>
          <p:nvPr/>
        </p:nvSpPr>
        <p:spPr>
          <a:xfrm>
            <a:off x="3291840" y="1188720"/>
            <a:ext cx="2560320" cy="1508760"/>
          </a:xfrm>
          <a:prstGeom prst="roundRect">
            <a:avLst>
              <a:gd name="adj" fmla="val 6061"/>
            </a:avLst>
          </a:prstGeom>
          <a:solidFill>
            <a:schemeClr val="bg2"/>
          </a:solidFill>
          <a:ln/>
        </p:spPr>
      </p:sp>
      <p:sp>
        <p:nvSpPr>
          <p:cNvPr id="9" name="Shape 6"/>
          <p:cNvSpPr/>
          <p:nvPr/>
        </p:nvSpPr>
        <p:spPr>
          <a:xfrm>
            <a:off x="3520440" y="1417320"/>
            <a:ext cx="566928" cy="566928"/>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3662172" y="1559052"/>
            <a:ext cx="283464" cy="283464"/>
          </a:xfrm>
          <a:prstGeom prst="rect">
            <a:avLst/>
          </a:prstGeom>
        </p:spPr>
      </p:pic>
      <p:sp>
        <p:nvSpPr>
          <p:cNvPr id="11" name="Text 7"/>
          <p:cNvSpPr txBox="1"/>
          <p:nvPr/>
        </p:nvSpPr>
        <p:spPr>
          <a:xfrm>
            <a:off x="4251960" y="1463040"/>
            <a:ext cx="1508760" cy="457200"/>
          </a:xfrm>
          <a:prstGeom prst="rect">
            <a:avLst/>
          </a:prstGeom>
          <a:noFill/>
          <a:ln/>
        </p:spPr>
        <p:txBody>
          <a:bodyPr wrap="square" lIns="0" tIns="0" rIns="0" bIns="0" rtlCol="0" anchor="ctr"/>
          <a:lstStyle/>
          <a:p>
            <a:pPr indent="0" marL="0">
              <a:buNone/>
            </a:pPr>
            <a:r>
              <a:rPr lang="en-US" sz="1700" b="1" dirty="0">
                <a:solidFill>
                  <a:schemeClr val="tx2"/>
                </a:solidFill>
              </a:rPr>
              <a:t>Backend</a:t>
            </a:r>
            <a:endParaRPr lang="en-US" sz="1700" dirty="0"/>
          </a:p>
        </p:txBody>
      </p:sp>
      <p:sp>
        <p:nvSpPr>
          <p:cNvPr id="12" name="Text 8"/>
          <p:cNvSpPr txBox="1"/>
          <p:nvPr/>
        </p:nvSpPr>
        <p:spPr>
          <a:xfrm>
            <a:off x="3520440" y="2084832"/>
            <a:ext cx="2194560" cy="548640"/>
          </a:xfrm>
          <a:prstGeom prst="rect">
            <a:avLst/>
          </a:prstGeom>
          <a:noFill/>
          <a:ln/>
        </p:spPr>
        <p:txBody>
          <a:bodyPr wrap="square" lIns="0" tIns="0" rIns="0" bIns="0" rtlCol="0" anchor="t"/>
          <a:lstStyle/>
          <a:p>
            <a:pPr indent="0" marL="0">
              <a:buNone/>
            </a:pPr>
            <a:r>
              <a:rPr lang="en-US" sz="1400" dirty="0">
                <a:solidFill>
                  <a:schemeClr val="tx1"/>
                </a:solidFill>
              </a:rPr>
              <a:t>Python, Flask 3.0</a:t>
            </a:r>
            <a:endParaRPr lang="en-US" sz="1400" dirty="0"/>
          </a:p>
        </p:txBody>
      </p:sp>
      <p:sp>
        <p:nvSpPr>
          <p:cNvPr id="13" name="Shape 9"/>
          <p:cNvSpPr/>
          <p:nvPr/>
        </p:nvSpPr>
        <p:spPr>
          <a:xfrm>
            <a:off x="6126480" y="1188720"/>
            <a:ext cx="2560320" cy="1508760"/>
          </a:xfrm>
          <a:prstGeom prst="roundRect">
            <a:avLst>
              <a:gd name="adj" fmla="val 6061"/>
            </a:avLst>
          </a:prstGeom>
          <a:solidFill>
            <a:schemeClr val="bg2"/>
          </a:solidFill>
          <a:ln/>
        </p:spPr>
      </p:sp>
      <p:sp>
        <p:nvSpPr>
          <p:cNvPr id="14" name="Shape 10"/>
          <p:cNvSpPr/>
          <p:nvPr/>
        </p:nvSpPr>
        <p:spPr>
          <a:xfrm>
            <a:off x="6355080" y="1417320"/>
            <a:ext cx="566928" cy="566928"/>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6496812" y="1559052"/>
            <a:ext cx="283464" cy="283464"/>
          </a:xfrm>
          <a:prstGeom prst="rect">
            <a:avLst/>
          </a:prstGeom>
        </p:spPr>
      </p:pic>
      <p:sp>
        <p:nvSpPr>
          <p:cNvPr id="16" name="Text 11"/>
          <p:cNvSpPr txBox="1"/>
          <p:nvPr/>
        </p:nvSpPr>
        <p:spPr>
          <a:xfrm>
            <a:off x="7086600" y="1463040"/>
            <a:ext cx="1508760" cy="457200"/>
          </a:xfrm>
          <a:prstGeom prst="rect">
            <a:avLst/>
          </a:prstGeom>
          <a:noFill/>
          <a:ln/>
        </p:spPr>
        <p:txBody>
          <a:bodyPr wrap="square" lIns="0" tIns="0" rIns="0" bIns="0" rtlCol="0" anchor="ctr"/>
          <a:lstStyle/>
          <a:p>
            <a:pPr indent="0" marL="0">
              <a:buNone/>
            </a:pPr>
            <a:r>
              <a:rPr lang="en-US" sz="1700" b="1" dirty="0">
                <a:solidFill>
                  <a:schemeClr val="tx2"/>
                </a:solidFill>
              </a:rPr>
              <a:t>ML libraries</a:t>
            </a:r>
            <a:endParaRPr lang="en-US" sz="1700" dirty="0"/>
          </a:p>
        </p:txBody>
      </p:sp>
      <p:sp>
        <p:nvSpPr>
          <p:cNvPr id="17" name="Text 12"/>
          <p:cNvSpPr txBox="1"/>
          <p:nvPr/>
        </p:nvSpPr>
        <p:spPr>
          <a:xfrm>
            <a:off x="6355080" y="2084832"/>
            <a:ext cx="2194560" cy="548640"/>
          </a:xfrm>
          <a:prstGeom prst="rect">
            <a:avLst/>
          </a:prstGeom>
          <a:noFill/>
          <a:ln/>
        </p:spPr>
        <p:txBody>
          <a:bodyPr wrap="square" lIns="0" tIns="0" rIns="0" bIns="0" rtlCol="0" anchor="t"/>
          <a:lstStyle/>
          <a:p>
            <a:pPr indent="0" marL="0">
              <a:buNone/>
            </a:pPr>
            <a:r>
              <a:rPr lang="en-US" sz="1400" dirty="0">
                <a:solidFill>
                  <a:schemeClr val="tx1"/>
                </a:solidFill>
              </a:rPr>
              <a:t>Pandas, NumPy, Scikit-learn, Joblib</a:t>
            </a:r>
            <a:endParaRPr lang="en-US" sz="1400" dirty="0"/>
          </a:p>
        </p:txBody>
      </p:sp>
      <p:sp>
        <p:nvSpPr>
          <p:cNvPr id="18" name="Shape 13"/>
          <p:cNvSpPr/>
          <p:nvPr/>
        </p:nvSpPr>
        <p:spPr>
          <a:xfrm>
            <a:off x="457200" y="2926080"/>
            <a:ext cx="2560320" cy="1508760"/>
          </a:xfrm>
          <a:prstGeom prst="roundRect">
            <a:avLst>
              <a:gd name="adj" fmla="val 6061"/>
            </a:avLst>
          </a:prstGeom>
          <a:solidFill>
            <a:schemeClr val="bg2"/>
          </a:solidFill>
          <a:ln/>
        </p:spPr>
      </p:sp>
      <p:sp>
        <p:nvSpPr>
          <p:cNvPr id="19" name="Shape 14"/>
          <p:cNvSpPr/>
          <p:nvPr/>
        </p:nvSpPr>
        <p:spPr>
          <a:xfrm>
            <a:off x="685800" y="3154680"/>
            <a:ext cx="566928" cy="566928"/>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827532" y="3296412"/>
            <a:ext cx="283464" cy="283464"/>
          </a:xfrm>
          <a:prstGeom prst="rect">
            <a:avLst/>
          </a:prstGeom>
        </p:spPr>
      </p:pic>
      <p:sp>
        <p:nvSpPr>
          <p:cNvPr id="21" name="Text 15"/>
          <p:cNvSpPr txBox="1"/>
          <p:nvPr/>
        </p:nvSpPr>
        <p:spPr>
          <a:xfrm>
            <a:off x="1417320" y="3200400"/>
            <a:ext cx="1508760" cy="457200"/>
          </a:xfrm>
          <a:prstGeom prst="rect">
            <a:avLst/>
          </a:prstGeom>
          <a:noFill/>
          <a:ln/>
        </p:spPr>
        <p:txBody>
          <a:bodyPr wrap="square" lIns="0" tIns="0" rIns="0" bIns="0" rtlCol="0" anchor="ctr"/>
          <a:lstStyle/>
          <a:p>
            <a:pPr indent="0" marL="0">
              <a:buNone/>
            </a:pPr>
            <a:r>
              <a:rPr lang="en-US" sz="1700" b="1" dirty="0">
                <a:solidFill>
                  <a:schemeClr val="tx2"/>
                </a:solidFill>
              </a:rPr>
              <a:t>Dataset</a:t>
            </a:r>
            <a:endParaRPr lang="en-US" sz="1700" dirty="0"/>
          </a:p>
        </p:txBody>
      </p:sp>
      <p:sp>
        <p:nvSpPr>
          <p:cNvPr id="22" name="Text 16"/>
          <p:cNvSpPr txBox="1"/>
          <p:nvPr/>
        </p:nvSpPr>
        <p:spPr>
          <a:xfrm>
            <a:off x="685800" y="3822192"/>
            <a:ext cx="2194560" cy="548640"/>
          </a:xfrm>
          <a:prstGeom prst="rect">
            <a:avLst/>
          </a:prstGeom>
          <a:noFill/>
          <a:ln/>
        </p:spPr>
        <p:txBody>
          <a:bodyPr wrap="square" lIns="0" tIns="0" rIns="0" bIns="0" rtlCol="0" anchor="t"/>
          <a:lstStyle/>
          <a:p>
            <a:pPr indent="0" marL="0">
              <a:buNone/>
            </a:pPr>
            <a:r>
              <a:rPr lang="en-US" sz="1400" dirty="0">
                <a:solidFill>
                  <a:schemeClr val="tx1"/>
                </a:solidFill>
              </a:rPr>
              <a:t>Crop Recommendation CSV (2,200 rows)</a:t>
            </a:r>
            <a:endParaRPr lang="en-US" sz="1400" dirty="0"/>
          </a:p>
        </p:txBody>
      </p:sp>
      <p:sp>
        <p:nvSpPr>
          <p:cNvPr id="23" name="Shape 17"/>
          <p:cNvSpPr/>
          <p:nvPr/>
        </p:nvSpPr>
        <p:spPr>
          <a:xfrm>
            <a:off x="3291840" y="2926080"/>
            <a:ext cx="2560320" cy="1508760"/>
          </a:xfrm>
          <a:prstGeom prst="roundRect">
            <a:avLst>
              <a:gd name="adj" fmla="val 6061"/>
            </a:avLst>
          </a:prstGeom>
          <a:solidFill>
            <a:schemeClr val="bg2"/>
          </a:solidFill>
          <a:ln/>
        </p:spPr>
      </p:sp>
      <p:sp>
        <p:nvSpPr>
          <p:cNvPr id="24" name="Shape 18"/>
          <p:cNvSpPr/>
          <p:nvPr/>
        </p:nvSpPr>
        <p:spPr>
          <a:xfrm>
            <a:off x="3520440" y="3154680"/>
            <a:ext cx="566928" cy="566928"/>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3662172" y="3296412"/>
            <a:ext cx="283464" cy="283464"/>
          </a:xfrm>
          <a:prstGeom prst="rect">
            <a:avLst/>
          </a:prstGeom>
        </p:spPr>
      </p:pic>
      <p:sp>
        <p:nvSpPr>
          <p:cNvPr id="26" name="Text 19"/>
          <p:cNvSpPr txBox="1"/>
          <p:nvPr/>
        </p:nvSpPr>
        <p:spPr>
          <a:xfrm>
            <a:off x="4251960" y="3200400"/>
            <a:ext cx="1508760" cy="457200"/>
          </a:xfrm>
          <a:prstGeom prst="rect">
            <a:avLst/>
          </a:prstGeom>
          <a:noFill/>
          <a:ln/>
        </p:spPr>
        <p:txBody>
          <a:bodyPr wrap="square" lIns="0" tIns="0" rIns="0" bIns="0" rtlCol="0" anchor="ctr"/>
          <a:lstStyle/>
          <a:p>
            <a:pPr indent="0" marL="0">
              <a:buNone/>
            </a:pPr>
            <a:r>
              <a:rPr lang="en-US" sz="1700" b="1" dirty="0">
                <a:solidFill>
                  <a:schemeClr val="tx2"/>
                </a:solidFill>
              </a:rPr>
              <a:t>Tools</a:t>
            </a:r>
            <a:endParaRPr lang="en-US" sz="1700" dirty="0"/>
          </a:p>
        </p:txBody>
      </p:sp>
      <p:sp>
        <p:nvSpPr>
          <p:cNvPr id="27" name="Text 20"/>
          <p:cNvSpPr txBox="1"/>
          <p:nvPr/>
        </p:nvSpPr>
        <p:spPr>
          <a:xfrm>
            <a:off x="3520440" y="3822192"/>
            <a:ext cx="2194560" cy="548640"/>
          </a:xfrm>
          <a:prstGeom prst="rect">
            <a:avLst/>
          </a:prstGeom>
          <a:noFill/>
          <a:ln/>
        </p:spPr>
        <p:txBody>
          <a:bodyPr wrap="square" lIns="0" tIns="0" rIns="0" bIns="0" rtlCol="0" anchor="t"/>
          <a:lstStyle/>
          <a:p>
            <a:pPr indent="0" marL="0">
              <a:buNone/>
            </a:pPr>
            <a:r>
              <a:rPr lang="en-US" sz="1400" dirty="0">
                <a:solidFill>
                  <a:schemeClr val="tx1"/>
                </a:solidFill>
              </a:rPr>
              <a:t>Google Colab, Matplotlib, Seaborn</a:t>
            </a:r>
            <a:endParaRPr lang="en-US" sz="1400" dirty="0"/>
          </a:p>
        </p:txBody>
      </p:sp>
      <p:sp>
        <p:nvSpPr>
          <p:cNvPr id="28" name="Shape 21"/>
          <p:cNvSpPr/>
          <p:nvPr/>
        </p:nvSpPr>
        <p:spPr>
          <a:xfrm>
            <a:off x="6126480" y="2926080"/>
            <a:ext cx="2560320" cy="1508760"/>
          </a:xfrm>
          <a:prstGeom prst="roundRect">
            <a:avLst>
              <a:gd name="adj" fmla="val 6061"/>
            </a:avLst>
          </a:prstGeom>
          <a:solidFill>
            <a:schemeClr val="bg2"/>
          </a:solidFill>
          <a:ln/>
        </p:spPr>
      </p:sp>
      <p:sp>
        <p:nvSpPr>
          <p:cNvPr id="29" name="Shape 22"/>
          <p:cNvSpPr/>
          <p:nvPr/>
        </p:nvSpPr>
        <p:spPr>
          <a:xfrm>
            <a:off x="6355080" y="3154680"/>
            <a:ext cx="566928" cy="566928"/>
          </a:xfrm>
          <a:prstGeom prst="ellipse">
            <a:avLst/>
          </a:prstGeom>
          <a:solidFill>
            <a:schemeClr val="accent1"/>
          </a:solidFill>
          <a:ln/>
        </p:spPr>
      </p:sp>
      <p:pic>
        <p:nvPicPr>
          <p:cNvPr id="30" name="Image 5" descr="preencoded.png">    </p:cNvPr>
          <p:cNvPicPr>
            <a:picLocks noChangeAspect="1"/>
          </p:cNvPicPr>
          <p:nvPr/>
        </p:nvPicPr>
        <p:blipFill>
          <a:blip r:embed="rId6"/>
          <a:stretch>
            <a:fillRect/>
          </a:stretch>
        </p:blipFill>
        <p:spPr>
          <a:xfrm>
            <a:off x="6496812" y="3296412"/>
            <a:ext cx="283464" cy="283464"/>
          </a:xfrm>
          <a:prstGeom prst="rect">
            <a:avLst/>
          </a:prstGeom>
        </p:spPr>
      </p:pic>
      <p:sp>
        <p:nvSpPr>
          <p:cNvPr id="31" name="Text 23"/>
          <p:cNvSpPr txBox="1"/>
          <p:nvPr/>
        </p:nvSpPr>
        <p:spPr>
          <a:xfrm>
            <a:off x="7086600" y="3200400"/>
            <a:ext cx="1508760" cy="457200"/>
          </a:xfrm>
          <a:prstGeom prst="rect">
            <a:avLst/>
          </a:prstGeom>
          <a:noFill/>
          <a:ln/>
        </p:spPr>
        <p:txBody>
          <a:bodyPr wrap="square" lIns="0" tIns="0" rIns="0" bIns="0" rtlCol="0" anchor="ctr"/>
          <a:lstStyle/>
          <a:p>
            <a:pPr indent="0" marL="0">
              <a:buNone/>
            </a:pPr>
            <a:r>
              <a:rPr lang="en-US" sz="1700" b="1" dirty="0">
                <a:solidFill>
                  <a:schemeClr val="tx2"/>
                </a:solidFill>
              </a:rPr>
              <a:t>IDE</a:t>
            </a:r>
            <a:endParaRPr lang="en-US" sz="1700" dirty="0"/>
          </a:p>
        </p:txBody>
      </p:sp>
      <p:sp>
        <p:nvSpPr>
          <p:cNvPr id="32" name="Text 24"/>
          <p:cNvSpPr txBox="1"/>
          <p:nvPr/>
        </p:nvSpPr>
        <p:spPr>
          <a:xfrm>
            <a:off x="6355080" y="3822192"/>
            <a:ext cx="2194560" cy="548640"/>
          </a:xfrm>
          <a:prstGeom prst="rect">
            <a:avLst/>
          </a:prstGeom>
          <a:noFill/>
          <a:ln/>
        </p:spPr>
        <p:txBody>
          <a:bodyPr wrap="square" lIns="0" tIns="0" rIns="0" bIns="0" rtlCol="0" anchor="t"/>
          <a:lstStyle/>
          <a:p>
            <a:pPr indent="0" marL="0">
              <a:buNone/>
            </a:pPr>
            <a:r>
              <a:rPr lang="en-US" sz="1400" dirty="0">
                <a:solidFill>
                  <a:schemeClr val="tx1"/>
                </a:solidFill>
              </a:rPr>
              <a:t>Visual Studio Code, Chrome browser</a:t>
            </a:r>
            <a:endParaRPr lang="en-US" sz="14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System Modules</a:t>
            </a:r>
            <a:endParaRPr lang="en-US" sz="3200" dirty="0"/>
          </a:p>
        </p:txBody>
      </p:sp>
      <p:sp>
        <p:nvSpPr>
          <p:cNvPr id="3" name="Shape 1"/>
          <p:cNvSpPr/>
          <p:nvPr/>
        </p:nvSpPr>
        <p:spPr>
          <a:xfrm>
            <a:off x="457200" y="1188720"/>
            <a:ext cx="3977640" cy="960120"/>
          </a:xfrm>
          <a:prstGeom prst="roundRect">
            <a:avLst>
              <a:gd name="adj" fmla="val 9524"/>
            </a:avLst>
          </a:prstGeom>
          <a:solidFill>
            <a:schemeClr val="bg1"/>
          </a:solidFill>
          <a:ln w="12700">
            <a:solidFill>
              <a:schemeClr val="accent5"/>
            </a:solidFill>
            <a:prstDash val="solid"/>
          </a:ln>
        </p:spPr>
      </p:sp>
      <p:sp>
        <p:nvSpPr>
          <p:cNvPr id="4" name="Shape 2"/>
          <p:cNvSpPr/>
          <p:nvPr/>
        </p:nvSpPr>
        <p:spPr>
          <a:xfrm>
            <a:off x="640080" y="1371600"/>
            <a:ext cx="594360" cy="594360"/>
          </a:xfrm>
          <a:prstGeom prst="ellipse">
            <a:avLst/>
          </a:prstGeom>
          <a:solidFill>
            <a:schemeClr val="bg2"/>
          </a:solidFill>
          <a:ln/>
        </p:spPr>
      </p:sp>
      <p:pic>
        <p:nvPicPr>
          <p:cNvPr id="5" name="Image 0" descr="preencoded.png">    </p:cNvPr>
          <p:cNvPicPr>
            <a:picLocks noChangeAspect="1"/>
          </p:cNvPicPr>
          <p:nvPr/>
        </p:nvPicPr>
        <p:blipFill>
          <a:blip r:embed="rId1"/>
          <a:stretch>
            <a:fillRect/>
          </a:stretch>
        </p:blipFill>
        <p:spPr>
          <a:xfrm>
            <a:off x="786384" y="1517904"/>
            <a:ext cx="301752" cy="301752"/>
          </a:xfrm>
          <a:prstGeom prst="rect">
            <a:avLst/>
          </a:prstGeom>
        </p:spPr>
      </p:pic>
      <p:sp>
        <p:nvSpPr>
          <p:cNvPr id="6" name="Text 3"/>
          <p:cNvSpPr txBox="1"/>
          <p:nvPr/>
        </p:nvSpPr>
        <p:spPr>
          <a:xfrm>
            <a:off x="1417320" y="1325880"/>
            <a:ext cx="2880360" cy="320040"/>
          </a:xfrm>
          <a:prstGeom prst="rect">
            <a:avLst/>
          </a:prstGeom>
          <a:noFill/>
          <a:ln/>
        </p:spPr>
        <p:txBody>
          <a:bodyPr wrap="square" lIns="0" tIns="0" rIns="0" bIns="0" rtlCol="0" anchor="t"/>
          <a:lstStyle/>
          <a:p>
            <a:pPr indent="0" marL="0">
              <a:buNone/>
            </a:pPr>
            <a:r>
              <a:rPr lang="en-US" sz="1600" b="1" dirty="0">
                <a:solidFill>
                  <a:schemeClr val="tx2"/>
                </a:solidFill>
              </a:rPr>
              <a:t>Login module</a:t>
            </a:r>
            <a:endParaRPr lang="en-US" sz="1600" dirty="0"/>
          </a:p>
        </p:txBody>
      </p:sp>
      <p:sp>
        <p:nvSpPr>
          <p:cNvPr id="7" name="Text 4"/>
          <p:cNvSpPr txBox="1"/>
          <p:nvPr/>
        </p:nvSpPr>
        <p:spPr>
          <a:xfrm>
            <a:off x="1417320" y="1664208"/>
            <a:ext cx="2926080" cy="365760"/>
          </a:xfrm>
          <a:prstGeom prst="rect">
            <a:avLst/>
          </a:prstGeom>
          <a:noFill/>
          <a:ln/>
        </p:spPr>
        <p:txBody>
          <a:bodyPr wrap="square" lIns="0" tIns="0" rIns="0" bIns="0" rtlCol="0" anchor="t"/>
          <a:lstStyle/>
          <a:p>
            <a:pPr indent="0" marL="0">
              <a:buNone/>
            </a:pPr>
            <a:r>
              <a:rPr lang="en-US" sz="1400" dirty="0">
                <a:solidFill>
                  <a:schemeClr val="tx1"/>
                </a:solidFill>
              </a:rPr>
              <a:t>Farmer signs in before using the dashboard</a:t>
            </a:r>
            <a:endParaRPr lang="en-US" sz="1400" dirty="0"/>
          </a:p>
        </p:txBody>
      </p:sp>
      <p:sp>
        <p:nvSpPr>
          <p:cNvPr id="8" name="Shape 5"/>
          <p:cNvSpPr/>
          <p:nvPr/>
        </p:nvSpPr>
        <p:spPr>
          <a:xfrm>
            <a:off x="4709160" y="1188720"/>
            <a:ext cx="3977640" cy="960120"/>
          </a:xfrm>
          <a:prstGeom prst="roundRect">
            <a:avLst>
              <a:gd name="adj" fmla="val 9524"/>
            </a:avLst>
          </a:prstGeom>
          <a:solidFill>
            <a:schemeClr val="bg1"/>
          </a:solidFill>
          <a:ln w="12700">
            <a:solidFill>
              <a:schemeClr val="accent5"/>
            </a:solidFill>
            <a:prstDash val="solid"/>
          </a:ln>
        </p:spPr>
      </p:sp>
      <p:sp>
        <p:nvSpPr>
          <p:cNvPr id="9" name="Shape 6"/>
          <p:cNvSpPr/>
          <p:nvPr/>
        </p:nvSpPr>
        <p:spPr>
          <a:xfrm>
            <a:off x="4892040" y="1371600"/>
            <a:ext cx="594360" cy="594360"/>
          </a:xfrm>
          <a:prstGeom prst="ellipse">
            <a:avLst/>
          </a:prstGeom>
          <a:solidFill>
            <a:schemeClr val="bg2"/>
          </a:solidFill>
          <a:ln/>
        </p:spPr>
      </p:sp>
      <p:pic>
        <p:nvPicPr>
          <p:cNvPr id="10" name="Image 1" descr="preencoded.png">    </p:cNvPr>
          <p:cNvPicPr>
            <a:picLocks noChangeAspect="1"/>
          </p:cNvPicPr>
          <p:nvPr/>
        </p:nvPicPr>
        <p:blipFill>
          <a:blip r:embed="rId2"/>
          <a:stretch>
            <a:fillRect/>
          </a:stretch>
        </p:blipFill>
        <p:spPr>
          <a:xfrm>
            <a:off x="5038344" y="1517904"/>
            <a:ext cx="301752" cy="301752"/>
          </a:xfrm>
          <a:prstGeom prst="rect">
            <a:avLst/>
          </a:prstGeom>
        </p:spPr>
      </p:pic>
      <p:sp>
        <p:nvSpPr>
          <p:cNvPr id="11" name="Text 7"/>
          <p:cNvSpPr txBox="1"/>
          <p:nvPr/>
        </p:nvSpPr>
        <p:spPr>
          <a:xfrm>
            <a:off x="5669280" y="1325880"/>
            <a:ext cx="2880360" cy="320040"/>
          </a:xfrm>
          <a:prstGeom prst="rect">
            <a:avLst/>
          </a:prstGeom>
          <a:noFill/>
          <a:ln/>
        </p:spPr>
        <p:txBody>
          <a:bodyPr wrap="square" lIns="0" tIns="0" rIns="0" bIns="0" rtlCol="0" anchor="t"/>
          <a:lstStyle/>
          <a:p>
            <a:pPr indent="0" marL="0">
              <a:buNone/>
            </a:pPr>
            <a:r>
              <a:rPr lang="en-US" sz="1600" b="1" dirty="0">
                <a:solidFill>
                  <a:schemeClr val="tx2"/>
                </a:solidFill>
              </a:rPr>
              <a:t>Crop recommendation</a:t>
            </a:r>
            <a:endParaRPr lang="en-US" sz="1600" dirty="0"/>
          </a:p>
        </p:txBody>
      </p:sp>
      <p:sp>
        <p:nvSpPr>
          <p:cNvPr id="12" name="Text 8"/>
          <p:cNvSpPr txBox="1"/>
          <p:nvPr/>
        </p:nvSpPr>
        <p:spPr>
          <a:xfrm>
            <a:off x="5669280" y="1664208"/>
            <a:ext cx="2926080" cy="365760"/>
          </a:xfrm>
          <a:prstGeom prst="rect">
            <a:avLst/>
          </a:prstGeom>
          <a:noFill/>
          <a:ln/>
        </p:spPr>
        <p:txBody>
          <a:bodyPr wrap="square" lIns="0" tIns="0" rIns="0" bIns="0" rtlCol="0" anchor="t"/>
          <a:lstStyle/>
          <a:p>
            <a:pPr indent="0" marL="0">
              <a:buNone/>
            </a:pPr>
            <a:r>
              <a:rPr lang="en-US" sz="1400" dirty="0">
                <a:solidFill>
                  <a:schemeClr val="tx1"/>
                </a:solidFill>
              </a:rPr>
              <a:t>Takes 7 inputs, returns best crop and top 3</a:t>
            </a:r>
            <a:endParaRPr lang="en-US" sz="1400" dirty="0"/>
          </a:p>
        </p:txBody>
      </p:sp>
      <p:sp>
        <p:nvSpPr>
          <p:cNvPr id="13" name="Shape 9"/>
          <p:cNvSpPr/>
          <p:nvPr/>
        </p:nvSpPr>
        <p:spPr>
          <a:xfrm>
            <a:off x="457200" y="2331720"/>
            <a:ext cx="3977640" cy="960120"/>
          </a:xfrm>
          <a:prstGeom prst="roundRect">
            <a:avLst>
              <a:gd name="adj" fmla="val 9524"/>
            </a:avLst>
          </a:prstGeom>
          <a:solidFill>
            <a:schemeClr val="bg1"/>
          </a:solidFill>
          <a:ln w="12700">
            <a:solidFill>
              <a:schemeClr val="accent5"/>
            </a:solidFill>
            <a:prstDash val="solid"/>
          </a:ln>
        </p:spPr>
      </p:sp>
      <p:sp>
        <p:nvSpPr>
          <p:cNvPr id="14" name="Shape 10"/>
          <p:cNvSpPr/>
          <p:nvPr/>
        </p:nvSpPr>
        <p:spPr>
          <a:xfrm>
            <a:off x="640080" y="2514600"/>
            <a:ext cx="594360" cy="594360"/>
          </a:xfrm>
          <a:prstGeom prst="ellipse">
            <a:avLst/>
          </a:prstGeom>
          <a:solidFill>
            <a:schemeClr val="bg2"/>
          </a:solidFill>
          <a:ln/>
        </p:spPr>
      </p:sp>
      <p:pic>
        <p:nvPicPr>
          <p:cNvPr id="15" name="Image 2" descr="preencoded.png">    </p:cNvPr>
          <p:cNvPicPr>
            <a:picLocks noChangeAspect="1"/>
          </p:cNvPicPr>
          <p:nvPr/>
        </p:nvPicPr>
        <p:blipFill>
          <a:blip r:embed="rId3"/>
          <a:stretch>
            <a:fillRect/>
          </a:stretch>
        </p:blipFill>
        <p:spPr>
          <a:xfrm>
            <a:off x="786384" y="2660904"/>
            <a:ext cx="301752" cy="301752"/>
          </a:xfrm>
          <a:prstGeom prst="rect">
            <a:avLst/>
          </a:prstGeom>
        </p:spPr>
      </p:pic>
      <p:sp>
        <p:nvSpPr>
          <p:cNvPr id="16" name="Text 11"/>
          <p:cNvSpPr txBox="1"/>
          <p:nvPr/>
        </p:nvSpPr>
        <p:spPr>
          <a:xfrm>
            <a:off x="1417320" y="2468880"/>
            <a:ext cx="2880360" cy="320040"/>
          </a:xfrm>
          <a:prstGeom prst="rect">
            <a:avLst/>
          </a:prstGeom>
          <a:noFill/>
          <a:ln/>
        </p:spPr>
        <p:txBody>
          <a:bodyPr wrap="square" lIns="0" tIns="0" rIns="0" bIns="0" rtlCol="0" anchor="t"/>
          <a:lstStyle/>
          <a:p>
            <a:pPr indent="0" marL="0">
              <a:buNone/>
            </a:pPr>
            <a:r>
              <a:rPr lang="en-US" sz="1600" b="1" dirty="0">
                <a:solidFill>
                  <a:schemeClr val="tx2"/>
                </a:solidFill>
              </a:rPr>
              <a:t>Fertilizer advice</a:t>
            </a:r>
            <a:endParaRPr lang="en-US" sz="1600" dirty="0"/>
          </a:p>
        </p:txBody>
      </p:sp>
      <p:sp>
        <p:nvSpPr>
          <p:cNvPr id="17" name="Text 12"/>
          <p:cNvSpPr txBox="1"/>
          <p:nvPr/>
        </p:nvSpPr>
        <p:spPr>
          <a:xfrm>
            <a:off x="1417320" y="2807208"/>
            <a:ext cx="2926080" cy="365760"/>
          </a:xfrm>
          <a:prstGeom prst="rect">
            <a:avLst/>
          </a:prstGeom>
          <a:noFill/>
          <a:ln/>
        </p:spPr>
        <p:txBody>
          <a:bodyPr wrap="square" lIns="0" tIns="0" rIns="0" bIns="0" rtlCol="0" anchor="t"/>
          <a:lstStyle/>
          <a:p>
            <a:pPr indent="0" marL="0">
              <a:buNone/>
            </a:pPr>
            <a:r>
              <a:rPr lang="en-US" sz="1400" dirty="0">
                <a:solidFill>
                  <a:schemeClr val="tx1"/>
                </a:solidFill>
              </a:rPr>
              <a:t>Compares N, P, K and pH with crop needs</a:t>
            </a:r>
            <a:endParaRPr lang="en-US" sz="1400" dirty="0"/>
          </a:p>
        </p:txBody>
      </p:sp>
      <p:sp>
        <p:nvSpPr>
          <p:cNvPr id="18" name="Shape 13"/>
          <p:cNvSpPr/>
          <p:nvPr/>
        </p:nvSpPr>
        <p:spPr>
          <a:xfrm>
            <a:off x="4709160" y="2331720"/>
            <a:ext cx="3977640" cy="960120"/>
          </a:xfrm>
          <a:prstGeom prst="roundRect">
            <a:avLst>
              <a:gd name="adj" fmla="val 9524"/>
            </a:avLst>
          </a:prstGeom>
          <a:solidFill>
            <a:schemeClr val="bg1"/>
          </a:solidFill>
          <a:ln w="12700">
            <a:solidFill>
              <a:schemeClr val="accent5"/>
            </a:solidFill>
            <a:prstDash val="solid"/>
          </a:ln>
        </p:spPr>
      </p:sp>
      <p:sp>
        <p:nvSpPr>
          <p:cNvPr id="19" name="Shape 14"/>
          <p:cNvSpPr/>
          <p:nvPr/>
        </p:nvSpPr>
        <p:spPr>
          <a:xfrm>
            <a:off x="4892040" y="2514600"/>
            <a:ext cx="594360" cy="594360"/>
          </a:xfrm>
          <a:prstGeom prst="ellipse">
            <a:avLst/>
          </a:prstGeom>
          <a:solidFill>
            <a:schemeClr val="bg2"/>
          </a:solidFill>
          <a:ln/>
        </p:spPr>
      </p:sp>
      <p:pic>
        <p:nvPicPr>
          <p:cNvPr id="20" name="Image 3" descr="preencoded.png">    </p:cNvPr>
          <p:cNvPicPr>
            <a:picLocks noChangeAspect="1"/>
          </p:cNvPicPr>
          <p:nvPr/>
        </p:nvPicPr>
        <p:blipFill>
          <a:blip r:embed="rId4"/>
          <a:stretch>
            <a:fillRect/>
          </a:stretch>
        </p:blipFill>
        <p:spPr>
          <a:xfrm>
            <a:off x="5038344" y="2660904"/>
            <a:ext cx="301752" cy="301752"/>
          </a:xfrm>
          <a:prstGeom prst="rect">
            <a:avLst/>
          </a:prstGeom>
        </p:spPr>
      </p:pic>
      <p:sp>
        <p:nvSpPr>
          <p:cNvPr id="21" name="Text 15"/>
          <p:cNvSpPr txBox="1"/>
          <p:nvPr/>
        </p:nvSpPr>
        <p:spPr>
          <a:xfrm>
            <a:off x="5669280" y="2468880"/>
            <a:ext cx="2880360" cy="320040"/>
          </a:xfrm>
          <a:prstGeom prst="rect">
            <a:avLst/>
          </a:prstGeom>
          <a:noFill/>
          <a:ln/>
        </p:spPr>
        <p:txBody>
          <a:bodyPr wrap="square" lIns="0" tIns="0" rIns="0" bIns="0" rtlCol="0" anchor="t"/>
          <a:lstStyle/>
          <a:p>
            <a:pPr indent="0" marL="0">
              <a:buNone/>
            </a:pPr>
            <a:r>
              <a:rPr lang="en-US" sz="1600" b="1" dirty="0">
                <a:solidFill>
                  <a:schemeClr val="tx2"/>
                </a:solidFill>
              </a:rPr>
              <a:t>Update module</a:t>
            </a:r>
            <a:endParaRPr lang="en-US" sz="1600" dirty="0"/>
          </a:p>
        </p:txBody>
      </p:sp>
      <p:sp>
        <p:nvSpPr>
          <p:cNvPr id="22" name="Text 16"/>
          <p:cNvSpPr txBox="1"/>
          <p:nvPr/>
        </p:nvSpPr>
        <p:spPr>
          <a:xfrm>
            <a:off x="5669280" y="2807208"/>
            <a:ext cx="2926080" cy="365760"/>
          </a:xfrm>
          <a:prstGeom prst="rect">
            <a:avLst/>
          </a:prstGeom>
          <a:noFill/>
          <a:ln/>
        </p:spPr>
        <p:txBody>
          <a:bodyPr wrap="square" lIns="0" tIns="0" rIns="0" bIns="0" rtlCol="0" anchor="t"/>
          <a:lstStyle/>
          <a:p>
            <a:pPr indent="0" marL="0">
              <a:buNone/>
            </a:pPr>
            <a:r>
              <a:rPr lang="en-US" sz="1400" dirty="0">
                <a:solidFill>
                  <a:schemeClr val="tx1"/>
                </a:solidFill>
              </a:rPr>
              <a:t>Weather and market price updates</a:t>
            </a:r>
            <a:endParaRPr lang="en-US" sz="1400" dirty="0"/>
          </a:p>
        </p:txBody>
      </p:sp>
      <p:sp>
        <p:nvSpPr>
          <p:cNvPr id="23" name="Shape 17"/>
          <p:cNvSpPr/>
          <p:nvPr/>
        </p:nvSpPr>
        <p:spPr>
          <a:xfrm>
            <a:off x="457200" y="3474720"/>
            <a:ext cx="3977640" cy="960120"/>
          </a:xfrm>
          <a:prstGeom prst="roundRect">
            <a:avLst>
              <a:gd name="adj" fmla="val 9524"/>
            </a:avLst>
          </a:prstGeom>
          <a:solidFill>
            <a:schemeClr val="bg1"/>
          </a:solidFill>
          <a:ln w="12700">
            <a:solidFill>
              <a:schemeClr val="accent5"/>
            </a:solidFill>
            <a:prstDash val="solid"/>
          </a:ln>
        </p:spPr>
      </p:sp>
      <p:sp>
        <p:nvSpPr>
          <p:cNvPr id="24" name="Shape 18"/>
          <p:cNvSpPr/>
          <p:nvPr/>
        </p:nvSpPr>
        <p:spPr>
          <a:xfrm>
            <a:off x="640080" y="3657600"/>
            <a:ext cx="594360" cy="594360"/>
          </a:xfrm>
          <a:prstGeom prst="ellipse">
            <a:avLst/>
          </a:prstGeom>
          <a:solidFill>
            <a:schemeClr val="bg2"/>
          </a:solidFill>
          <a:ln/>
        </p:spPr>
      </p:sp>
      <p:pic>
        <p:nvPicPr>
          <p:cNvPr id="25" name="Image 4" descr="preencoded.png">    </p:cNvPr>
          <p:cNvPicPr>
            <a:picLocks noChangeAspect="1"/>
          </p:cNvPicPr>
          <p:nvPr/>
        </p:nvPicPr>
        <p:blipFill>
          <a:blip r:embed="rId5"/>
          <a:stretch>
            <a:fillRect/>
          </a:stretch>
        </p:blipFill>
        <p:spPr>
          <a:xfrm>
            <a:off x="786384" y="3803904"/>
            <a:ext cx="301752" cy="301752"/>
          </a:xfrm>
          <a:prstGeom prst="rect">
            <a:avLst/>
          </a:prstGeom>
        </p:spPr>
      </p:pic>
      <p:sp>
        <p:nvSpPr>
          <p:cNvPr id="26" name="Text 19"/>
          <p:cNvSpPr txBox="1"/>
          <p:nvPr/>
        </p:nvSpPr>
        <p:spPr>
          <a:xfrm>
            <a:off x="1417320" y="3611880"/>
            <a:ext cx="2880360" cy="320040"/>
          </a:xfrm>
          <a:prstGeom prst="rect">
            <a:avLst/>
          </a:prstGeom>
          <a:noFill/>
          <a:ln/>
        </p:spPr>
        <p:txBody>
          <a:bodyPr wrap="square" lIns="0" tIns="0" rIns="0" bIns="0" rtlCol="0" anchor="t"/>
          <a:lstStyle/>
          <a:p>
            <a:pPr indent="0" marL="0">
              <a:buNone/>
            </a:pPr>
            <a:r>
              <a:rPr lang="en-US" sz="1600" b="1" dirty="0">
                <a:solidFill>
                  <a:schemeClr val="tx2"/>
                </a:solidFill>
              </a:rPr>
              <a:t>History module</a:t>
            </a:r>
            <a:endParaRPr lang="en-US" sz="1600" dirty="0"/>
          </a:p>
        </p:txBody>
      </p:sp>
      <p:sp>
        <p:nvSpPr>
          <p:cNvPr id="27" name="Text 20"/>
          <p:cNvSpPr txBox="1"/>
          <p:nvPr/>
        </p:nvSpPr>
        <p:spPr>
          <a:xfrm>
            <a:off x="1417320" y="3950208"/>
            <a:ext cx="2926080" cy="365760"/>
          </a:xfrm>
          <a:prstGeom prst="rect">
            <a:avLst/>
          </a:prstGeom>
          <a:noFill/>
          <a:ln/>
        </p:spPr>
        <p:txBody>
          <a:bodyPr wrap="square" lIns="0" tIns="0" rIns="0" bIns="0" rtlCol="0" anchor="t"/>
          <a:lstStyle/>
          <a:p>
            <a:pPr indent="0" marL="0">
              <a:buNone/>
            </a:pPr>
            <a:r>
              <a:rPr lang="en-US" sz="1400" dirty="0">
                <a:solidFill>
                  <a:schemeClr val="tx1"/>
                </a:solidFill>
              </a:rPr>
              <a:t>Saves past predictions to review later</a:t>
            </a:r>
            <a:endParaRPr lang="en-US" sz="1400" dirty="0"/>
          </a:p>
        </p:txBody>
      </p:sp>
      <p:sp>
        <p:nvSpPr>
          <p:cNvPr id="28" name="Shape 21"/>
          <p:cNvSpPr/>
          <p:nvPr/>
        </p:nvSpPr>
        <p:spPr>
          <a:xfrm>
            <a:off x="4709160" y="3474720"/>
            <a:ext cx="3977640" cy="960120"/>
          </a:xfrm>
          <a:prstGeom prst="roundRect">
            <a:avLst>
              <a:gd name="adj" fmla="val 9524"/>
            </a:avLst>
          </a:prstGeom>
          <a:solidFill>
            <a:schemeClr val="bg1"/>
          </a:solidFill>
          <a:ln w="12700">
            <a:solidFill>
              <a:schemeClr val="accent5"/>
            </a:solidFill>
            <a:prstDash val="solid"/>
          </a:ln>
        </p:spPr>
      </p:sp>
      <p:sp>
        <p:nvSpPr>
          <p:cNvPr id="29" name="Shape 22"/>
          <p:cNvSpPr/>
          <p:nvPr/>
        </p:nvSpPr>
        <p:spPr>
          <a:xfrm>
            <a:off x="4892040" y="3657600"/>
            <a:ext cx="594360" cy="594360"/>
          </a:xfrm>
          <a:prstGeom prst="ellipse">
            <a:avLst/>
          </a:prstGeom>
          <a:solidFill>
            <a:schemeClr val="bg2"/>
          </a:solidFill>
          <a:ln/>
        </p:spPr>
      </p:sp>
      <p:pic>
        <p:nvPicPr>
          <p:cNvPr id="30" name="Image 5" descr="preencoded.png">    </p:cNvPr>
          <p:cNvPicPr>
            <a:picLocks noChangeAspect="1"/>
          </p:cNvPicPr>
          <p:nvPr/>
        </p:nvPicPr>
        <p:blipFill>
          <a:blip r:embed="rId6"/>
          <a:stretch>
            <a:fillRect/>
          </a:stretch>
        </p:blipFill>
        <p:spPr>
          <a:xfrm>
            <a:off x="5038344" y="3803904"/>
            <a:ext cx="301752" cy="301752"/>
          </a:xfrm>
          <a:prstGeom prst="rect">
            <a:avLst/>
          </a:prstGeom>
        </p:spPr>
      </p:pic>
      <p:sp>
        <p:nvSpPr>
          <p:cNvPr id="31" name="Text 23"/>
          <p:cNvSpPr txBox="1"/>
          <p:nvPr/>
        </p:nvSpPr>
        <p:spPr>
          <a:xfrm>
            <a:off x="5669280" y="3611880"/>
            <a:ext cx="2880360" cy="320040"/>
          </a:xfrm>
          <a:prstGeom prst="rect">
            <a:avLst/>
          </a:prstGeom>
          <a:noFill/>
          <a:ln/>
        </p:spPr>
        <p:txBody>
          <a:bodyPr wrap="square" lIns="0" tIns="0" rIns="0" bIns="0" rtlCol="0" anchor="t"/>
          <a:lstStyle/>
          <a:p>
            <a:pPr indent="0" marL="0">
              <a:buNone/>
            </a:pPr>
            <a:r>
              <a:rPr lang="en-US" sz="1600" b="1" dirty="0">
                <a:solidFill>
                  <a:schemeClr val="tx2"/>
                </a:solidFill>
              </a:rPr>
              <a:t>Profile module</a:t>
            </a:r>
            <a:endParaRPr lang="en-US" sz="1600" dirty="0"/>
          </a:p>
        </p:txBody>
      </p:sp>
      <p:sp>
        <p:nvSpPr>
          <p:cNvPr id="32" name="Text 24"/>
          <p:cNvSpPr txBox="1"/>
          <p:nvPr/>
        </p:nvSpPr>
        <p:spPr>
          <a:xfrm>
            <a:off x="5669280" y="3950208"/>
            <a:ext cx="2926080" cy="365760"/>
          </a:xfrm>
          <a:prstGeom prst="rect">
            <a:avLst/>
          </a:prstGeom>
          <a:noFill/>
          <a:ln/>
        </p:spPr>
        <p:txBody>
          <a:bodyPr wrap="square" lIns="0" tIns="0" rIns="0" bIns="0" rtlCol="0" anchor="t"/>
          <a:lstStyle/>
          <a:p>
            <a:pPr indent="0" marL="0">
              <a:buNone/>
            </a:pPr>
            <a:r>
              <a:rPr lang="en-US" sz="1400" dirty="0">
                <a:solidFill>
                  <a:schemeClr val="tx1"/>
                </a:solidFill>
              </a:rPr>
              <a:t>Farmer details, location and land area</a:t>
            </a:r>
            <a:endParaRPr lang="en-US" sz="14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Dataset / Input Data</a:t>
            </a:r>
            <a:endParaRPr lang="en-US" sz="3200" dirty="0"/>
          </a:p>
        </p:txBody>
      </p:sp>
      <p:sp>
        <p:nvSpPr>
          <p:cNvPr id="3" name="Shape 1"/>
          <p:cNvSpPr/>
          <p:nvPr/>
        </p:nvSpPr>
        <p:spPr>
          <a:xfrm>
            <a:off x="457200" y="1188720"/>
            <a:ext cx="1325880" cy="1097280"/>
          </a:xfrm>
          <a:prstGeom prst="roundRect">
            <a:avLst>
              <a:gd name="adj" fmla="val 8333"/>
            </a:avLst>
          </a:prstGeom>
          <a:solidFill>
            <a:schemeClr val="tx2"/>
          </a:solidFill>
          <a:ln/>
        </p:spPr>
      </p:sp>
      <p:sp>
        <p:nvSpPr>
          <p:cNvPr id="4" name="Text 2"/>
          <p:cNvSpPr txBox="1"/>
          <p:nvPr/>
        </p:nvSpPr>
        <p:spPr>
          <a:xfrm>
            <a:off x="457200" y="1325880"/>
            <a:ext cx="1325880" cy="502920"/>
          </a:xfrm>
          <a:prstGeom prst="rect">
            <a:avLst/>
          </a:prstGeom>
          <a:noFill/>
          <a:ln/>
        </p:spPr>
        <p:txBody>
          <a:bodyPr wrap="square" lIns="0" tIns="0" rIns="0" bIns="0" rtlCol="0" anchor="t"/>
          <a:lstStyle/>
          <a:p>
            <a:pPr algn="ctr" indent="0" marL="0">
              <a:buNone/>
            </a:pPr>
            <a:r>
              <a:rPr lang="en-US" sz="2800" b="1" dirty="0">
                <a:solidFill>
                  <a:schemeClr val="accent3"/>
                </a:solidFill>
              </a:rPr>
              <a:t>2,200</a:t>
            </a:r>
            <a:endParaRPr lang="en-US" sz="2800" dirty="0"/>
          </a:p>
        </p:txBody>
      </p:sp>
      <p:sp>
        <p:nvSpPr>
          <p:cNvPr id="5" name="Text 3"/>
          <p:cNvSpPr txBox="1"/>
          <p:nvPr/>
        </p:nvSpPr>
        <p:spPr>
          <a:xfrm>
            <a:off x="457200" y="1847088"/>
            <a:ext cx="1325880" cy="274320"/>
          </a:xfrm>
          <a:prstGeom prst="rect">
            <a:avLst/>
          </a:prstGeom>
          <a:noFill/>
          <a:ln/>
        </p:spPr>
        <p:txBody>
          <a:bodyPr wrap="square" lIns="0" tIns="0" rIns="0" bIns="0" rtlCol="0" anchor="t"/>
          <a:lstStyle/>
          <a:p>
            <a:pPr algn="ctr" indent="0" marL="0">
              <a:buNone/>
            </a:pPr>
            <a:r>
              <a:rPr lang="en-US" sz="1200" dirty="0">
                <a:solidFill>
                  <a:schemeClr val="bg1"/>
                </a:solidFill>
              </a:rPr>
              <a:t>Records</a:t>
            </a:r>
            <a:endParaRPr lang="en-US" sz="1200" dirty="0"/>
          </a:p>
        </p:txBody>
      </p:sp>
      <p:sp>
        <p:nvSpPr>
          <p:cNvPr id="6" name="Shape 4"/>
          <p:cNvSpPr/>
          <p:nvPr/>
        </p:nvSpPr>
        <p:spPr>
          <a:xfrm>
            <a:off x="1920240" y="1188720"/>
            <a:ext cx="1325880" cy="1097280"/>
          </a:xfrm>
          <a:prstGeom prst="roundRect">
            <a:avLst>
              <a:gd name="adj" fmla="val 8333"/>
            </a:avLst>
          </a:prstGeom>
          <a:solidFill>
            <a:schemeClr val="bg2"/>
          </a:solidFill>
          <a:ln/>
        </p:spPr>
      </p:sp>
      <p:sp>
        <p:nvSpPr>
          <p:cNvPr id="7" name="Text 5"/>
          <p:cNvSpPr txBox="1"/>
          <p:nvPr/>
        </p:nvSpPr>
        <p:spPr>
          <a:xfrm>
            <a:off x="1920240" y="1325880"/>
            <a:ext cx="1325880" cy="502920"/>
          </a:xfrm>
          <a:prstGeom prst="rect">
            <a:avLst/>
          </a:prstGeom>
          <a:noFill/>
          <a:ln/>
        </p:spPr>
        <p:txBody>
          <a:bodyPr wrap="square" lIns="0" tIns="0" rIns="0" bIns="0" rtlCol="0" anchor="t"/>
          <a:lstStyle/>
          <a:p>
            <a:pPr algn="ctr" indent="0" marL="0">
              <a:buNone/>
            </a:pPr>
            <a:r>
              <a:rPr lang="en-US" sz="2800" b="1" dirty="0">
                <a:solidFill>
                  <a:schemeClr val="accent1"/>
                </a:solidFill>
              </a:rPr>
              <a:t>22</a:t>
            </a:r>
            <a:endParaRPr lang="en-US" sz="2800" dirty="0"/>
          </a:p>
        </p:txBody>
      </p:sp>
      <p:sp>
        <p:nvSpPr>
          <p:cNvPr id="8" name="Text 6"/>
          <p:cNvSpPr txBox="1"/>
          <p:nvPr/>
        </p:nvSpPr>
        <p:spPr>
          <a:xfrm>
            <a:off x="1920240" y="1847088"/>
            <a:ext cx="1325880" cy="274320"/>
          </a:xfrm>
          <a:prstGeom prst="rect">
            <a:avLst/>
          </a:prstGeom>
          <a:noFill/>
          <a:ln/>
        </p:spPr>
        <p:txBody>
          <a:bodyPr wrap="square" lIns="0" tIns="0" rIns="0" bIns="0" rtlCol="0" anchor="t"/>
          <a:lstStyle/>
          <a:p>
            <a:pPr algn="ctr" indent="0" marL="0">
              <a:buNone/>
            </a:pPr>
            <a:r>
              <a:rPr lang="en-US" sz="1200" dirty="0">
                <a:solidFill>
                  <a:schemeClr val="tx1"/>
                </a:solidFill>
              </a:rPr>
              <a:t>Crop classes</a:t>
            </a:r>
            <a:endParaRPr lang="en-US" sz="1200" dirty="0"/>
          </a:p>
        </p:txBody>
      </p:sp>
      <p:sp>
        <p:nvSpPr>
          <p:cNvPr id="9" name="Shape 7"/>
          <p:cNvSpPr/>
          <p:nvPr/>
        </p:nvSpPr>
        <p:spPr>
          <a:xfrm>
            <a:off x="457200" y="2423160"/>
            <a:ext cx="1325880" cy="1097280"/>
          </a:xfrm>
          <a:prstGeom prst="roundRect">
            <a:avLst>
              <a:gd name="adj" fmla="val 8333"/>
            </a:avLst>
          </a:prstGeom>
          <a:solidFill>
            <a:schemeClr val="bg2"/>
          </a:solidFill>
          <a:ln/>
        </p:spPr>
      </p:sp>
      <p:sp>
        <p:nvSpPr>
          <p:cNvPr id="10" name="Text 8"/>
          <p:cNvSpPr txBox="1"/>
          <p:nvPr/>
        </p:nvSpPr>
        <p:spPr>
          <a:xfrm>
            <a:off x="457200" y="2560320"/>
            <a:ext cx="1325880" cy="502920"/>
          </a:xfrm>
          <a:prstGeom prst="rect">
            <a:avLst/>
          </a:prstGeom>
          <a:noFill/>
          <a:ln/>
        </p:spPr>
        <p:txBody>
          <a:bodyPr wrap="square" lIns="0" tIns="0" rIns="0" bIns="0" rtlCol="0" anchor="t"/>
          <a:lstStyle/>
          <a:p>
            <a:pPr algn="ctr" indent="0" marL="0">
              <a:buNone/>
            </a:pPr>
            <a:r>
              <a:rPr lang="en-US" sz="2800" b="1" dirty="0">
                <a:solidFill>
                  <a:schemeClr val="accent1"/>
                </a:solidFill>
              </a:rPr>
              <a:t>7</a:t>
            </a:r>
            <a:endParaRPr lang="en-US" sz="2800" dirty="0"/>
          </a:p>
        </p:txBody>
      </p:sp>
      <p:sp>
        <p:nvSpPr>
          <p:cNvPr id="11" name="Text 9"/>
          <p:cNvSpPr txBox="1"/>
          <p:nvPr/>
        </p:nvSpPr>
        <p:spPr>
          <a:xfrm>
            <a:off x="457200" y="3081528"/>
            <a:ext cx="1325880" cy="274320"/>
          </a:xfrm>
          <a:prstGeom prst="rect">
            <a:avLst/>
          </a:prstGeom>
          <a:noFill/>
          <a:ln/>
        </p:spPr>
        <p:txBody>
          <a:bodyPr wrap="square" lIns="0" tIns="0" rIns="0" bIns="0" rtlCol="0" anchor="t"/>
          <a:lstStyle/>
          <a:p>
            <a:pPr algn="ctr" indent="0" marL="0">
              <a:buNone/>
            </a:pPr>
            <a:r>
              <a:rPr lang="en-US" sz="1200" dirty="0">
                <a:solidFill>
                  <a:schemeClr val="tx1"/>
                </a:solidFill>
              </a:rPr>
              <a:t>Input features</a:t>
            </a:r>
            <a:endParaRPr lang="en-US" sz="1200" dirty="0"/>
          </a:p>
        </p:txBody>
      </p:sp>
      <p:sp>
        <p:nvSpPr>
          <p:cNvPr id="12" name="Shape 10"/>
          <p:cNvSpPr/>
          <p:nvPr/>
        </p:nvSpPr>
        <p:spPr>
          <a:xfrm>
            <a:off x="1920240" y="2423160"/>
            <a:ext cx="1325880" cy="1097280"/>
          </a:xfrm>
          <a:prstGeom prst="roundRect">
            <a:avLst>
              <a:gd name="adj" fmla="val 8333"/>
            </a:avLst>
          </a:prstGeom>
          <a:solidFill>
            <a:schemeClr val="bg2"/>
          </a:solidFill>
          <a:ln/>
        </p:spPr>
      </p:sp>
      <p:sp>
        <p:nvSpPr>
          <p:cNvPr id="13" name="Text 11"/>
          <p:cNvSpPr txBox="1"/>
          <p:nvPr/>
        </p:nvSpPr>
        <p:spPr>
          <a:xfrm>
            <a:off x="1920240" y="2560320"/>
            <a:ext cx="1325880" cy="502920"/>
          </a:xfrm>
          <a:prstGeom prst="rect">
            <a:avLst/>
          </a:prstGeom>
          <a:noFill/>
          <a:ln/>
        </p:spPr>
        <p:txBody>
          <a:bodyPr wrap="square" lIns="0" tIns="0" rIns="0" bIns="0" rtlCol="0" anchor="t"/>
          <a:lstStyle/>
          <a:p>
            <a:pPr algn="ctr" indent="0" marL="0">
              <a:buNone/>
            </a:pPr>
            <a:r>
              <a:rPr lang="en-US" sz="2800" b="1" dirty="0">
                <a:solidFill>
                  <a:schemeClr val="accent1"/>
                </a:solidFill>
              </a:rPr>
              <a:t>100</a:t>
            </a:r>
            <a:endParaRPr lang="en-US" sz="2800" dirty="0"/>
          </a:p>
        </p:txBody>
      </p:sp>
      <p:sp>
        <p:nvSpPr>
          <p:cNvPr id="14" name="Text 12"/>
          <p:cNvSpPr txBox="1"/>
          <p:nvPr/>
        </p:nvSpPr>
        <p:spPr>
          <a:xfrm>
            <a:off x="1920240" y="3081528"/>
            <a:ext cx="1325880" cy="274320"/>
          </a:xfrm>
          <a:prstGeom prst="rect">
            <a:avLst/>
          </a:prstGeom>
          <a:noFill/>
          <a:ln/>
        </p:spPr>
        <p:txBody>
          <a:bodyPr wrap="square" lIns="0" tIns="0" rIns="0" bIns="0" rtlCol="0" anchor="t"/>
          <a:lstStyle/>
          <a:p>
            <a:pPr algn="ctr" indent="0" marL="0">
              <a:buNone/>
            </a:pPr>
            <a:r>
              <a:rPr lang="en-US" sz="1200" dirty="0">
                <a:solidFill>
                  <a:schemeClr val="tx1"/>
                </a:solidFill>
              </a:rPr>
              <a:t>Rows per crop</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520440" y="1188720"/>
          <a:ext cx="5166360" cy="914400"/>
        </p:xfrm>
        <a:graphic>
          <a:graphicData uri="http://schemas.openxmlformats.org/drawingml/2006/table">
            <a:tbl>
              <a:tblPr/>
              <a:tblGrid>
                <a:gridCol w="1371600"/>
                <a:gridCol w="2697480"/>
                <a:gridCol w="1097280"/>
              </a:tblGrid>
              <a:tr h="283464">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Unit</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1"/>
                    </a:solidFill>
                  </a:tcPr>
                </a:tc>
              </a:tr>
              <a:tr h="28346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Nitrogen in soil</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ratio</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r>
              <a:tr h="28346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Phosphorus in soil</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ratio</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r>
              <a:tr h="28346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K</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Potassium in soil</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ratio</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r>
              <a:tr h="28346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temperature</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Air temperature</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r>
              <a:tr h="28346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humidity</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Relative humidity</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r>
              <a:tr h="28346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ph</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Soil pH value</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0–14</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r>
              <a:tr h="28346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rainfall</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Rainfall</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mm</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r>
            </a:tbl>
          </a:graphicData>
        </a:graphic>
      </p:graphicFrame>
      <p:sp>
        <p:nvSpPr>
          <p:cNvPr id="16" name="Text 13"/>
          <p:cNvSpPr txBox="1"/>
          <p:nvPr/>
        </p:nvSpPr>
        <p:spPr>
          <a:xfrm>
            <a:off x="3520440" y="3520440"/>
            <a:ext cx="5166360" cy="256032"/>
          </a:xfrm>
          <a:prstGeom prst="rect">
            <a:avLst/>
          </a:prstGeom>
          <a:noFill/>
          <a:ln/>
        </p:spPr>
        <p:txBody>
          <a:bodyPr wrap="square" lIns="0" tIns="0" rIns="0" bIns="0" rtlCol="0" anchor="t"/>
          <a:lstStyle/>
          <a:p>
            <a:pPr indent="0" marL="0">
              <a:buNone/>
            </a:pPr>
            <a:r>
              <a:rPr lang="en-US" sz="1100" i="1" dirty="0">
                <a:solidFill>
                  <a:schemeClr val="accent6"/>
                </a:solidFill>
              </a:rPr>
              <a:t>Target: label (crop name, e.g. rice, maize, cotton, coffee)</a:t>
            </a:r>
            <a:endParaRPr lang="en-US" sz="1100" dirty="0"/>
          </a:p>
        </p:txBody>
      </p:sp>
      <p:sp>
        <p:nvSpPr>
          <p:cNvPr id="17" name="Shape 14"/>
          <p:cNvSpPr/>
          <p:nvPr/>
        </p:nvSpPr>
        <p:spPr>
          <a:xfrm>
            <a:off x="457200" y="3931920"/>
            <a:ext cx="8229600" cy="640080"/>
          </a:xfrm>
          <a:prstGeom prst="roundRect">
            <a:avLst>
              <a:gd name="adj" fmla="val 14286"/>
            </a:avLst>
          </a:prstGeom>
          <a:solidFill>
            <a:schemeClr val="bg2"/>
          </a:solidFill>
          <a:ln/>
        </p:spPr>
      </p:sp>
      <p:sp>
        <p:nvSpPr>
          <p:cNvPr id="18" name="Text 15"/>
          <p:cNvSpPr txBox="1"/>
          <p:nvPr/>
        </p:nvSpPr>
        <p:spPr>
          <a:xfrm>
            <a:off x="640080" y="3931920"/>
            <a:ext cx="1280160" cy="640080"/>
          </a:xfrm>
          <a:prstGeom prst="rect">
            <a:avLst/>
          </a:prstGeom>
          <a:noFill/>
          <a:ln/>
        </p:spPr>
        <p:txBody>
          <a:bodyPr wrap="square" lIns="0" tIns="0" rIns="0" bIns="0" rtlCol="0" anchor="ctr"/>
          <a:lstStyle/>
          <a:p>
            <a:pPr indent="0" marL="0">
              <a:buNone/>
            </a:pPr>
            <a:r>
              <a:rPr lang="en-US" sz="1400" b="1" dirty="0">
                <a:solidFill>
                  <a:schemeClr val="tx2"/>
                </a:solidFill>
              </a:rPr>
              <a:t>Preprocessing</a:t>
            </a:r>
            <a:endParaRPr lang="en-US" sz="1400" dirty="0"/>
          </a:p>
        </p:txBody>
      </p:sp>
      <p:sp>
        <p:nvSpPr>
          <p:cNvPr id="19" name="Shape 16"/>
          <p:cNvSpPr/>
          <p:nvPr/>
        </p:nvSpPr>
        <p:spPr>
          <a:xfrm>
            <a:off x="1874520" y="4087368"/>
            <a:ext cx="1325880" cy="329184"/>
          </a:xfrm>
          <a:prstGeom prst="roundRect">
            <a:avLst>
              <a:gd name="adj" fmla="val 50000"/>
            </a:avLst>
          </a:prstGeom>
          <a:solidFill>
            <a:schemeClr val="bg1"/>
          </a:solidFill>
          <a:ln w="12700">
            <a:solidFill>
              <a:schemeClr val="accent2"/>
            </a:solidFill>
            <a:prstDash val="solid"/>
          </a:ln>
        </p:spPr>
      </p:sp>
      <p:sp>
        <p:nvSpPr>
          <p:cNvPr id="20" name="Text 17"/>
          <p:cNvSpPr txBox="1"/>
          <p:nvPr/>
        </p:nvSpPr>
        <p:spPr>
          <a:xfrm>
            <a:off x="1874520" y="4087368"/>
            <a:ext cx="1325880" cy="329184"/>
          </a:xfrm>
          <a:prstGeom prst="rect">
            <a:avLst/>
          </a:prstGeom>
          <a:noFill/>
          <a:ln/>
        </p:spPr>
        <p:txBody>
          <a:bodyPr wrap="square" lIns="0" tIns="0" rIns="0" bIns="0" rtlCol="0" anchor="ctr"/>
          <a:lstStyle/>
          <a:p>
            <a:pPr algn="ctr" indent="0" marL="0">
              <a:buNone/>
            </a:pPr>
            <a:r>
              <a:rPr lang="en-US" sz="1200" b="1" dirty="0">
                <a:solidFill>
                  <a:schemeClr val="accent1"/>
                </a:solidFill>
              </a:rPr>
              <a:t>0 missing values</a:t>
            </a:r>
            <a:endParaRPr lang="en-US" sz="1200" dirty="0"/>
          </a:p>
        </p:txBody>
      </p:sp>
      <p:sp>
        <p:nvSpPr>
          <p:cNvPr id="21" name="Shape 18"/>
          <p:cNvSpPr/>
          <p:nvPr/>
        </p:nvSpPr>
        <p:spPr>
          <a:xfrm>
            <a:off x="3310128" y="4087368"/>
            <a:ext cx="1143000" cy="329184"/>
          </a:xfrm>
          <a:prstGeom prst="roundRect">
            <a:avLst>
              <a:gd name="adj" fmla="val 50000"/>
            </a:avLst>
          </a:prstGeom>
          <a:solidFill>
            <a:schemeClr val="bg1"/>
          </a:solidFill>
          <a:ln w="12700">
            <a:solidFill>
              <a:schemeClr val="accent2"/>
            </a:solidFill>
            <a:prstDash val="solid"/>
          </a:ln>
        </p:spPr>
      </p:sp>
      <p:sp>
        <p:nvSpPr>
          <p:cNvPr id="22" name="Text 19"/>
          <p:cNvSpPr txBox="1"/>
          <p:nvPr/>
        </p:nvSpPr>
        <p:spPr>
          <a:xfrm>
            <a:off x="3310128" y="4087368"/>
            <a:ext cx="1143000" cy="329184"/>
          </a:xfrm>
          <a:prstGeom prst="rect">
            <a:avLst/>
          </a:prstGeom>
          <a:noFill/>
          <a:ln/>
        </p:spPr>
        <p:txBody>
          <a:bodyPr wrap="square" lIns="0" tIns="0" rIns="0" bIns="0" rtlCol="0" anchor="ctr"/>
          <a:lstStyle/>
          <a:p>
            <a:pPr algn="ctr" indent="0" marL="0">
              <a:buNone/>
            </a:pPr>
            <a:r>
              <a:rPr lang="en-US" sz="1200" b="1" dirty="0">
                <a:solidFill>
                  <a:schemeClr val="accent1"/>
                </a:solidFill>
              </a:rPr>
              <a:t>0 duplicates</a:t>
            </a:r>
            <a:endParaRPr lang="en-US" sz="1200" dirty="0"/>
          </a:p>
        </p:txBody>
      </p:sp>
      <p:sp>
        <p:nvSpPr>
          <p:cNvPr id="23" name="Shape 20"/>
          <p:cNvSpPr/>
          <p:nvPr/>
        </p:nvSpPr>
        <p:spPr>
          <a:xfrm>
            <a:off x="4562856" y="4087368"/>
            <a:ext cx="2103120" cy="329184"/>
          </a:xfrm>
          <a:prstGeom prst="roundRect">
            <a:avLst>
              <a:gd name="adj" fmla="val 50000"/>
            </a:avLst>
          </a:prstGeom>
          <a:solidFill>
            <a:schemeClr val="bg1"/>
          </a:solidFill>
          <a:ln w="12700">
            <a:solidFill>
              <a:schemeClr val="accent2"/>
            </a:solidFill>
            <a:prstDash val="solid"/>
          </a:ln>
        </p:spPr>
      </p:sp>
      <p:sp>
        <p:nvSpPr>
          <p:cNvPr id="24" name="Text 21"/>
          <p:cNvSpPr txBox="1"/>
          <p:nvPr/>
        </p:nvSpPr>
        <p:spPr>
          <a:xfrm>
            <a:off x="4562856" y="4087368"/>
            <a:ext cx="2103120" cy="329184"/>
          </a:xfrm>
          <a:prstGeom prst="rect">
            <a:avLst/>
          </a:prstGeom>
          <a:noFill/>
          <a:ln/>
        </p:spPr>
        <p:txBody>
          <a:bodyPr wrap="square" lIns="0" tIns="0" rIns="0" bIns="0" rtlCol="0" anchor="ctr"/>
          <a:lstStyle/>
          <a:p>
            <a:pPr algn="ctr" indent="0" marL="0">
              <a:buNone/>
            </a:pPr>
            <a:r>
              <a:rPr lang="en-US" sz="1200" b="1" dirty="0">
                <a:solidFill>
                  <a:schemeClr val="accent1"/>
                </a:solidFill>
              </a:rPr>
              <a:t>StandardScaler (LR, SVM, KNN)</a:t>
            </a:r>
            <a:endParaRPr lang="en-US" sz="1200" dirty="0"/>
          </a:p>
        </p:txBody>
      </p:sp>
      <p:sp>
        <p:nvSpPr>
          <p:cNvPr id="25" name="Shape 22"/>
          <p:cNvSpPr/>
          <p:nvPr/>
        </p:nvSpPr>
        <p:spPr>
          <a:xfrm>
            <a:off x="6775704" y="4087368"/>
            <a:ext cx="1691640" cy="329184"/>
          </a:xfrm>
          <a:prstGeom prst="roundRect">
            <a:avLst>
              <a:gd name="adj" fmla="val 50000"/>
            </a:avLst>
          </a:prstGeom>
          <a:solidFill>
            <a:schemeClr val="bg1"/>
          </a:solidFill>
          <a:ln w="12700">
            <a:solidFill>
              <a:schemeClr val="accent2"/>
            </a:solidFill>
            <a:prstDash val="solid"/>
          </a:ln>
        </p:spPr>
      </p:sp>
      <p:sp>
        <p:nvSpPr>
          <p:cNvPr id="26" name="Text 23"/>
          <p:cNvSpPr txBox="1"/>
          <p:nvPr/>
        </p:nvSpPr>
        <p:spPr>
          <a:xfrm>
            <a:off x="6775704" y="4087368"/>
            <a:ext cx="1691640" cy="329184"/>
          </a:xfrm>
          <a:prstGeom prst="rect">
            <a:avLst/>
          </a:prstGeom>
          <a:noFill/>
          <a:ln/>
        </p:spPr>
        <p:txBody>
          <a:bodyPr wrap="square" lIns="0" tIns="0" rIns="0" bIns="0" rtlCol="0" anchor="ctr"/>
          <a:lstStyle/>
          <a:p>
            <a:pPr algn="ctr" indent="0" marL="0">
              <a:buNone/>
            </a:pPr>
            <a:r>
              <a:rPr lang="en-US" sz="1200" b="1" dirty="0">
                <a:solidFill>
                  <a:schemeClr val="accent1"/>
                </a:solidFill>
              </a:rPr>
              <a:t>80/20 stratified split</a:t>
            </a:r>
            <a:endParaRPr lang="en-US" sz="12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Algorithms / Models</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1051560" y="1170432"/>
          <a:ext cx="7635240" cy="914400"/>
        </p:xfrm>
        <a:graphic>
          <a:graphicData uri="http://schemas.openxmlformats.org/drawingml/2006/table">
            <a:tbl>
              <a:tblPr/>
              <a:tblGrid>
                <a:gridCol w="2240280"/>
                <a:gridCol w="4206240"/>
                <a:gridCol w="1188720"/>
              </a:tblGrid>
              <a:tr h="347472">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Simple idea</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Setting</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1"/>
                    </a:solidFill>
                  </a:tcPr>
                </a:tc>
              </a:tr>
              <a:tr h="62179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Multinomial Logistic Regression</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Draws linear boundaries and gives a probability for each of the 22 crops</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lbfgs, C = 1.0</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r>
              <a:tr h="62179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5"/>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Many decision trees vote; the majority wins, which reduces overfitting</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5"/>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200 trees</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5"/>
                    </a:solidFill>
                  </a:tcPr>
                </a:tc>
              </a:tr>
              <a:tr h="62179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Support Vector Machine</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Finds the widest gap between crops using a curved (RBF) boundary</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RBF kernel</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r>
              <a:tr h="62179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K-Nearest Neighbors</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Looks at the 5 most similar farms in the data and takes their crop</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k = 5</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r>
              <a:tr h="62179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Decision Tree</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Asks yes/no questions like "rainfall &gt; 150 mm?" to reach a crop</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single tree</a:t>
                      </a:r>
                      <a:endParaRPr lang="en-US" sz="1300" dirty="0">
                        <a:latin typeface="Calibri" charset="0"/>
                        <a:ea typeface="Calibri" charset="0"/>
                        <a:cs typeface="Calibri" charset="0"/>
                      </a:endParaRPr>
                    </a:p>
                  </a:txBody>
                  <a:tcPr marL="91440" marR="91440"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r>
            </a:tbl>
          </a:graphicData>
        </a:graphic>
      </p:graphicFrame>
      <p:sp>
        <p:nvSpPr>
          <p:cNvPr id="4" name="Shape 1"/>
          <p:cNvSpPr/>
          <p:nvPr/>
        </p:nvSpPr>
        <p:spPr>
          <a:xfrm>
            <a:off x="457200" y="160020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571500" y="1714500"/>
            <a:ext cx="228600" cy="228600"/>
          </a:xfrm>
          <a:prstGeom prst="rect">
            <a:avLst/>
          </a:prstGeom>
        </p:spPr>
      </p:pic>
      <p:sp>
        <p:nvSpPr>
          <p:cNvPr id="6" name="Shape 2"/>
          <p:cNvSpPr/>
          <p:nvPr/>
        </p:nvSpPr>
        <p:spPr>
          <a:xfrm>
            <a:off x="457200" y="2221992"/>
            <a:ext cx="457200" cy="457200"/>
          </a:xfrm>
          <a:prstGeom prst="ellipse">
            <a:avLst/>
          </a:prstGeom>
          <a:solidFill>
            <a:schemeClr val="tx2"/>
          </a:solidFill>
          <a:ln/>
        </p:spPr>
      </p:sp>
      <p:pic>
        <p:nvPicPr>
          <p:cNvPr id="7" name="Image 1" descr="preencoded.png">    </p:cNvPr>
          <p:cNvPicPr>
            <a:picLocks noChangeAspect="1"/>
          </p:cNvPicPr>
          <p:nvPr/>
        </p:nvPicPr>
        <p:blipFill>
          <a:blip r:embed="rId2"/>
          <a:stretch>
            <a:fillRect/>
          </a:stretch>
        </p:blipFill>
        <p:spPr>
          <a:xfrm>
            <a:off x="571500" y="2336292"/>
            <a:ext cx="228600" cy="228600"/>
          </a:xfrm>
          <a:prstGeom prst="rect">
            <a:avLst/>
          </a:prstGeom>
        </p:spPr>
      </p:pic>
      <p:sp>
        <p:nvSpPr>
          <p:cNvPr id="8" name="Shape 3"/>
          <p:cNvSpPr/>
          <p:nvPr/>
        </p:nvSpPr>
        <p:spPr>
          <a:xfrm>
            <a:off x="457200" y="2843784"/>
            <a:ext cx="457200" cy="457200"/>
          </a:xfrm>
          <a:prstGeom prst="ellipse">
            <a:avLst/>
          </a:prstGeom>
          <a:solidFill>
            <a:schemeClr val="accent1"/>
          </a:solidFill>
          <a:ln/>
        </p:spPr>
      </p:sp>
      <p:pic>
        <p:nvPicPr>
          <p:cNvPr id="9" name="Image 2" descr="preencoded.png">    </p:cNvPr>
          <p:cNvPicPr>
            <a:picLocks noChangeAspect="1"/>
          </p:cNvPicPr>
          <p:nvPr/>
        </p:nvPicPr>
        <p:blipFill>
          <a:blip r:embed="rId3"/>
          <a:stretch>
            <a:fillRect/>
          </a:stretch>
        </p:blipFill>
        <p:spPr>
          <a:xfrm>
            <a:off x="571500" y="2958084"/>
            <a:ext cx="228600" cy="228600"/>
          </a:xfrm>
          <a:prstGeom prst="rect">
            <a:avLst/>
          </a:prstGeom>
        </p:spPr>
      </p:pic>
      <p:sp>
        <p:nvSpPr>
          <p:cNvPr id="10" name="Shape 4"/>
          <p:cNvSpPr/>
          <p:nvPr/>
        </p:nvSpPr>
        <p:spPr>
          <a:xfrm>
            <a:off x="457200" y="3465576"/>
            <a:ext cx="457200" cy="457200"/>
          </a:xfrm>
          <a:prstGeom prst="ellipse">
            <a:avLst/>
          </a:prstGeom>
          <a:solidFill>
            <a:schemeClr val="accent1"/>
          </a:solidFill>
          <a:ln/>
        </p:spPr>
      </p:sp>
      <p:pic>
        <p:nvPicPr>
          <p:cNvPr id="11" name="Image 3" descr="preencoded.png">    </p:cNvPr>
          <p:cNvPicPr>
            <a:picLocks noChangeAspect="1"/>
          </p:cNvPicPr>
          <p:nvPr/>
        </p:nvPicPr>
        <p:blipFill>
          <a:blip r:embed="rId4"/>
          <a:stretch>
            <a:fillRect/>
          </a:stretch>
        </p:blipFill>
        <p:spPr>
          <a:xfrm>
            <a:off x="571500" y="3579876"/>
            <a:ext cx="228600" cy="228600"/>
          </a:xfrm>
          <a:prstGeom prst="rect">
            <a:avLst/>
          </a:prstGeom>
        </p:spPr>
      </p:pic>
      <p:sp>
        <p:nvSpPr>
          <p:cNvPr id="12" name="Shape 5"/>
          <p:cNvSpPr/>
          <p:nvPr/>
        </p:nvSpPr>
        <p:spPr>
          <a:xfrm>
            <a:off x="457200" y="4087368"/>
            <a:ext cx="457200" cy="457200"/>
          </a:xfrm>
          <a:prstGeom prst="ellipse">
            <a:avLst/>
          </a:prstGeom>
          <a:solidFill>
            <a:schemeClr val="accent1"/>
          </a:solidFill>
          <a:ln/>
        </p:spPr>
      </p:sp>
      <p:pic>
        <p:nvPicPr>
          <p:cNvPr id="13" name="Image 4" descr="preencoded.png">    </p:cNvPr>
          <p:cNvPicPr>
            <a:picLocks noChangeAspect="1"/>
          </p:cNvPicPr>
          <p:nvPr/>
        </p:nvPicPr>
        <p:blipFill>
          <a:blip r:embed="rId5"/>
          <a:stretch>
            <a:fillRect/>
          </a:stretch>
        </p:blipFill>
        <p:spPr>
          <a:xfrm>
            <a:off x="571500" y="4201668"/>
            <a:ext cx="228600" cy="228600"/>
          </a:xfrm>
          <a:prstGeom prst="rect">
            <a:avLst/>
          </a:prstGeom>
        </p:spPr>
      </p:pic>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Model Evaluation</a:t>
            </a:r>
            <a:endParaRPr lang="en-US" sz="3200" dirty="0"/>
          </a:p>
        </p:txBody>
      </p:sp>
      <p:graphicFrame>
        <p:nvGraphicFramePr>
          <p:cNvPr id="3" name="Chart 0" descr=""/>
          <p:cNvGraphicFramePr/>
          <p:nvPr/>
        </p:nvGraphicFramePr>
        <p:xfrm>
          <a:off x="365760" y="109728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389120"/>
            <a:ext cx="4389120" cy="228600"/>
          </a:xfrm>
          <a:prstGeom prst="rect">
            <a:avLst/>
          </a:prstGeom>
          <a:noFill/>
          <a:ln/>
        </p:spPr>
        <p:txBody>
          <a:bodyPr wrap="square" lIns="0" tIns="0" rIns="0" bIns="0" rtlCol="0" anchor="t"/>
          <a:lstStyle/>
          <a:p>
            <a:pPr indent="0" marL="0">
              <a:buNone/>
            </a:pPr>
            <a:r>
              <a:rPr lang="en-US" sz="1000" i="1" dirty="0">
                <a:solidFill>
                  <a:schemeClr val="accent6"/>
                </a:solidFill>
              </a:rPr>
              <a:t>Axis starts at 90% to show the differences</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166360" y="1234440"/>
          <a:ext cx="3520440" cy="914400"/>
        </p:xfrm>
        <a:graphic>
          <a:graphicData uri="http://schemas.openxmlformats.org/drawingml/2006/table">
            <a:tbl>
              <a:tblPr/>
              <a:tblGrid>
                <a:gridCol w="1143000"/>
                <a:gridCol w="594360"/>
                <a:gridCol w="594360"/>
                <a:gridCol w="594360"/>
                <a:gridCol w="594360"/>
              </a:tblGrid>
              <a:tr h="38404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Acc</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Prec</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Rec</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1"/>
                    </a:solidFill>
                  </a:tcPr>
                </a:tc>
              </a:tr>
              <a:tr h="384048">
                <a:tc>
                  <a:txBody>
                    <a:bodyPr/>
                    <a:lstStyle/>
                    <a:p>
                      <a:pPr algn="l" indent="0" marL="0">
                        <a:buNone/>
                      </a:pPr>
                      <a:r>
                        <a:rPr lang="en-US" sz="1200" b="1" dirty="0">
                          <a:solidFill>
                            <a:schemeClr val="tx2"/>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5"/>
                    </a:solidFill>
                  </a:tcPr>
                </a:tc>
                <a:tc>
                  <a:txBody>
                    <a:bodyPr/>
                    <a:lstStyle/>
                    <a:p>
                      <a:pPr algn="ctr" indent="0" marL="0">
                        <a:buNone/>
                      </a:pPr>
                      <a:r>
                        <a:rPr lang="en-US" sz="1200" b="1" dirty="0">
                          <a:solidFill>
                            <a:schemeClr val="tx2"/>
                          </a:solidFill>
                          <a:latin typeface="Calibri" pitchFamily="34" charset="0"/>
                          <a:ea typeface="Calibri" pitchFamily="34" charset="-122"/>
                          <a:cs typeface="Calibri" pitchFamily="34" charset="-120"/>
                        </a:rPr>
                        <a:t>99.55</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5"/>
                    </a:solidFill>
                  </a:tcPr>
                </a:tc>
                <a:tc>
                  <a:txBody>
                    <a:bodyPr/>
                    <a:lstStyle/>
                    <a:p>
                      <a:pPr algn="ctr" indent="0" marL="0">
                        <a:buNone/>
                      </a:pPr>
                      <a:r>
                        <a:rPr lang="en-US" sz="1200" b="1" dirty="0">
                          <a:solidFill>
                            <a:schemeClr val="tx2"/>
                          </a:solidFill>
                          <a:latin typeface="Calibri" pitchFamily="34" charset="0"/>
                          <a:ea typeface="Calibri" pitchFamily="34" charset="-122"/>
                          <a:cs typeface="Calibri" pitchFamily="34" charset="-120"/>
                        </a:rPr>
                        <a:t>99.57</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5"/>
                    </a:solidFill>
                  </a:tcPr>
                </a:tc>
                <a:tc>
                  <a:txBody>
                    <a:bodyPr/>
                    <a:lstStyle/>
                    <a:p>
                      <a:pPr algn="ctr" indent="0" marL="0">
                        <a:buNone/>
                      </a:pPr>
                      <a:r>
                        <a:rPr lang="en-US" sz="1200" b="1" dirty="0">
                          <a:solidFill>
                            <a:schemeClr val="tx2"/>
                          </a:solidFill>
                          <a:latin typeface="Calibri" pitchFamily="34" charset="0"/>
                          <a:ea typeface="Calibri" pitchFamily="34" charset="-122"/>
                          <a:cs typeface="Calibri" pitchFamily="34" charset="-120"/>
                        </a:rPr>
                        <a:t>99.55</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5"/>
                    </a:solidFill>
                  </a:tcPr>
                </a:tc>
                <a:tc>
                  <a:txBody>
                    <a:bodyPr/>
                    <a:lstStyle/>
                    <a:p>
                      <a:pPr algn="ctr" indent="0" marL="0">
                        <a:buNone/>
                      </a:pPr>
                      <a:r>
                        <a:rPr lang="en-US" sz="1200" b="1" dirty="0">
                          <a:solidFill>
                            <a:schemeClr val="tx2"/>
                          </a:solidFill>
                          <a:latin typeface="Calibri" pitchFamily="34" charset="0"/>
                          <a:ea typeface="Calibri" pitchFamily="34" charset="-122"/>
                          <a:cs typeface="Calibri" pitchFamily="34" charset="-120"/>
                        </a:rPr>
                        <a:t>99.55</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5"/>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SVM (RBF)</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98.41</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98.56</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98.41</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98.40</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KNN</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97.95</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98.04</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97.95</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97.93</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Decision Tree</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97.95</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98.06</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97.95</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97.94</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r>
              <a:tr h="384048">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Logistic Reg.</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97.27</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97.40</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97.27</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97.25</a:t>
                      </a:r>
                      <a:endParaRPr lang="en-US" sz="1200" dirty="0">
                        <a:latin typeface="Calibri" charset="0"/>
                        <a:ea typeface="Calibri" charset="0"/>
                        <a:cs typeface="Calibri" charset="0"/>
                      </a:endParaRPr>
                    </a:p>
                  </a:txBody>
                  <a:tcPr marL="54864" marR="54864"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5166360" y="3703320"/>
            <a:ext cx="3520440" cy="685800"/>
          </a:xfrm>
          <a:prstGeom prst="rect">
            <a:avLst/>
          </a:prstGeom>
          <a:noFill/>
          <a:ln/>
        </p:spPr>
        <p:txBody>
          <a:bodyPr wrap="square" lIns="0" tIns="0" rIns="0" bIns="0" rtlCol="0" anchor="t"/>
          <a:lstStyle/>
          <a:p>
            <a:pPr indent="0" marL="0">
              <a:buNone/>
            </a:pPr>
            <a:r>
              <a:rPr lang="en-US" sz="1100" dirty="0">
                <a:solidFill>
                  <a:schemeClr val="accent6"/>
                </a:solidFill>
              </a:rPr>
              <a:t>All values in %. Precision, recall and F1 are macro-averaged over 22 crops on 440 unseen test records (20% hold-out).</a:t>
            </a:r>
            <a:endParaRPr lang="en-US" sz="11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Results</a:t>
            </a:r>
            <a:endParaRPr lang="en-US" sz="3200" dirty="0"/>
          </a:p>
        </p:txBody>
      </p:sp>
      <p:sp>
        <p:nvSpPr>
          <p:cNvPr id="3" name="best-model"/>
          <p:cNvSpPr/>
          <p:nvPr/>
        </p:nvSpPr>
        <p:spPr>
          <a:xfrm>
            <a:off x="457200" y="1188720"/>
            <a:ext cx="3566160" cy="3383280"/>
          </a:xfrm>
          <a:prstGeom prst="roundRect">
            <a:avLst>
              <a:gd name="adj" fmla="val 2703"/>
            </a:avLst>
          </a:prstGeom>
          <a:solidFill>
            <a:schemeClr val="tx2"/>
          </a:solidFill>
          <a:ln/>
        </p:spPr>
      </p:sp>
      <p:sp>
        <p:nvSpPr>
          <p:cNvPr id="4" name="Text 2"/>
          <p:cNvSpPr txBox="1"/>
          <p:nvPr/>
        </p:nvSpPr>
        <p:spPr>
          <a:xfrm>
            <a:off x="731520" y="1371600"/>
            <a:ext cx="3017520" cy="256032"/>
          </a:xfrm>
          <a:prstGeom prst="rect">
            <a:avLst/>
          </a:prstGeom>
          <a:noFill/>
          <a:ln/>
        </p:spPr>
        <p:txBody>
          <a:bodyPr wrap="square" lIns="0" tIns="0" rIns="0" bIns="0" rtlCol="0" anchor="t"/>
          <a:lstStyle/>
          <a:p>
            <a:pPr indent="0" marL="0">
              <a:buNone/>
            </a:pPr>
            <a:r>
              <a:rPr lang="en-US" sz="1100" b="1" spc="100" kern="0" dirty="0">
                <a:solidFill>
                  <a:schemeClr val="accent3"/>
                </a:solidFill>
              </a:rPr>
              <a:t>BEST MODEL</a:t>
            </a:r>
            <a:endParaRPr lang="en-US" sz="1100" dirty="0"/>
          </a:p>
        </p:txBody>
      </p:sp>
      <p:sp>
        <p:nvSpPr>
          <p:cNvPr id="5" name="Text 3"/>
          <p:cNvSpPr txBox="1"/>
          <p:nvPr/>
        </p:nvSpPr>
        <p:spPr>
          <a:xfrm>
            <a:off x="731520" y="1645920"/>
            <a:ext cx="3017520" cy="411480"/>
          </a:xfrm>
          <a:prstGeom prst="rect">
            <a:avLst/>
          </a:prstGeom>
          <a:noFill/>
          <a:ln/>
        </p:spPr>
        <p:txBody>
          <a:bodyPr wrap="square" lIns="0" tIns="0" rIns="0" bIns="0" rtlCol="0" anchor="t"/>
          <a:lstStyle/>
          <a:p>
            <a:pPr indent="0" marL="0">
              <a:buNone/>
            </a:pPr>
            <a:r>
              <a:rPr lang="en-US" sz="2200" b="1" dirty="0">
                <a:solidFill>
                  <a:schemeClr val="bg1"/>
                </a:solidFill>
              </a:rPr>
              <a:t>Random Forest</a:t>
            </a:r>
            <a:endParaRPr lang="en-US" sz="2200" dirty="0"/>
          </a:p>
        </p:txBody>
      </p:sp>
      <p:sp>
        <p:nvSpPr>
          <p:cNvPr id="6" name="Text 4"/>
          <p:cNvSpPr txBox="1"/>
          <p:nvPr/>
        </p:nvSpPr>
        <p:spPr>
          <a:xfrm>
            <a:off x="731520" y="2103120"/>
            <a:ext cx="3017520" cy="868680"/>
          </a:xfrm>
          <a:prstGeom prst="rect">
            <a:avLst/>
          </a:prstGeom>
          <a:noFill/>
          <a:ln/>
        </p:spPr>
        <p:txBody>
          <a:bodyPr wrap="square" lIns="0" tIns="0" rIns="0" bIns="0" rtlCol="0" anchor="t"/>
          <a:lstStyle/>
          <a:p>
            <a:pPr indent="0" marL="0">
              <a:buNone/>
            </a:pPr>
            <a:r>
              <a:rPr lang="en-US" sz="5400" b="1" dirty="0">
                <a:solidFill>
                  <a:schemeClr val="accent3"/>
                </a:solidFill>
              </a:rPr>
              <a:t>99.55%</a:t>
            </a:r>
            <a:endParaRPr lang="en-US" sz="5400" dirty="0"/>
          </a:p>
        </p:txBody>
      </p:sp>
      <p:sp>
        <p:nvSpPr>
          <p:cNvPr id="7" name="Text 5"/>
          <p:cNvSpPr txBox="1"/>
          <p:nvPr/>
        </p:nvSpPr>
        <p:spPr>
          <a:xfrm>
            <a:off x="731520" y="2971800"/>
            <a:ext cx="3017520" cy="274320"/>
          </a:xfrm>
          <a:prstGeom prst="rect">
            <a:avLst/>
          </a:prstGeom>
          <a:noFill/>
          <a:ln/>
        </p:spPr>
        <p:txBody>
          <a:bodyPr wrap="square" lIns="0" tIns="0" rIns="0" bIns="0" rtlCol="0" anchor="t"/>
          <a:lstStyle/>
          <a:p>
            <a:pPr indent="0" marL="0">
              <a:buNone/>
            </a:pPr>
            <a:r>
              <a:rPr lang="en-US" sz="1300" dirty="0">
                <a:solidFill>
                  <a:schemeClr val="accent5"/>
                </a:solidFill>
              </a:rPr>
              <a:t>test accuracy  ·  438 of 440 correct</a:t>
            </a:r>
            <a:endParaRPr lang="en-US" sz="1300" dirty="0"/>
          </a:p>
        </p:txBody>
      </p:sp>
      <p:sp>
        <p:nvSpPr>
          <p:cNvPr id="8" name="Text 6"/>
          <p:cNvSpPr txBox="1"/>
          <p:nvPr/>
        </p:nvSpPr>
        <p:spPr>
          <a:xfrm>
            <a:off x="731520" y="3520440"/>
            <a:ext cx="914400" cy="365760"/>
          </a:xfrm>
          <a:prstGeom prst="rect">
            <a:avLst/>
          </a:prstGeom>
          <a:noFill/>
          <a:ln/>
        </p:spPr>
        <p:txBody>
          <a:bodyPr wrap="square" lIns="0" tIns="0" rIns="0" bIns="0" rtlCol="0" anchor="t"/>
          <a:lstStyle/>
          <a:p>
            <a:pPr indent="0" marL="0">
              <a:buNone/>
            </a:pPr>
            <a:r>
              <a:rPr lang="en-US" sz="1800" b="1" dirty="0">
                <a:solidFill>
                  <a:schemeClr val="bg1"/>
                </a:solidFill>
              </a:rPr>
              <a:t>99.57</a:t>
            </a:r>
            <a:endParaRPr lang="en-US" sz="1800" dirty="0"/>
          </a:p>
        </p:txBody>
      </p:sp>
      <p:sp>
        <p:nvSpPr>
          <p:cNvPr id="9" name="Text 7"/>
          <p:cNvSpPr txBox="1"/>
          <p:nvPr/>
        </p:nvSpPr>
        <p:spPr>
          <a:xfrm>
            <a:off x="731520" y="3886200"/>
            <a:ext cx="914400" cy="256032"/>
          </a:xfrm>
          <a:prstGeom prst="rect">
            <a:avLst/>
          </a:prstGeom>
          <a:noFill/>
          <a:ln/>
        </p:spPr>
        <p:txBody>
          <a:bodyPr wrap="square" lIns="0" tIns="0" rIns="0" bIns="0" rtlCol="0" anchor="t"/>
          <a:lstStyle/>
          <a:p>
            <a:pPr indent="0" marL="0">
              <a:buNone/>
            </a:pPr>
            <a:r>
              <a:rPr lang="en-US" sz="1100" dirty="0">
                <a:solidFill>
                  <a:schemeClr val="accent5"/>
                </a:solidFill>
              </a:rPr>
              <a:t>Precision</a:t>
            </a:r>
            <a:endParaRPr lang="en-US" sz="1100" dirty="0"/>
          </a:p>
        </p:txBody>
      </p:sp>
      <p:sp>
        <p:nvSpPr>
          <p:cNvPr id="10" name="Text 8"/>
          <p:cNvSpPr txBox="1"/>
          <p:nvPr/>
        </p:nvSpPr>
        <p:spPr>
          <a:xfrm>
            <a:off x="1755648" y="3520440"/>
            <a:ext cx="914400" cy="365760"/>
          </a:xfrm>
          <a:prstGeom prst="rect">
            <a:avLst/>
          </a:prstGeom>
          <a:noFill/>
          <a:ln/>
        </p:spPr>
        <p:txBody>
          <a:bodyPr wrap="square" lIns="0" tIns="0" rIns="0" bIns="0" rtlCol="0" anchor="t"/>
          <a:lstStyle/>
          <a:p>
            <a:pPr indent="0" marL="0">
              <a:buNone/>
            </a:pPr>
            <a:r>
              <a:rPr lang="en-US" sz="1800" b="1" dirty="0">
                <a:solidFill>
                  <a:schemeClr val="bg1"/>
                </a:solidFill>
              </a:rPr>
              <a:t>99.55</a:t>
            </a:r>
            <a:endParaRPr lang="en-US" sz="1800" dirty="0"/>
          </a:p>
        </p:txBody>
      </p:sp>
      <p:sp>
        <p:nvSpPr>
          <p:cNvPr id="11" name="Text 9"/>
          <p:cNvSpPr txBox="1"/>
          <p:nvPr/>
        </p:nvSpPr>
        <p:spPr>
          <a:xfrm>
            <a:off x="1755648" y="3886200"/>
            <a:ext cx="914400" cy="256032"/>
          </a:xfrm>
          <a:prstGeom prst="rect">
            <a:avLst/>
          </a:prstGeom>
          <a:noFill/>
          <a:ln/>
        </p:spPr>
        <p:txBody>
          <a:bodyPr wrap="square" lIns="0" tIns="0" rIns="0" bIns="0" rtlCol="0" anchor="t"/>
          <a:lstStyle/>
          <a:p>
            <a:pPr indent="0" marL="0">
              <a:buNone/>
            </a:pPr>
            <a:r>
              <a:rPr lang="en-US" sz="1100" dirty="0">
                <a:solidFill>
                  <a:schemeClr val="accent5"/>
                </a:solidFill>
              </a:rPr>
              <a:t>Recall</a:t>
            </a:r>
            <a:endParaRPr lang="en-US" sz="1100" dirty="0"/>
          </a:p>
        </p:txBody>
      </p:sp>
      <p:sp>
        <p:nvSpPr>
          <p:cNvPr id="12" name="Text 10"/>
          <p:cNvSpPr txBox="1"/>
          <p:nvPr/>
        </p:nvSpPr>
        <p:spPr>
          <a:xfrm>
            <a:off x="2779776" y="3520440"/>
            <a:ext cx="914400" cy="365760"/>
          </a:xfrm>
          <a:prstGeom prst="rect">
            <a:avLst/>
          </a:prstGeom>
          <a:noFill/>
          <a:ln/>
        </p:spPr>
        <p:txBody>
          <a:bodyPr wrap="square" lIns="0" tIns="0" rIns="0" bIns="0" rtlCol="0" anchor="t"/>
          <a:lstStyle/>
          <a:p>
            <a:pPr indent="0" marL="0">
              <a:buNone/>
            </a:pPr>
            <a:r>
              <a:rPr lang="en-US" sz="1800" b="1" dirty="0">
                <a:solidFill>
                  <a:schemeClr val="bg1"/>
                </a:solidFill>
              </a:rPr>
              <a:t>99.55</a:t>
            </a:r>
            <a:endParaRPr lang="en-US" sz="1800" dirty="0"/>
          </a:p>
        </p:txBody>
      </p:sp>
      <p:sp>
        <p:nvSpPr>
          <p:cNvPr id="13" name="Text 11"/>
          <p:cNvSpPr txBox="1"/>
          <p:nvPr/>
        </p:nvSpPr>
        <p:spPr>
          <a:xfrm>
            <a:off x="2779776" y="3886200"/>
            <a:ext cx="914400" cy="256032"/>
          </a:xfrm>
          <a:prstGeom prst="rect">
            <a:avLst/>
          </a:prstGeom>
          <a:noFill/>
          <a:ln/>
        </p:spPr>
        <p:txBody>
          <a:bodyPr wrap="square" lIns="0" tIns="0" rIns="0" bIns="0" rtlCol="0" anchor="t"/>
          <a:lstStyle/>
          <a:p>
            <a:pPr indent="0" marL="0">
              <a:buNone/>
            </a:pPr>
            <a:r>
              <a:rPr lang="en-US" sz="1100" dirty="0">
                <a:solidFill>
                  <a:schemeClr val="accent5"/>
                </a:solidFill>
              </a:rPr>
              <a:t>F1-score</a:t>
            </a:r>
            <a:endParaRPr lang="en-US" sz="1100" dirty="0"/>
          </a:p>
        </p:txBody>
      </p:sp>
      <p:sp>
        <p:nvSpPr>
          <p:cNvPr id="14" name="Text 12"/>
          <p:cNvSpPr txBox="1"/>
          <p:nvPr/>
        </p:nvSpPr>
        <p:spPr>
          <a:xfrm>
            <a:off x="4343400" y="1143000"/>
            <a:ext cx="4297680" cy="320040"/>
          </a:xfrm>
          <a:prstGeom prst="rect">
            <a:avLst/>
          </a:prstGeom>
          <a:noFill/>
          <a:ln/>
        </p:spPr>
        <p:txBody>
          <a:bodyPr wrap="square" lIns="0" tIns="0" rIns="0" bIns="0" rtlCol="0" anchor="t"/>
          <a:lstStyle/>
          <a:p>
            <a:pPr indent="0" marL="0">
              <a:buNone/>
            </a:pPr>
            <a:r>
              <a:rPr lang="en-US" sz="1700" b="1" dirty="0">
                <a:solidFill>
                  <a:schemeClr val="tx2"/>
                </a:solidFill>
              </a:rPr>
              <a:t>Sample prediction</a:t>
            </a:r>
            <a:endParaRPr lang="en-US" sz="1700" dirty="0"/>
          </a:p>
        </p:txBody>
      </p:sp>
      <p:sp>
        <p:nvSpPr>
          <p:cNvPr id="15" name="Shape 13"/>
          <p:cNvSpPr/>
          <p:nvPr/>
        </p:nvSpPr>
        <p:spPr>
          <a:xfrm>
            <a:off x="4343400" y="1554480"/>
            <a:ext cx="777240" cy="310896"/>
          </a:xfrm>
          <a:prstGeom prst="roundRect">
            <a:avLst>
              <a:gd name="adj" fmla="val 50000"/>
            </a:avLst>
          </a:prstGeom>
          <a:solidFill>
            <a:schemeClr val="bg2"/>
          </a:solidFill>
          <a:ln/>
        </p:spPr>
      </p:sp>
      <p:sp>
        <p:nvSpPr>
          <p:cNvPr id="16" name="Text 14"/>
          <p:cNvSpPr txBox="1"/>
          <p:nvPr/>
        </p:nvSpPr>
        <p:spPr>
          <a:xfrm>
            <a:off x="4343400" y="1554480"/>
            <a:ext cx="777240" cy="310896"/>
          </a:xfrm>
          <a:prstGeom prst="rect">
            <a:avLst/>
          </a:prstGeom>
          <a:noFill/>
          <a:ln/>
        </p:spPr>
        <p:txBody>
          <a:bodyPr wrap="square" lIns="0" tIns="0" rIns="0" bIns="0" rtlCol="0" anchor="ctr"/>
          <a:lstStyle/>
          <a:p>
            <a:pPr algn="ctr" indent="0" marL="0">
              <a:buNone/>
            </a:pPr>
            <a:r>
              <a:rPr lang="en-US" sz="1200" dirty="0">
                <a:solidFill>
                  <a:schemeClr val="accent6"/>
                </a:solidFill>
              </a:rPr>
              <a:t>N </a:t>
            </a:r>
            <a:pPr algn="ctr" indent="0" marL="0">
              <a:buNone/>
            </a:pPr>
            <a:r>
              <a:rPr lang="en-US" sz="1200" b="1" dirty="0">
                <a:solidFill>
                  <a:schemeClr val="tx2"/>
                </a:solidFill>
              </a:rPr>
              <a:t>80</a:t>
            </a:r>
            <a:endParaRPr lang="en-US" sz="1200" dirty="0"/>
          </a:p>
        </p:txBody>
      </p:sp>
      <p:sp>
        <p:nvSpPr>
          <p:cNvPr id="17" name="Shape 15"/>
          <p:cNvSpPr/>
          <p:nvPr/>
        </p:nvSpPr>
        <p:spPr>
          <a:xfrm>
            <a:off x="5212080" y="1554480"/>
            <a:ext cx="777240" cy="310896"/>
          </a:xfrm>
          <a:prstGeom prst="roundRect">
            <a:avLst>
              <a:gd name="adj" fmla="val 50000"/>
            </a:avLst>
          </a:prstGeom>
          <a:solidFill>
            <a:schemeClr val="bg2"/>
          </a:solidFill>
          <a:ln/>
        </p:spPr>
      </p:sp>
      <p:sp>
        <p:nvSpPr>
          <p:cNvPr id="18" name="Text 16"/>
          <p:cNvSpPr txBox="1"/>
          <p:nvPr/>
        </p:nvSpPr>
        <p:spPr>
          <a:xfrm>
            <a:off x="5212080" y="1554480"/>
            <a:ext cx="777240" cy="310896"/>
          </a:xfrm>
          <a:prstGeom prst="rect">
            <a:avLst/>
          </a:prstGeom>
          <a:noFill/>
          <a:ln/>
        </p:spPr>
        <p:txBody>
          <a:bodyPr wrap="square" lIns="0" tIns="0" rIns="0" bIns="0" rtlCol="0" anchor="ctr"/>
          <a:lstStyle/>
          <a:p>
            <a:pPr algn="ctr" indent="0" marL="0">
              <a:buNone/>
            </a:pPr>
            <a:r>
              <a:rPr lang="en-US" sz="1200" dirty="0">
                <a:solidFill>
                  <a:schemeClr val="accent6"/>
                </a:solidFill>
              </a:rPr>
              <a:t>P </a:t>
            </a:r>
            <a:pPr algn="ctr" indent="0" marL="0">
              <a:buNone/>
            </a:pPr>
            <a:r>
              <a:rPr lang="en-US" sz="1200" b="1" dirty="0">
                <a:solidFill>
                  <a:schemeClr val="tx2"/>
                </a:solidFill>
              </a:rPr>
              <a:t>45</a:t>
            </a:r>
            <a:endParaRPr lang="en-US" sz="1200" dirty="0"/>
          </a:p>
        </p:txBody>
      </p:sp>
      <p:sp>
        <p:nvSpPr>
          <p:cNvPr id="19" name="Shape 17"/>
          <p:cNvSpPr/>
          <p:nvPr/>
        </p:nvSpPr>
        <p:spPr>
          <a:xfrm>
            <a:off x="6080760" y="1554480"/>
            <a:ext cx="777240" cy="310896"/>
          </a:xfrm>
          <a:prstGeom prst="roundRect">
            <a:avLst>
              <a:gd name="adj" fmla="val 50000"/>
            </a:avLst>
          </a:prstGeom>
          <a:solidFill>
            <a:schemeClr val="bg2"/>
          </a:solidFill>
          <a:ln/>
        </p:spPr>
      </p:sp>
      <p:sp>
        <p:nvSpPr>
          <p:cNvPr id="20" name="Text 18"/>
          <p:cNvSpPr txBox="1"/>
          <p:nvPr/>
        </p:nvSpPr>
        <p:spPr>
          <a:xfrm>
            <a:off x="6080760" y="1554480"/>
            <a:ext cx="777240" cy="310896"/>
          </a:xfrm>
          <a:prstGeom prst="rect">
            <a:avLst/>
          </a:prstGeom>
          <a:noFill/>
          <a:ln/>
        </p:spPr>
        <p:txBody>
          <a:bodyPr wrap="square" lIns="0" tIns="0" rIns="0" bIns="0" rtlCol="0" anchor="ctr"/>
          <a:lstStyle/>
          <a:p>
            <a:pPr algn="ctr" indent="0" marL="0">
              <a:buNone/>
            </a:pPr>
            <a:r>
              <a:rPr lang="en-US" sz="1200" dirty="0">
                <a:solidFill>
                  <a:schemeClr val="accent6"/>
                </a:solidFill>
              </a:rPr>
              <a:t>K </a:t>
            </a:r>
            <a:pPr algn="ctr" indent="0" marL="0">
              <a:buNone/>
            </a:pPr>
            <a:r>
              <a:rPr lang="en-US" sz="1200" b="1" dirty="0">
                <a:solidFill>
                  <a:schemeClr val="tx2"/>
                </a:solidFill>
              </a:rPr>
              <a:t>40</a:t>
            </a:r>
            <a:endParaRPr lang="en-US" sz="1200" dirty="0"/>
          </a:p>
        </p:txBody>
      </p:sp>
      <p:sp>
        <p:nvSpPr>
          <p:cNvPr id="21" name="Shape 19"/>
          <p:cNvSpPr/>
          <p:nvPr/>
        </p:nvSpPr>
        <p:spPr>
          <a:xfrm>
            <a:off x="6949440" y="1554480"/>
            <a:ext cx="1005840" cy="310896"/>
          </a:xfrm>
          <a:prstGeom prst="roundRect">
            <a:avLst>
              <a:gd name="adj" fmla="val 50000"/>
            </a:avLst>
          </a:prstGeom>
          <a:solidFill>
            <a:schemeClr val="bg2"/>
          </a:solidFill>
          <a:ln/>
        </p:spPr>
      </p:sp>
      <p:sp>
        <p:nvSpPr>
          <p:cNvPr id="22" name="Text 20"/>
          <p:cNvSpPr txBox="1"/>
          <p:nvPr/>
        </p:nvSpPr>
        <p:spPr>
          <a:xfrm>
            <a:off x="6949440" y="1554480"/>
            <a:ext cx="1005840" cy="310896"/>
          </a:xfrm>
          <a:prstGeom prst="rect">
            <a:avLst/>
          </a:prstGeom>
          <a:noFill/>
          <a:ln/>
        </p:spPr>
        <p:txBody>
          <a:bodyPr wrap="square" lIns="0" tIns="0" rIns="0" bIns="0" rtlCol="0" anchor="ctr"/>
          <a:lstStyle/>
          <a:p>
            <a:pPr algn="ctr" indent="0" marL="0">
              <a:buNone/>
            </a:pPr>
            <a:r>
              <a:rPr lang="en-US" sz="1200" dirty="0">
                <a:solidFill>
                  <a:schemeClr val="accent6"/>
                </a:solidFill>
              </a:rPr>
              <a:t>Temp </a:t>
            </a:r>
            <a:pPr algn="ctr" indent="0" marL="0">
              <a:buNone/>
            </a:pPr>
            <a:r>
              <a:rPr lang="en-US" sz="1200" b="1" dirty="0">
                <a:solidFill>
                  <a:schemeClr val="tx2"/>
                </a:solidFill>
              </a:rPr>
              <a:t>24 °C</a:t>
            </a:r>
            <a:endParaRPr lang="en-US" sz="1200" dirty="0"/>
          </a:p>
        </p:txBody>
      </p:sp>
      <p:sp>
        <p:nvSpPr>
          <p:cNvPr id="23" name="Shape 21"/>
          <p:cNvSpPr/>
          <p:nvPr/>
        </p:nvSpPr>
        <p:spPr>
          <a:xfrm>
            <a:off x="4343400" y="1938528"/>
            <a:ext cx="1188720" cy="310896"/>
          </a:xfrm>
          <a:prstGeom prst="roundRect">
            <a:avLst>
              <a:gd name="adj" fmla="val 50000"/>
            </a:avLst>
          </a:prstGeom>
          <a:solidFill>
            <a:schemeClr val="bg2"/>
          </a:solidFill>
          <a:ln/>
        </p:spPr>
      </p:sp>
      <p:sp>
        <p:nvSpPr>
          <p:cNvPr id="24" name="Text 22"/>
          <p:cNvSpPr txBox="1"/>
          <p:nvPr/>
        </p:nvSpPr>
        <p:spPr>
          <a:xfrm>
            <a:off x="4343400" y="1938528"/>
            <a:ext cx="1188720" cy="310896"/>
          </a:xfrm>
          <a:prstGeom prst="rect">
            <a:avLst/>
          </a:prstGeom>
          <a:noFill/>
          <a:ln/>
        </p:spPr>
        <p:txBody>
          <a:bodyPr wrap="square" lIns="0" tIns="0" rIns="0" bIns="0" rtlCol="0" anchor="ctr"/>
          <a:lstStyle/>
          <a:p>
            <a:pPr algn="ctr" indent="0" marL="0">
              <a:buNone/>
            </a:pPr>
            <a:r>
              <a:rPr lang="en-US" sz="1200" dirty="0">
                <a:solidFill>
                  <a:schemeClr val="accent6"/>
                </a:solidFill>
              </a:rPr>
              <a:t>Humidity </a:t>
            </a:r>
            <a:pPr algn="ctr" indent="0" marL="0">
              <a:buNone/>
            </a:pPr>
            <a:r>
              <a:rPr lang="en-US" sz="1200" b="1" dirty="0">
                <a:solidFill>
                  <a:schemeClr val="tx2"/>
                </a:solidFill>
              </a:rPr>
              <a:t>80%</a:t>
            </a:r>
            <a:endParaRPr lang="en-US" sz="1200" dirty="0"/>
          </a:p>
        </p:txBody>
      </p:sp>
      <p:sp>
        <p:nvSpPr>
          <p:cNvPr id="25" name="Shape 23"/>
          <p:cNvSpPr/>
          <p:nvPr/>
        </p:nvSpPr>
        <p:spPr>
          <a:xfrm>
            <a:off x="5623560" y="1938528"/>
            <a:ext cx="777240" cy="310896"/>
          </a:xfrm>
          <a:prstGeom prst="roundRect">
            <a:avLst>
              <a:gd name="adj" fmla="val 50000"/>
            </a:avLst>
          </a:prstGeom>
          <a:solidFill>
            <a:schemeClr val="bg2"/>
          </a:solidFill>
          <a:ln/>
        </p:spPr>
      </p:sp>
      <p:sp>
        <p:nvSpPr>
          <p:cNvPr id="26" name="Text 24"/>
          <p:cNvSpPr txBox="1"/>
          <p:nvPr/>
        </p:nvSpPr>
        <p:spPr>
          <a:xfrm>
            <a:off x="5623560" y="1938528"/>
            <a:ext cx="777240" cy="310896"/>
          </a:xfrm>
          <a:prstGeom prst="rect">
            <a:avLst/>
          </a:prstGeom>
          <a:noFill/>
          <a:ln/>
        </p:spPr>
        <p:txBody>
          <a:bodyPr wrap="square" lIns="0" tIns="0" rIns="0" bIns="0" rtlCol="0" anchor="ctr"/>
          <a:lstStyle/>
          <a:p>
            <a:pPr algn="ctr" indent="0" marL="0">
              <a:buNone/>
            </a:pPr>
            <a:r>
              <a:rPr lang="en-US" sz="1200" dirty="0">
                <a:solidFill>
                  <a:schemeClr val="accent6"/>
                </a:solidFill>
              </a:rPr>
              <a:t>pH </a:t>
            </a:r>
            <a:pPr algn="ctr" indent="0" marL="0">
              <a:buNone/>
            </a:pPr>
            <a:r>
              <a:rPr lang="en-US" sz="1200" b="1" dirty="0">
                <a:solidFill>
                  <a:schemeClr val="tx2"/>
                </a:solidFill>
              </a:rPr>
              <a:t>6.5</a:t>
            </a:r>
            <a:endParaRPr lang="en-US" sz="1200" dirty="0"/>
          </a:p>
        </p:txBody>
      </p:sp>
      <p:sp>
        <p:nvSpPr>
          <p:cNvPr id="27" name="Shape 25"/>
          <p:cNvSpPr/>
          <p:nvPr/>
        </p:nvSpPr>
        <p:spPr>
          <a:xfrm>
            <a:off x="6492240" y="1938528"/>
            <a:ext cx="1234440" cy="310896"/>
          </a:xfrm>
          <a:prstGeom prst="roundRect">
            <a:avLst>
              <a:gd name="adj" fmla="val 50000"/>
            </a:avLst>
          </a:prstGeom>
          <a:solidFill>
            <a:schemeClr val="bg2"/>
          </a:solidFill>
          <a:ln/>
        </p:spPr>
      </p:sp>
      <p:sp>
        <p:nvSpPr>
          <p:cNvPr id="28" name="Text 26"/>
          <p:cNvSpPr txBox="1"/>
          <p:nvPr/>
        </p:nvSpPr>
        <p:spPr>
          <a:xfrm>
            <a:off x="6492240" y="1938528"/>
            <a:ext cx="1234440" cy="310896"/>
          </a:xfrm>
          <a:prstGeom prst="rect">
            <a:avLst/>
          </a:prstGeom>
          <a:noFill/>
          <a:ln/>
        </p:spPr>
        <p:txBody>
          <a:bodyPr wrap="square" lIns="0" tIns="0" rIns="0" bIns="0" rtlCol="0" anchor="ctr"/>
          <a:lstStyle/>
          <a:p>
            <a:pPr algn="ctr" indent="0" marL="0">
              <a:buNone/>
            </a:pPr>
            <a:r>
              <a:rPr lang="en-US" sz="1200" dirty="0">
                <a:solidFill>
                  <a:schemeClr val="accent6"/>
                </a:solidFill>
              </a:rPr>
              <a:t>Rainfall </a:t>
            </a:r>
            <a:pPr algn="ctr" indent="0" marL="0">
              <a:buNone/>
            </a:pPr>
            <a:r>
              <a:rPr lang="en-US" sz="1200" b="1" dirty="0">
                <a:solidFill>
                  <a:schemeClr val="tx2"/>
                </a:solidFill>
              </a:rPr>
              <a:t>170 mm</a:t>
            </a:r>
            <a:endParaRPr lang="en-US" sz="1200" dirty="0"/>
          </a:p>
        </p:txBody>
      </p:sp>
      <p:sp>
        <p:nvSpPr>
          <p:cNvPr id="29" name="Text 27"/>
          <p:cNvSpPr txBox="1"/>
          <p:nvPr/>
        </p:nvSpPr>
        <p:spPr>
          <a:xfrm>
            <a:off x="4343400" y="2423160"/>
            <a:ext cx="4297680" cy="256032"/>
          </a:xfrm>
          <a:prstGeom prst="rect">
            <a:avLst/>
          </a:prstGeom>
          <a:noFill/>
          <a:ln/>
        </p:spPr>
        <p:txBody>
          <a:bodyPr wrap="square" lIns="0" tIns="0" rIns="0" bIns="0" rtlCol="0" anchor="t"/>
          <a:lstStyle/>
          <a:p>
            <a:pPr indent="0" marL="0">
              <a:buNone/>
            </a:pPr>
            <a:r>
              <a:rPr lang="en-US" sz="1200" b="1" dirty="0">
                <a:solidFill>
                  <a:schemeClr val="accent6"/>
                </a:solidFill>
              </a:rPr>
              <a:t>Top 3 crops (model confidence)</a:t>
            </a:r>
            <a:endParaRPr lang="en-US" sz="1200" dirty="0"/>
          </a:p>
        </p:txBody>
      </p:sp>
      <p:sp>
        <p:nvSpPr>
          <p:cNvPr id="30" name="Text 28"/>
          <p:cNvSpPr txBox="1"/>
          <p:nvPr/>
        </p:nvSpPr>
        <p:spPr>
          <a:xfrm>
            <a:off x="4343400" y="2743200"/>
            <a:ext cx="1051560" cy="292608"/>
          </a:xfrm>
          <a:prstGeom prst="rect">
            <a:avLst/>
          </a:prstGeom>
          <a:noFill/>
          <a:ln/>
        </p:spPr>
        <p:txBody>
          <a:bodyPr wrap="square" lIns="0" tIns="0" rIns="0" bIns="0" rtlCol="0" anchor="ctr"/>
          <a:lstStyle/>
          <a:p>
            <a:pPr indent="0" marL="0">
              <a:buNone/>
            </a:pPr>
            <a:r>
              <a:rPr lang="en-US" sz="1400" b="1" dirty="0">
                <a:solidFill>
                  <a:schemeClr val="tx2"/>
                </a:solidFill>
              </a:rPr>
              <a:t>Jute</a:t>
            </a:r>
            <a:endParaRPr lang="en-US" sz="1400" dirty="0"/>
          </a:p>
        </p:txBody>
      </p:sp>
      <p:sp>
        <p:nvSpPr>
          <p:cNvPr id="31" name="Shape 29"/>
          <p:cNvSpPr/>
          <p:nvPr/>
        </p:nvSpPr>
        <p:spPr>
          <a:xfrm>
            <a:off x="5440680" y="2798064"/>
            <a:ext cx="2468880" cy="182880"/>
          </a:xfrm>
          <a:prstGeom prst="roundRect">
            <a:avLst>
              <a:gd name="adj" fmla="val 50000"/>
            </a:avLst>
          </a:prstGeom>
          <a:solidFill>
            <a:schemeClr val="bg2"/>
          </a:solidFill>
          <a:ln/>
        </p:spPr>
      </p:sp>
      <p:sp>
        <p:nvSpPr>
          <p:cNvPr id="32" name="Shape 30"/>
          <p:cNvSpPr/>
          <p:nvPr/>
        </p:nvSpPr>
        <p:spPr>
          <a:xfrm>
            <a:off x="5440680" y="2798064"/>
            <a:ext cx="2320747" cy="182880"/>
          </a:xfrm>
          <a:prstGeom prst="roundRect">
            <a:avLst>
              <a:gd name="adj" fmla="val 50000"/>
            </a:avLst>
          </a:prstGeom>
          <a:solidFill>
            <a:schemeClr val="accent1"/>
          </a:solidFill>
          <a:ln/>
        </p:spPr>
      </p:sp>
      <p:sp>
        <p:nvSpPr>
          <p:cNvPr id="33" name="Text 31"/>
          <p:cNvSpPr txBox="1"/>
          <p:nvPr/>
        </p:nvSpPr>
        <p:spPr>
          <a:xfrm>
            <a:off x="8001000" y="2743200"/>
            <a:ext cx="685800" cy="292608"/>
          </a:xfrm>
          <a:prstGeom prst="rect">
            <a:avLst/>
          </a:prstGeom>
          <a:noFill/>
          <a:ln/>
        </p:spPr>
        <p:txBody>
          <a:bodyPr wrap="square" lIns="0" tIns="0" rIns="0" bIns="0" rtlCol="0" anchor="ctr"/>
          <a:lstStyle/>
          <a:p>
            <a:pPr indent="0" marL="0">
              <a:buNone/>
            </a:pPr>
            <a:r>
              <a:rPr lang="en-US" sz="1300" b="1" dirty="0">
                <a:solidFill>
                  <a:schemeClr val="tx2"/>
                </a:solidFill>
              </a:rPr>
              <a:t>94.0%</a:t>
            </a:r>
            <a:endParaRPr lang="en-US" sz="1300" dirty="0"/>
          </a:p>
        </p:txBody>
      </p:sp>
      <p:sp>
        <p:nvSpPr>
          <p:cNvPr id="34" name="Text 32"/>
          <p:cNvSpPr txBox="1"/>
          <p:nvPr/>
        </p:nvSpPr>
        <p:spPr>
          <a:xfrm>
            <a:off x="4343400" y="3127248"/>
            <a:ext cx="1051560" cy="292608"/>
          </a:xfrm>
          <a:prstGeom prst="rect">
            <a:avLst/>
          </a:prstGeom>
          <a:noFill/>
          <a:ln/>
        </p:spPr>
        <p:txBody>
          <a:bodyPr wrap="square" lIns="0" tIns="0" rIns="0" bIns="0" rtlCol="0" anchor="ctr"/>
          <a:lstStyle/>
          <a:p>
            <a:pPr indent="0" marL="0">
              <a:buNone/>
            </a:pPr>
            <a:r>
              <a:rPr lang="en-US" sz="1400" dirty="0">
                <a:solidFill>
                  <a:schemeClr val="tx2"/>
                </a:solidFill>
              </a:rPr>
              <a:t>Rice</a:t>
            </a:r>
            <a:endParaRPr lang="en-US" sz="1400" dirty="0"/>
          </a:p>
        </p:txBody>
      </p:sp>
      <p:sp>
        <p:nvSpPr>
          <p:cNvPr id="35" name="Shape 33"/>
          <p:cNvSpPr/>
          <p:nvPr/>
        </p:nvSpPr>
        <p:spPr>
          <a:xfrm>
            <a:off x="5440680" y="3182112"/>
            <a:ext cx="2468880" cy="182880"/>
          </a:xfrm>
          <a:prstGeom prst="roundRect">
            <a:avLst>
              <a:gd name="adj" fmla="val 50000"/>
            </a:avLst>
          </a:prstGeom>
          <a:solidFill>
            <a:schemeClr val="bg2"/>
          </a:solidFill>
          <a:ln/>
        </p:spPr>
      </p:sp>
      <p:sp>
        <p:nvSpPr>
          <p:cNvPr id="36" name="Shape 34"/>
          <p:cNvSpPr/>
          <p:nvPr/>
        </p:nvSpPr>
        <p:spPr>
          <a:xfrm>
            <a:off x="5440680" y="3182112"/>
            <a:ext cx="182880" cy="182880"/>
          </a:xfrm>
          <a:prstGeom prst="roundRect">
            <a:avLst>
              <a:gd name="adj" fmla="val 50000"/>
            </a:avLst>
          </a:prstGeom>
          <a:solidFill>
            <a:schemeClr val="accent5"/>
          </a:solidFill>
          <a:ln/>
        </p:spPr>
      </p:sp>
      <p:sp>
        <p:nvSpPr>
          <p:cNvPr id="37" name="Text 35"/>
          <p:cNvSpPr txBox="1"/>
          <p:nvPr/>
        </p:nvSpPr>
        <p:spPr>
          <a:xfrm>
            <a:off x="8001000" y="3127248"/>
            <a:ext cx="685800" cy="292608"/>
          </a:xfrm>
          <a:prstGeom prst="rect">
            <a:avLst/>
          </a:prstGeom>
          <a:noFill/>
          <a:ln/>
        </p:spPr>
        <p:txBody>
          <a:bodyPr wrap="square" lIns="0" tIns="0" rIns="0" bIns="0" rtlCol="0" anchor="ctr"/>
          <a:lstStyle/>
          <a:p>
            <a:pPr indent="0" marL="0">
              <a:buNone/>
            </a:pPr>
            <a:r>
              <a:rPr lang="en-US" sz="1300" dirty="0">
                <a:solidFill>
                  <a:schemeClr val="tx2"/>
                </a:solidFill>
              </a:rPr>
              <a:t>5.5%</a:t>
            </a:r>
            <a:endParaRPr lang="en-US" sz="1300" dirty="0"/>
          </a:p>
        </p:txBody>
      </p:sp>
      <p:sp>
        <p:nvSpPr>
          <p:cNvPr id="38" name="Text 36"/>
          <p:cNvSpPr txBox="1"/>
          <p:nvPr/>
        </p:nvSpPr>
        <p:spPr>
          <a:xfrm>
            <a:off x="4343400" y="3511296"/>
            <a:ext cx="1051560" cy="292608"/>
          </a:xfrm>
          <a:prstGeom prst="rect">
            <a:avLst/>
          </a:prstGeom>
          <a:noFill/>
          <a:ln/>
        </p:spPr>
        <p:txBody>
          <a:bodyPr wrap="square" lIns="0" tIns="0" rIns="0" bIns="0" rtlCol="0" anchor="ctr"/>
          <a:lstStyle/>
          <a:p>
            <a:pPr indent="0" marL="0">
              <a:buNone/>
            </a:pPr>
            <a:r>
              <a:rPr lang="en-US" sz="1400" dirty="0">
                <a:solidFill>
                  <a:schemeClr val="tx2"/>
                </a:solidFill>
              </a:rPr>
              <a:t>Watermelon</a:t>
            </a:r>
            <a:endParaRPr lang="en-US" sz="1400" dirty="0"/>
          </a:p>
        </p:txBody>
      </p:sp>
      <p:sp>
        <p:nvSpPr>
          <p:cNvPr id="39" name="Shape 37"/>
          <p:cNvSpPr/>
          <p:nvPr/>
        </p:nvSpPr>
        <p:spPr>
          <a:xfrm>
            <a:off x="5440680" y="3566160"/>
            <a:ext cx="2468880" cy="182880"/>
          </a:xfrm>
          <a:prstGeom prst="roundRect">
            <a:avLst>
              <a:gd name="adj" fmla="val 50000"/>
            </a:avLst>
          </a:prstGeom>
          <a:solidFill>
            <a:schemeClr val="bg2"/>
          </a:solidFill>
          <a:ln/>
        </p:spPr>
      </p:sp>
      <p:sp>
        <p:nvSpPr>
          <p:cNvPr id="40" name="Shape 38"/>
          <p:cNvSpPr/>
          <p:nvPr/>
        </p:nvSpPr>
        <p:spPr>
          <a:xfrm>
            <a:off x="5440680" y="3566160"/>
            <a:ext cx="182880" cy="182880"/>
          </a:xfrm>
          <a:prstGeom prst="roundRect">
            <a:avLst>
              <a:gd name="adj" fmla="val 50000"/>
            </a:avLst>
          </a:prstGeom>
          <a:solidFill>
            <a:schemeClr val="accent5"/>
          </a:solidFill>
          <a:ln/>
        </p:spPr>
      </p:sp>
      <p:sp>
        <p:nvSpPr>
          <p:cNvPr id="41" name="Text 39"/>
          <p:cNvSpPr txBox="1"/>
          <p:nvPr/>
        </p:nvSpPr>
        <p:spPr>
          <a:xfrm>
            <a:off x="8001000" y="3511296"/>
            <a:ext cx="685800" cy="292608"/>
          </a:xfrm>
          <a:prstGeom prst="rect">
            <a:avLst/>
          </a:prstGeom>
          <a:noFill/>
          <a:ln/>
        </p:spPr>
        <p:txBody>
          <a:bodyPr wrap="square" lIns="0" tIns="0" rIns="0" bIns="0" rtlCol="0" anchor="ctr"/>
          <a:lstStyle/>
          <a:p>
            <a:pPr indent="0" marL="0">
              <a:buNone/>
            </a:pPr>
            <a:r>
              <a:rPr lang="en-US" sz="1300" dirty="0">
                <a:solidFill>
                  <a:schemeClr val="tx2"/>
                </a:solidFill>
              </a:rPr>
              <a:t>0.5%</a:t>
            </a:r>
            <a:endParaRPr lang="en-US" sz="1300" dirty="0"/>
          </a:p>
        </p:txBody>
      </p:sp>
      <p:sp>
        <p:nvSpPr>
          <p:cNvPr id="42" name="Shape 40"/>
          <p:cNvSpPr/>
          <p:nvPr/>
        </p:nvSpPr>
        <p:spPr>
          <a:xfrm>
            <a:off x="4343400" y="3931920"/>
            <a:ext cx="4343400" cy="640080"/>
          </a:xfrm>
          <a:prstGeom prst="roundRect">
            <a:avLst>
              <a:gd name="adj" fmla="val 14286"/>
            </a:avLst>
          </a:prstGeom>
          <a:solidFill>
            <a:schemeClr val="bg2"/>
          </a:solidFill>
          <a:ln/>
        </p:spPr>
      </p:sp>
      <p:sp>
        <p:nvSpPr>
          <p:cNvPr id="43" name="Shape 41"/>
          <p:cNvSpPr/>
          <p:nvPr/>
        </p:nvSpPr>
        <p:spPr>
          <a:xfrm>
            <a:off x="4480560" y="4041648"/>
            <a:ext cx="420624" cy="420624"/>
          </a:xfrm>
          <a:prstGeom prst="ellipse">
            <a:avLst/>
          </a:prstGeom>
          <a:solidFill>
            <a:schemeClr val="accent1"/>
          </a:solidFill>
          <a:ln/>
        </p:spPr>
      </p:sp>
      <p:pic>
        <p:nvPicPr>
          <p:cNvPr id="44" name="Image 0" descr="preencoded.png">    </p:cNvPr>
          <p:cNvPicPr>
            <a:picLocks noChangeAspect="1"/>
          </p:cNvPicPr>
          <p:nvPr/>
        </p:nvPicPr>
        <p:blipFill>
          <a:blip r:embed="rId1"/>
          <a:stretch>
            <a:fillRect/>
          </a:stretch>
        </p:blipFill>
        <p:spPr>
          <a:xfrm>
            <a:off x="4585716" y="4146804"/>
            <a:ext cx="210312" cy="210312"/>
          </a:xfrm>
          <a:prstGeom prst="rect">
            <a:avLst/>
          </a:prstGeom>
        </p:spPr>
      </p:pic>
      <p:sp>
        <p:nvSpPr>
          <p:cNvPr id="45" name="Text 42"/>
          <p:cNvSpPr txBox="1"/>
          <p:nvPr/>
        </p:nvSpPr>
        <p:spPr>
          <a:xfrm>
            <a:off x="5010912" y="3931920"/>
            <a:ext cx="3611880" cy="640080"/>
          </a:xfrm>
          <a:prstGeom prst="rect">
            <a:avLst/>
          </a:prstGeom>
          <a:noFill/>
          <a:ln/>
        </p:spPr>
        <p:txBody>
          <a:bodyPr wrap="square" lIns="0" tIns="0" rIns="0" bIns="0" rtlCol="0" anchor="ctr"/>
          <a:lstStyle/>
          <a:p>
            <a:pPr indent="0" marL="0">
              <a:buNone/>
            </a:pPr>
            <a:r>
              <a:rPr lang="en-US" sz="1200" dirty="0">
                <a:solidFill>
                  <a:schemeClr val="tx1"/>
                </a:solidFill>
              </a:rPr>
              <a:t>Fertilizer: N, P, K levels are good; pH 6.5 is suitable. Use organic manure, avoid over-fertilizing.</a:t>
            </a:r>
            <a:endParaRPr lang="en-US" sz="12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Website Screenshots / Demo</a:t>
            </a:r>
            <a:endParaRPr lang="en-US" sz="3200" dirty="0"/>
          </a:p>
        </p:txBody>
      </p:sp>
      <p:sp>
        <p:nvSpPr>
          <p:cNvPr id="3" name="Shape 1"/>
          <p:cNvSpPr/>
          <p:nvPr/>
        </p:nvSpPr>
        <p:spPr>
          <a:xfrm>
            <a:off x="503514" y="1115568"/>
            <a:ext cx="5119451" cy="2871216"/>
          </a:xfrm>
          <a:prstGeom prst="rect">
            <a:avLst/>
          </a:prstGeom>
          <a:solidFill>
            <a:schemeClr val="bg1"/>
          </a:solidFill>
          <a:ln w="9525">
            <a:solidFill>
              <a:schemeClr val="accent5"/>
            </a:solidFill>
            <a:prstDash val="solid"/>
          </a:ln>
          <a:effectLst>
            <a:outerShdw sx="100000" sy="100000" kx="0" ky="0" algn="bl" rotWithShape="0" blurRad="76200" dist="25400" dir="5400000">
              <a:srgbClr val="1B4332">
                <a:alpha val="12000"/>
              </a:srgbClr>
            </a:outerShdw>
          </a:effectLst>
        </p:spPr>
      </p:sp>
      <p:pic>
        <p:nvPicPr>
          <p:cNvPr id="4" name="Image 0" descr="crop screen">    </p:cNvPr>
          <p:cNvPicPr>
            <a:picLocks noChangeAspect="1"/>
          </p:cNvPicPr>
          <p:nvPr/>
        </p:nvPicPr>
        <p:blipFill>
          <a:blip r:embed="rId1"/>
          <a:stretch>
            <a:fillRect/>
          </a:stretch>
        </p:blipFill>
        <p:spPr>
          <a:xfrm>
            <a:off x="530946" y="1143000"/>
            <a:ext cx="5064587" cy="2816352"/>
          </a:xfrm>
          <a:prstGeom prst="rect">
            <a:avLst/>
          </a:prstGeom>
        </p:spPr>
      </p:pic>
      <p:sp>
        <p:nvSpPr>
          <p:cNvPr id="5" name="Text 2"/>
          <p:cNvSpPr txBox="1"/>
          <p:nvPr/>
        </p:nvSpPr>
        <p:spPr>
          <a:xfrm>
            <a:off x="457200" y="4069080"/>
            <a:ext cx="5212080" cy="502920"/>
          </a:xfrm>
          <a:prstGeom prst="rect">
            <a:avLst/>
          </a:prstGeom>
          <a:noFill/>
          <a:ln/>
        </p:spPr>
        <p:txBody>
          <a:bodyPr wrap="square" lIns="0" tIns="0" rIns="0" bIns="0" rtlCol="0" anchor="t"/>
          <a:lstStyle/>
          <a:p>
            <a:pPr indent="0" marL="0">
              <a:buNone/>
            </a:pPr>
            <a:r>
              <a:rPr lang="en-US" sz="1300" b="1" dirty="0">
                <a:solidFill>
                  <a:schemeClr val="tx2"/>
                </a:solidFill>
              </a:rPr>
              <a:t>Crop Recommendation:</a:t>
            </a:r>
            <a:pPr indent="0" marL="0">
              <a:buNone/>
            </a:pPr>
            <a:r>
              <a:rPr lang="en-US" sz="1300" dirty="0">
                <a:solidFill>
                  <a:schemeClr val="tx1"/>
                </a:solidFill>
              </a:rPr>
              <a:t>  7 soil and climate values in, best crop with top 3 alternatives and reasons out</a:t>
            </a:r>
            <a:endParaRPr lang="en-US" sz="1300" dirty="0"/>
          </a:p>
        </p:txBody>
      </p:sp>
      <p:sp>
        <p:nvSpPr>
          <p:cNvPr id="6" name="Shape 3"/>
          <p:cNvSpPr/>
          <p:nvPr/>
        </p:nvSpPr>
        <p:spPr>
          <a:xfrm>
            <a:off x="6060284" y="1115568"/>
            <a:ext cx="2555553" cy="1472184"/>
          </a:xfrm>
          <a:prstGeom prst="rect">
            <a:avLst/>
          </a:prstGeom>
          <a:solidFill>
            <a:schemeClr val="bg1"/>
          </a:solidFill>
          <a:ln w="9525">
            <a:solidFill>
              <a:schemeClr val="accent5"/>
            </a:solidFill>
            <a:prstDash val="solid"/>
          </a:ln>
          <a:effectLst>
            <a:outerShdw sx="100000" sy="100000" kx="0" ky="0" algn="bl" rotWithShape="0" blurRad="76200" dist="25400" dir="5400000">
              <a:srgbClr val="1B4332">
                <a:alpha val="12000"/>
              </a:srgbClr>
            </a:outerShdw>
          </a:effectLst>
        </p:spPr>
      </p:sp>
      <p:pic>
        <p:nvPicPr>
          <p:cNvPr id="7" name="Image 1" descr="login screen">    </p:cNvPr>
          <p:cNvPicPr>
            <a:picLocks noChangeAspect="1"/>
          </p:cNvPicPr>
          <p:nvPr/>
        </p:nvPicPr>
        <p:blipFill>
          <a:blip r:embed="rId2"/>
          <a:stretch>
            <a:fillRect/>
          </a:stretch>
        </p:blipFill>
        <p:spPr>
          <a:xfrm>
            <a:off x="6087716" y="1143000"/>
            <a:ext cx="2500689" cy="1417320"/>
          </a:xfrm>
          <a:prstGeom prst="rect">
            <a:avLst/>
          </a:prstGeom>
        </p:spPr>
      </p:pic>
      <p:sp>
        <p:nvSpPr>
          <p:cNvPr id="8" name="Text 4"/>
          <p:cNvSpPr txBox="1"/>
          <p:nvPr/>
        </p:nvSpPr>
        <p:spPr>
          <a:xfrm>
            <a:off x="5989320" y="2606040"/>
            <a:ext cx="2697480" cy="256032"/>
          </a:xfrm>
          <a:prstGeom prst="rect">
            <a:avLst/>
          </a:prstGeom>
          <a:noFill/>
          <a:ln/>
        </p:spPr>
        <p:txBody>
          <a:bodyPr wrap="square" lIns="0" tIns="0" rIns="0" bIns="0" rtlCol="0" anchor="t"/>
          <a:lstStyle/>
          <a:p>
            <a:pPr indent="0" marL="0">
              <a:buNone/>
            </a:pPr>
            <a:r>
              <a:rPr lang="en-US" sz="1200" b="1" dirty="0">
                <a:solidFill>
                  <a:schemeClr val="tx2"/>
                </a:solidFill>
              </a:rPr>
              <a:t>Login Page</a:t>
            </a:r>
            <a:endParaRPr lang="en-US" sz="1200" dirty="0"/>
          </a:p>
        </p:txBody>
      </p:sp>
      <p:sp>
        <p:nvSpPr>
          <p:cNvPr id="9" name="Shape 5"/>
          <p:cNvSpPr/>
          <p:nvPr/>
        </p:nvSpPr>
        <p:spPr>
          <a:xfrm>
            <a:off x="5988168" y="2944368"/>
            <a:ext cx="2699784" cy="1472184"/>
          </a:xfrm>
          <a:prstGeom prst="rect">
            <a:avLst/>
          </a:prstGeom>
          <a:solidFill>
            <a:schemeClr val="bg1"/>
          </a:solidFill>
          <a:ln w="9525">
            <a:solidFill>
              <a:schemeClr val="accent5"/>
            </a:solidFill>
            <a:prstDash val="solid"/>
          </a:ln>
          <a:effectLst>
            <a:outerShdw sx="100000" sy="100000" kx="0" ky="0" algn="bl" rotWithShape="0" blurRad="76200" dist="25400" dir="5400000">
              <a:srgbClr val="1B4332">
                <a:alpha val="12000"/>
              </a:srgbClr>
            </a:outerShdw>
          </a:effectLst>
        </p:spPr>
      </p:sp>
      <p:pic>
        <p:nvPicPr>
          <p:cNvPr id="10" name="Image 2" descr="dashboard screen">    </p:cNvPr>
          <p:cNvPicPr>
            <a:picLocks noChangeAspect="1"/>
          </p:cNvPicPr>
          <p:nvPr/>
        </p:nvPicPr>
        <p:blipFill>
          <a:blip r:embed="rId3"/>
          <a:stretch>
            <a:fillRect/>
          </a:stretch>
        </p:blipFill>
        <p:spPr>
          <a:xfrm>
            <a:off x="6015600" y="2971800"/>
            <a:ext cx="2644920" cy="1417320"/>
          </a:xfrm>
          <a:prstGeom prst="rect">
            <a:avLst/>
          </a:prstGeom>
        </p:spPr>
      </p:pic>
      <p:sp>
        <p:nvSpPr>
          <p:cNvPr id="11" name="Text 6"/>
          <p:cNvSpPr txBox="1"/>
          <p:nvPr/>
        </p:nvSpPr>
        <p:spPr>
          <a:xfrm>
            <a:off x="5989320" y="4434840"/>
            <a:ext cx="2697480" cy="256032"/>
          </a:xfrm>
          <a:prstGeom prst="rect">
            <a:avLst/>
          </a:prstGeom>
          <a:noFill/>
          <a:ln/>
        </p:spPr>
        <p:txBody>
          <a:bodyPr wrap="square" lIns="0" tIns="0" rIns="0" bIns="0" rtlCol="0" anchor="t"/>
          <a:lstStyle/>
          <a:p>
            <a:pPr indent="0" marL="0">
              <a:buNone/>
            </a:pPr>
            <a:r>
              <a:rPr lang="en-US" sz="1200" b="1" dirty="0">
                <a:solidFill>
                  <a:schemeClr val="tx2"/>
                </a:solidFill>
              </a:rPr>
              <a:t>Farm Dashboard</a:t>
            </a:r>
            <a:endParaRPr lang="en-US" sz="12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Website Screenshots / Demo (contd.)</a:t>
            </a:r>
            <a:endParaRPr lang="en-US" sz="3200" dirty="0"/>
          </a:p>
        </p:txBody>
      </p:sp>
      <p:sp>
        <p:nvSpPr>
          <p:cNvPr id="3" name="Shape 1"/>
          <p:cNvSpPr/>
          <p:nvPr/>
        </p:nvSpPr>
        <p:spPr>
          <a:xfrm>
            <a:off x="436624" y="1115568"/>
            <a:ext cx="5253232" cy="2871216"/>
          </a:xfrm>
          <a:prstGeom prst="rect">
            <a:avLst/>
          </a:prstGeom>
          <a:solidFill>
            <a:schemeClr val="bg1"/>
          </a:solidFill>
          <a:ln w="9525">
            <a:solidFill>
              <a:schemeClr val="accent5"/>
            </a:solidFill>
            <a:prstDash val="solid"/>
          </a:ln>
          <a:effectLst>
            <a:outerShdw sx="100000" sy="100000" kx="0" ky="0" algn="bl" rotWithShape="0" blurRad="76200" dist="25400" dir="5400000">
              <a:srgbClr val="1B4332">
                <a:alpha val="12000"/>
              </a:srgbClr>
            </a:outerShdw>
          </a:effectLst>
        </p:spPr>
      </p:sp>
      <p:pic>
        <p:nvPicPr>
          <p:cNvPr id="4" name="Image 0" descr="fertilizer screen">    </p:cNvPr>
          <p:cNvPicPr>
            <a:picLocks noChangeAspect="1"/>
          </p:cNvPicPr>
          <p:nvPr/>
        </p:nvPicPr>
        <p:blipFill>
          <a:blip r:embed="rId1"/>
          <a:stretch>
            <a:fillRect/>
          </a:stretch>
        </p:blipFill>
        <p:spPr>
          <a:xfrm>
            <a:off x="464056" y="1143000"/>
            <a:ext cx="5198368" cy="2816352"/>
          </a:xfrm>
          <a:prstGeom prst="rect">
            <a:avLst/>
          </a:prstGeom>
        </p:spPr>
      </p:pic>
      <p:sp>
        <p:nvSpPr>
          <p:cNvPr id="5" name="Text 2"/>
          <p:cNvSpPr txBox="1"/>
          <p:nvPr/>
        </p:nvSpPr>
        <p:spPr>
          <a:xfrm>
            <a:off x="457200" y="4069080"/>
            <a:ext cx="5212080" cy="502920"/>
          </a:xfrm>
          <a:prstGeom prst="rect">
            <a:avLst/>
          </a:prstGeom>
          <a:noFill/>
          <a:ln/>
        </p:spPr>
        <p:txBody>
          <a:bodyPr wrap="square" lIns="0" tIns="0" rIns="0" bIns="0" rtlCol="0" anchor="t"/>
          <a:lstStyle/>
          <a:p>
            <a:pPr indent="0" marL="0">
              <a:buNone/>
            </a:pPr>
            <a:r>
              <a:rPr lang="en-US" sz="1300" b="1" dirty="0">
                <a:solidFill>
                  <a:schemeClr val="tx2"/>
                </a:solidFill>
              </a:rPr>
              <a:t>Fertilizer Advice:</a:t>
            </a:r>
            <a:pPr indent="0" marL="0">
              <a:buNone/>
            </a:pPr>
            <a:r>
              <a:rPr lang="en-US" sz="1300" dirty="0">
                <a:solidFill>
                  <a:schemeClr val="tx1"/>
                </a:solidFill>
              </a:rPr>
              <a:t>  checks N, P, K against the selected crop and gives a final fertilizer plan</a:t>
            </a:r>
            <a:endParaRPr lang="en-US" sz="1300" dirty="0"/>
          </a:p>
        </p:txBody>
      </p:sp>
      <p:sp>
        <p:nvSpPr>
          <p:cNvPr id="6" name="Shape 3"/>
          <p:cNvSpPr/>
          <p:nvPr/>
        </p:nvSpPr>
        <p:spPr>
          <a:xfrm>
            <a:off x="6071616" y="1115568"/>
            <a:ext cx="2532888" cy="1472184"/>
          </a:xfrm>
          <a:prstGeom prst="rect">
            <a:avLst/>
          </a:prstGeom>
          <a:solidFill>
            <a:schemeClr val="bg1"/>
          </a:solidFill>
          <a:ln w="9525">
            <a:solidFill>
              <a:schemeClr val="accent5"/>
            </a:solidFill>
            <a:prstDash val="solid"/>
          </a:ln>
          <a:effectLst>
            <a:outerShdw sx="100000" sy="100000" kx="0" ky="0" algn="bl" rotWithShape="0" blurRad="76200" dist="25400" dir="5400000">
              <a:srgbClr val="1B4332">
                <a:alpha val="12000"/>
              </a:srgbClr>
            </a:outerShdw>
          </a:effectLst>
        </p:spPr>
      </p:sp>
      <p:pic>
        <p:nvPicPr>
          <p:cNvPr id="7" name="Image 1" descr="updates screen">    </p:cNvPr>
          <p:cNvPicPr>
            <a:picLocks noChangeAspect="1"/>
          </p:cNvPicPr>
          <p:nvPr/>
        </p:nvPicPr>
        <p:blipFill>
          <a:blip r:embed="rId2"/>
          <a:stretch>
            <a:fillRect/>
          </a:stretch>
        </p:blipFill>
        <p:spPr>
          <a:xfrm>
            <a:off x="6099048" y="1143000"/>
            <a:ext cx="2478024" cy="1417320"/>
          </a:xfrm>
          <a:prstGeom prst="rect">
            <a:avLst/>
          </a:prstGeom>
        </p:spPr>
      </p:pic>
      <p:sp>
        <p:nvSpPr>
          <p:cNvPr id="8" name="Text 4"/>
          <p:cNvSpPr txBox="1"/>
          <p:nvPr/>
        </p:nvSpPr>
        <p:spPr>
          <a:xfrm>
            <a:off x="5989320" y="2606040"/>
            <a:ext cx="2697480" cy="256032"/>
          </a:xfrm>
          <a:prstGeom prst="rect">
            <a:avLst/>
          </a:prstGeom>
          <a:noFill/>
          <a:ln/>
        </p:spPr>
        <p:txBody>
          <a:bodyPr wrap="square" lIns="0" tIns="0" rIns="0" bIns="0" rtlCol="0" anchor="t"/>
          <a:lstStyle/>
          <a:p>
            <a:pPr indent="0" marL="0">
              <a:buNone/>
            </a:pPr>
            <a:r>
              <a:rPr lang="en-US" sz="1200" b="1" dirty="0">
                <a:solidFill>
                  <a:schemeClr val="tx2"/>
                </a:solidFill>
              </a:rPr>
              <a:t>Weather &amp; Market Updates</a:t>
            </a:r>
            <a:endParaRPr lang="en-US" sz="1200" dirty="0"/>
          </a:p>
        </p:txBody>
      </p:sp>
      <p:sp>
        <p:nvSpPr>
          <p:cNvPr id="9" name="Shape 5"/>
          <p:cNvSpPr/>
          <p:nvPr/>
        </p:nvSpPr>
        <p:spPr>
          <a:xfrm>
            <a:off x="5974618" y="2944368"/>
            <a:ext cx="2726884" cy="1472184"/>
          </a:xfrm>
          <a:prstGeom prst="rect">
            <a:avLst/>
          </a:prstGeom>
          <a:solidFill>
            <a:schemeClr val="bg1"/>
          </a:solidFill>
          <a:ln w="9525">
            <a:solidFill>
              <a:schemeClr val="accent5"/>
            </a:solidFill>
            <a:prstDash val="solid"/>
          </a:ln>
          <a:effectLst>
            <a:outerShdw sx="100000" sy="100000" kx="0" ky="0" algn="bl" rotWithShape="0" blurRad="76200" dist="25400" dir="5400000">
              <a:srgbClr val="1B4332">
                <a:alpha val="12000"/>
              </a:srgbClr>
            </a:outerShdw>
          </a:effectLst>
        </p:spPr>
      </p:sp>
      <p:pic>
        <p:nvPicPr>
          <p:cNvPr id="10" name="Image 2" descr="history screen">    </p:cNvPr>
          <p:cNvPicPr>
            <a:picLocks noChangeAspect="1"/>
          </p:cNvPicPr>
          <p:nvPr/>
        </p:nvPicPr>
        <p:blipFill>
          <a:blip r:embed="rId3"/>
          <a:stretch>
            <a:fillRect/>
          </a:stretch>
        </p:blipFill>
        <p:spPr>
          <a:xfrm>
            <a:off x="6002050" y="2971800"/>
            <a:ext cx="2672020" cy="1417320"/>
          </a:xfrm>
          <a:prstGeom prst="rect">
            <a:avLst/>
          </a:prstGeom>
        </p:spPr>
      </p:pic>
      <p:sp>
        <p:nvSpPr>
          <p:cNvPr id="11" name="Text 6"/>
          <p:cNvSpPr txBox="1"/>
          <p:nvPr/>
        </p:nvSpPr>
        <p:spPr>
          <a:xfrm>
            <a:off x="5989320" y="4434840"/>
            <a:ext cx="2697480" cy="256032"/>
          </a:xfrm>
          <a:prstGeom prst="rect">
            <a:avLst/>
          </a:prstGeom>
          <a:noFill/>
          <a:ln/>
        </p:spPr>
        <p:txBody>
          <a:bodyPr wrap="square" lIns="0" tIns="0" rIns="0" bIns="0" rtlCol="0" anchor="t"/>
          <a:lstStyle/>
          <a:p>
            <a:pPr indent="0" marL="0">
              <a:buNone/>
            </a:pPr>
            <a:r>
              <a:rPr lang="en-US" sz="1200" b="1" dirty="0">
                <a:solidFill>
                  <a:schemeClr val="tx2"/>
                </a:solidFill>
              </a:rPr>
              <a:t>Prediction History</a:t>
            </a:r>
            <a:endParaRPr lang="en-US" sz="12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Advantages</a:t>
            </a:r>
            <a:endParaRPr lang="en-US" sz="3200" dirty="0"/>
          </a:p>
        </p:txBody>
      </p:sp>
      <p:sp>
        <p:nvSpPr>
          <p:cNvPr id="3" name="Shape 1"/>
          <p:cNvSpPr/>
          <p:nvPr/>
        </p:nvSpPr>
        <p:spPr>
          <a:xfrm>
            <a:off x="457200" y="1234440"/>
            <a:ext cx="1499616" cy="2514600"/>
          </a:xfrm>
          <a:prstGeom prst="roundRect">
            <a:avLst>
              <a:gd name="adj" fmla="val 6098"/>
            </a:avLst>
          </a:prstGeom>
          <a:solidFill>
            <a:schemeClr val="bg2"/>
          </a:solidFill>
          <a:ln/>
        </p:spPr>
      </p:sp>
      <p:sp>
        <p:nvSpPr>
          <p:cNvPr id="4" name="Shape 2"/>
          <p:cNvSpPr/>
          <p:nvPr/>
        </p:nvSpPr>
        <p:spPr>
          <a:xfrm>
            <a:off x="841248" y="1463040"/>
            <a:ext cx="731520" cy="73152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024128" y="1645920"/>
            <a:ext cx="365760" cy="365760"/>
          </a:xfrm>
          <a:prstGeom prst="rect">
            <a:avLst/>
          </a:prstGeom>
        </p:spPr>
      </p:pic>
      <p:sp>
        <p:nvSpPr>
          <p:cNvPr id="6" name="Text 3"/>
          <p:cNvSpPr txBox="1"/>
          <p:nvPr/>
        </p:nvSpPr>
        <p:spPr>
          <a:xfrm>
            <a:off x="548640" y="2331720"/>
            <a:ext cx="1316736" cy="502920"/>
          </a:xfrm>
          <a:prstGeom prst="rect">
            <a:avLst/>
          </a:prstGeom>
          <a:noFill/>
          <a:ln/>
        </p:spPr>
        <p:txBody>
          <a:bodyPr wrap="square" lIns="0" tIns="0" rIns="0" bIns="0" rtlCol="0" anchor="ctr"/>
          <a:lstStyle/>
          <a:p>
            <a:pPr algn="ctr" indent="0" marL="0">
              <a:buNone/>
            </a:pPr>
            <a:r>
              <a:rPr lang="en-US" sz="1500" b="1" dirty="0">
                <a:solidFill>
                  <a:schemeClr val="tx2"/>
                </a:solidFill>
              </a:rPr>
              <a:t>Fast prediction</a:t>
            </a:r>
            <a:endParaRPr lang="en-US" sz="1500" dirty="0"/>
          </a:p>
        </p:txBody>
      </p:sp>
      <p:sp>
        <p:nvSpPr>
          <p:cNvPr id="7" name="Text 4"/>
          <p:cNvSpPr txBox="1"/>
          <p:nvPr/>
        </p:nvSpPr>
        <p:spPr>
          <a:xfrm>
            <a:off x="566928" y="2852928"/>
            <a:ext cx="1280160" cy="822960"/>
          </a:xfrm>
          <a:prstGeom prst="rect">
            <a:avLst/>
          </a:prstGeom>
          <a:noFill/>
          <a:ln/>
        </p:spPr>
        <p:txBody>
          <a:bodyPr wrap="square" lIns="0" tIns="0" rIns="0" bIns="0" rtlCol="0" anchor="t"/>
          <a:lstStyle/>
          <a:p>
            <a:pPr algn="ctr" indent="0" marL="0">
              <a:buNone/>
            </a:pPr>
            <a:r>
              <a:rPr lang="en-US" sz="1200" dirty="0">
                <a:solidFill>
                  <a:schemeClr val="tx1"/>
                </a:solidFill>
              </a:rPr>
              <a:t>Instant result from the trained model</a:t>
            </a:r>
            <a:endParaRPr lang="en-US" sz="1200" dirty="0"/>
          </a:p>
        </p:txBody>
      </p:sp>
      <p:sp>
        <p:nvSpPr>
          <p:cNvPr id="8" name="Shape 5"/>
          <p:cNvSpPr/>
          <p:nvPr/>
        </p:nvSpPr>
        <p:spPr>
          <a:xfrm>
            <a:off x="2139696" y="1234440"/>
            <a:ext cx="1499616" cy="2514600"/>
          </a:xfrm>
          <a:prstGeom prst="roundRect">
            <a:avLst>
              <a:gd name="adj" fmla="val 6098"/>
            </a:avLst>
          </a:prstGeom>
          <a:solidFill>
            <a:schemeClr val="bg2"/>
          </a:solidFill>
          <a:ln/>
        </p:spPr>
      </p:sp>
      <p:sp>
        <p:nvSpPr>
          <p:cNvPr id="9" name="Shape 6"/>
          <p:cNvSpPr/>
          <p:nvPr/>
        </p:nvSpPr>
        <p:spPr>
          <a:xfrm>
            <a:off x="2523744" y="1463040"/>
            <a:ext cx="731520" cy="73152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2706624" y="1645920"/>
            <a:ext cx="365760" cy="365760"/>
          </a:xfrm>
          <a:prstGeom prst="rect">
            <a:avLst/>
          </a:prstGeom>
        </p:spPr>
      </p:pic>
      <p:sp>
        <p:nvSpPr>
          <p:cNvPr id="11" name="Text 7"/>
          <p:cNvSpPr txBox="1"/>
          <p:nvPr/>
        </p:nvSpPr>
        <p:spPr>
          <a:xfrm>
            <a:off x="2231136" y="2331720"/>
            <a:ext cx="1316736" cy="502920"/>
          </a:xfrm>
          <a:prstGeom prst="rect">
            <a:avLst/>
          </a:prstGeom>
          <a:noFill/>
          <a:ln/>
        </p:spPr>
        <p:txBody>
          <a:bodyPr wrap="square" lIns="0" tIns="0" rIns="0" bIns="0" rtlCol="0" anchor="ctr"/>
          <a:lstStyle/>
          <a:p>
            <a:pPr algn="ctr" indent="0" marL="0">
              <a:buNone/>
            </a:pPr>
            <a:r>
              <a:rPr lang="en-US" sz="1500" b="1" dirty="0">
                <a:solidFill>
                  <a:schemeClr val="tx2"/>
                </a:solidFill>
              </a:rPr>
              <a:t>Easy UI</a:t>
            </a:r>
            <a:endParaRPr lang="en-US" sz="1500" dirty="0"/>
          </a:p>
        </p:txBody>
      </p:sp>
      <p:sp>
        <p:nvSpPr>
          <p:cNvPr id="12" name="Text 8"/>
          <p:cNvSpPr txBox="1"/>
          <p:nvPr/>
        </p:nvSpPr>
        <p:spPr>
          <a:xfrm>
            <a:off x="2249424" y="2852928"/>
            <a:ext cx="1280160" cy="822960"/>
          </a:xfrm>
          <a:prstGeom prst="rect">
            <a:avLst/>
          </a:prstGeom>
          <a:noFill/>
          <a:ln/>
        </p:spPr>
        <p:txBody>
          <a:bodyPr wrap="square" lIns="0" tIns="0" rIns="0" bIns="0" rtlCol="0" anchor="t"/>
          <a:lstStyle/>
          <a:p>
            <a:pPr algn="ctr" indent="0" marL="0">
              <a:buNone/>
            </a:pPr>
            <a:r>
              <a:rPr lang="en-US" sz="1200" dirty="0">
                <a:solidFill>
                  <a:schemeClr val="tx1"/>
                </a:solidFill>
              </a:rPr>
              <a:t>Simple form, no technical skill needed</a:t>
            </a:r>
            <a:endParaRPr lang="en-US" sz="1200" dirty="0"/>
          </a:p>
        </p:txBody>
      </p:sp>
      <p:sp>
        <p:nvSpPr>
          <p:cNvPr id="13" name="Shape 9"/>
          <p:cNvSpPr/>
          <p:nvPr/>
        </p:nvSpPr>
        <p:spPr>
          <a:xfrm>
            <a:off x="3822192" y="1234440"/>
            <a:ext cx="1499616" cy="2514600"/>
          </a:xfrm>
          <a:prstGeom prst="roundRect">
            <a:avLst>
              <a:gd name="adj" fmla="val 6098"/>
            </a:avLst>
          </a:prstGeom>
          <a:solidFill>
            <a:schemeClr val="bg2"/>
          </a:solidFill>
          <a:ln/>
        </p:spPr>
      </p:sp>
      <p:sp>
        <p:nvSpPr>
          <p:cNvPr id="14" name="Shape 10"/>
          <p:cNvSpPr/>
          <p:nvPr/>
        </p:nvSpPr>
        <p:spPr>
          <a:xfrm>
            <a:off x="4206240" y="1463040"/>
            <a:ext cx="731520" cy="73152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4389120" y="1645920"/>
            <a:ext cx="365760" cy="365760"/>
          </a:xfrm>
          <a:prstGeom prst="rect">
            <a:avLst/>
          </a:prstGeom>
        </p:spPr>
      </p:pic>
      <p:sp>
        <p:nvSpPr>
          <p:cNvPr id="16" name="Text 11"/>
          <p:cNvSpPr txBox="1"/>
          <p:nvPr/>
        </p:nvSpPr>
        <p:spPr>
          <a:xfrm>
            <a:off x="3913632" y="2331720"/>
            <a:ext cx="1316736" cy="502920"/>
          </a:xfrm>
          <a:prstGeom prst="rect">
            <a:avLst/>
          </a:prstGeom>
          <a:noFill/>
          <a:ln/>
        </p:spPr>
        <p:txBody>
          <a:bodyPr wrap="square" lIns="0" tIns="0" rIns="0" bIns="0" rtlCol="0" anchor="ctr"/>
          <a:lstStyle/>
          <a:p>
            <a:pPr algn="ctr" indent="0" marL="0">
              <a:buNone/>
            </a:pPr>
            <a:r>
              <a:rPr lang="en-US" sz="1500" b="1" dirty="0">
                <a:solidFill>
                  <a:schemeClr val="tx2"/>
                </a:solidFill>
              </a:rPr>
              <a:t>Top 3 crops</a:t>
            </a:r>
            <a:endParaRPr lang="en-US" sz="1500" dirty="0"/>
          </a:p>
        </p:txBody>
      </p:sp>
      <p:sp>
        <p:nvSpPr>
          <p:cNvPr id="17" name="Text 12"/>
          <p:cNvSpPr txBox="1"/>
          <p:nvPr/>
        </p:nvSpPr>
        <p:spPr>
          <a:xfrm>
            <a:off x="3931920" y="2852928"/>
            <a:ext cx="1280160" cy="822960"/>
          </a:xfrm>
          <a:prstGeom prst="rect">
            <a:avLst/>
          </a:prstGeom>
          <a:noFill/>
          <a:ln/>
        </p:spPr>
        <p:txBody>
          <a:bodyPr wrap="square" lIns="0" tIns="0" rIns="0" bIns="0" rtlCol="0" anchor="t"/>
          <a:lstStyle/>
          <a:p>
            <a:pPr algn="ctr" indent="0" marL="0">
              <a:buNone/>
            </a:pPr>
            <a:r>
              <a:rPr lang="en-US" sz="1200" dirty="0">
                <a:solidFill>
                  <a:schemeClr val="tx1"/>
                </a:solidFill>
              </a:rPr>
              <a:t>Alternatives with confidence, not just one answer</a:t>
            </a:r>
            <a:endParaRPr lang="en-US" sz="1200" dirty="0"/>
          </a:p>
        </p:txBody>
      </p:sp>
      <p:sp>
        <p:nvSpPr>
          <p:cNvPr id="18" name="Shape 13"/>
          <p:cNvSpPr/>
          <p:nvPr/>
        </p:nvSpPr>
        <p:spPr>
          <a:xfrm>
            <a:off x="5504688" y="1234440"/>
            <a:ext cx="1499616" cy="2514600"/>
          </a:xfrm>
          <a:prstGeom prst="roundRect">
            <a:avLst>
              <a:gd name="adj" fmla="val 6098"/>
            </a:avLst>
          </a:prstGeom>
          <a:solidFill>
            <a:schemeClr val="bg2"/>
          </a:solidFill>
          <a:ln/>
        </p:spPr>
      </p:sp>
      <p:sp>
        <p:nvSpPr>
          <p:cNvPr id="19" name="Shape 14"/>
          <p:cNvSpPr/>
          <p:nvPr/>
        </p:nvSpPr>
        <p:spPr>
          <a:xfrm>
            <a:off x="5888736" y="1463040"/>
            <a:ext cx="731520" cy="73152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6071616" y="1645920"/>
            <a:ext cx="365760" cy="365760"/>
          </a:xfrm>
          <a:prstGeom prst="rect">
            <a:avLst/>
          </a:prstGeom>
        </p:spPr>
      </p:pic>
      <p:sp>
        <p:nvSpPr>
          <p:cNvPr id="21" name="Text 15"/>
          <p:cNvSpPr txBox="1"/>
          <p:nvPr/>
        </p:nvSpPr>
        <p:spPr>
          <a:xfrm>
            <a:off x="5596128" y="2331720"/>
            <a:ext cx="1316736" cy="502920"/>
          </a:xfrm>
          <a:prstGeom prst="rect">
            <a:avLst/>
          </a:prstGeom>
          <a:noFill/>
          <a:ln/>
        </p:spPr>
        <p:txBody>
          <a:bodyPr wrap="square" lIns="0" tIns="0" rIns="0" bIns="0" rtlCol="0" anchor="ctr"/>
          <a:lstStyle/>
          <a:p>
            <a:pPr algn="ctr" indent="0" marL="0">
              <a:buNone/>
            </a:pPr>
            <a:r>
              <a:rPr lang="en-US" sz="1500" b="1" dirty="0">
                <a:solidFill>
                  <a:schemeClr val="tx2"/>
                </a:solidFill>
              </a:rPr>
              <a:t>Fertilizer advice</a:t>
            </a:r>
            <a:endParaRPr lang="en-US" sz="1500" dirty="0"/>
          </a:p>
        </p:txBody>
      </p:sp>
      <p:sp>
        <p:nvSpPr>
          <p:cNvPr id="22" name="Text 16"/>
          <p:cNvSpPr txBox="1"/>
          <p:nvPr/>
        </p:nvSpPr>
        <p:spPr>
          <a:xfrm>
            <a:off x="5614416" y="2852928"/>
            <a:ext cx="1280160" cy="822960"/>
          </a:xfrm>
          <a:prstGeom prst="rect">
            <a:avLst/>
          </a:prstGeom>
          <a:noFill/>
          <a:ln/>
        </p:spPr>
        <p:txBody>
          <a:bodyPr wrap="square" lIns="0" tIns="0" rIns="0" bIns="0" rtlCol="0" anchor="t"/>
          <a:lstStyle/>
          <a:p>
            <a:pPr algn="ctr" indent="0" marL="0">
              <a:buNone/>
            </a:pPr>
            <a:r>
              <a:rPr lang="en-US" sz="1200" dirty="0">
                <a:solidFill>
                  <a:schemeClr val="tx1"/>
                </a:solidFill>
              </a:rPr>
              <a:t>N-P-K and pH tips reduce overuse</a:t>
            </a:r>
            <a:endParaRPr lang="en-US" sz="1200" dirty="0"/>
          </a:p>
        </p:txBody>
      </p:sp>
      <p:sp>
        <p:nvSpPr>
          <p:cNvPr id="23" name="Shape 17"/>
          <p:cNvSpPr/>
          <p:nvPr/>
        </p:nvSpPr>
        <p:spPr>
          <a:xfrm>
            <a:off x="7187184" y="1234440"/>
            <a:ext cx="1499616" cy="2514600"/>
          </a:xfrm>
          <a:prstGeom prst="roundRect">
            <a:avLst>
              <a:gd name="adj" fmla="val 6098"/>
            </a:avLst>
          </a:prstGeom>
          <a:solidFill>
            <a:schemeClr val="bg2"/>
          </a:solidFill>
          <a:ln/>
        </p:spPr>
      </p:sp>
      <p:sp>
        <p:nvSpPr>
          <p:cNvPr id="24" name="Shape 18"/>
          <p:cNvSpPr/>
          <p:nvPr/>
        </p:nvSpPr>
        <p:spPr>
          <a:xfrm>
            <a:off x="7571232" y="1463040"/>
            <a:ext cx="731520" cy="731520"/>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7754112" y="1645920"/>
            <a:ext cx="365760" cy="365760"/>
          </a:xfrm>
          <a:prstGeom prst="rect">
            <a:avLst/>
          </a:prstGeom>
        </p:spPr>
      </p:pic>
      <p:sp>
        <p:nvSpPr>
          <p:cNvPr id="26" name="Text 19"/>
          <p:cNvSpPr txBox="1"/>
          <p:nvPr/>
        </p:nvSpPr>
        <p:spPr>
          <a:xfrm>
            <a:off x="7278624" y="2331720"/>
            <a:ext cx="1316736" cy="502920"/>
          </a:xfrm>
          <a:prstGeom prst="rect">
            <a:avLst/>
          </a:prstGeom>
          <a:noFill/>
          <a:ln/>
        </p:spPr>
        <p:txBody>
          <a:bodyPr wrap="square" lIns="0" tIns="0" rIns="0" bIns="0" rtlCol="0" anchor="ctr"/>
          <a:lstStyle/>
          <a:p>
            <a:pPr algn="ctr" indent="0" marL="0">
              <a:buNone/>
            </a:pPr>
            <a:r>
              <a:rPr lang="en-US" sz="1500" b="1" dirty="0">
                <a:solidFill>
                  <a:schemeClr val="tx2"/>
                </a:solidFill>
              </a:rPr>
              <a:t>Farmer dashboard</a:t>
            </a:r>
            <a:endParaRPr lang="en-US" sz="1500" dirty="0"/>
          </a:p>
        </p:txBody>
      </p:sp>
      <p:sp>
        <p:nvSpPr>
          <p:cNvPr id="27" name="Text 20"/>
          <p:cNvSpPr txBox="1"/>
          <p:nvPr/>
        </p:nvSpPr>
        <p:spPr>
          <a:xfrm>
            <a:off x="7296912" y="2852928"/>
            <a:ext cx="1280160" cy="822960"/>
          </a:xfrm>
          <a:prstGeom prst="rect">
            <a:avLst/>
          </a:prstGeom>
          <a:noFill/>
          <a:ln/>
        </p:spPr>
        <p:txBody>
          <a:bodyPr wrap="square" lIns="0" tIns="0" rIns="0" bIns="0" rtlCol="0" anchor="t"/>
          <a:lstStyle/>
          <a:p>
            <a:pPr algn="ctr" indent="0" marL="0">
              <a:buNone/>
            </a:pPr>
            <a:r>
              <a:rPr lang="en-US" sz="1200" dirty="0">
                <a:solidFill>
                  <a:schemeClr val="tx1"/>
                </a:solidFill>
              </a:rPr>
              <a:t>Weather, market, history and profile together</a:t>
            </a:r>
            <a:endParaRPr lang="en-US" sz="1200" dirty="0"/>
          </a:p>
        </p:txBody>
      </p:sp>
      <p:sp>
        <p:nvSpPr>
          <p:cNvPr id="28" name="Shape 21"/>
          <p:cNvSpPr/>
          <p:nvPr/>
        </p:nvSpPr>
        <p:spPr>
          <a:xfrm>
            <a:off x="457200" y="3977640"/>
            <a:ext cx="8229600" cy="594360"/>
          </a:xfrm>
          <a:prstGeom prst="roundRect">
            <a:avLst>
              <a:gd name="adj" fmla="val 15385"/>
            </a:avLst>
          </a:prstGeom>
          <a:solidFill>
            <a:schemeClr val="tx2"/>
          </a:solidFill>
          <a:ln/>
        </p:spPr>
      </p:sp>
      <p:sp>
        <p:nvSpPr>
          <p:cNvPr id="29" name="Text 22"/>
          <p:cNvSpPr txBox="1"/>
          <p:nvPr/>
        </p:nvSpPr>
        <p:spPr>
          <a:xfrm>
            <a:off x="685800" y="3977640"/>
            <a:ext cx="7772400" cy="594360"/>
          </a:xfrm>
          <a:prstGeom prst="rect">
            <a:avLst/>
          </a:prstGeom>
          <a:noFill/>
          <a:ln/>
        </p:spPr>
        <p:txBody>
          <a:bodyPr wrap="square" lIns="0" tIns="0" rIns="0" bIns="0" rtlCol="0" anchor="ctr"/>
          <a:lstStyle/>
          <a:p>
            <a:pPr indent="0" marL="0">
              <a:buNone/>
            </a:pPr>
            <a:r>
              <a:rPr lang="en-US" sz="1400" b="1" dirty="0">
                <a:solidFill>
                  <a:schemeClr val="accent3"/>
                </a:solidFill>
              </a:rPr>
              <a:t>Over the existing system:  </a:t>
            </a:r>
            <a:pPr indent="0" marL="0">
              <a:buNone/>
            </a:pPr>
            <a:r>
              <a:rPr lang="en-US" sz="1400" dirty="0">
                <a:solidFill>
                  <a:schemeClr val="bg1"/>
                </a:solidFill>
              </a:rPr>
              <a:t>data-driven, consistent, and available anytime without waiting for an expert</a:t>
            </a:r>
            <a:endParaRPr lang="en-US" sz="14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Applications</a:t>
            </a:r>
            <a:endParaRPr lang="en-US" sz="3200" dirty="0"/>
          </a:p>
        </p:txBody>
      </p:sp>
      <p:sp>
        <p:nvSpPr>
          <p:cNvPr id="3" name="Shape 1"/>
          <p:cNvSpPr/>
          <p:nvPr/>
        </p:nvSpPr>
        <p:spPr>
          <a:xfrm>
            <a:off x="457200" y="1188720"/>
            <a:ext cx="2834640" cy="3383280"/>
          </a:xfrm>
          <a:prstGeom prst="roundRect">
            <a:avLst>
              <a:gd name="adj" fmla="val 3226"/>
            </a:avLst>
          </a:prstGeom>
          <a:solidFill>
            <a:schemeClr val="tx2"/>
          </a:solidFill>
          <a:ln/>
        </p:spPr>
      </p:sp>
      <p:pic>
        <p:nvPicPr>
          <p:cNvPr id="4" name="Image 0" descr="preencoded.png">    </p:cNvPr>
          <p:cNvPicPr>
            <a:picLocks noChangeAspect="1"/>
          </p:cNvPicPr>
          <p:nvPr/>
        </p:nvPicPr>
        <p:blipFill>
          <a:blip r:embed="rId1"/>
          <a:stretch>
            <a:fillRect/>
          </a:stretch>
        </p:blipFill>
        <p:spPr>
          <a:xfrm>
            <a:off x="1325880" y="1508760"/>
            <a:ext cx="1097280" cy="1097280"/>
          </a:xfrm>
          <a:prstGeom prst="rect">
            <a:avLst/>
          </a:prstGeom>
        </p:spPr>
      </p:pic>
      <p:sp>
        <p:nvSpPr>
          <p:cNvPr id="5" name="Text 2"/>
          <p:cNvSpPr txBox="1"/>
          <p:nvPr/>
        </p:nvSpPr>
        <p:spPr>
          <a:xfrm>
            <a:off x="594360" y="2834640"/>
            <a:ext cx="2560320" cy="685800"/>
          </a:xfrm>
          <a:prstGeom prst="rect">
            <a:avLst/>
          </a:prstGeom>
          <a:noFill/>
          <a:ln/>
        </p:spPr>
        <p:txBody>
          <a:bodyPr wrap="square" lIns="0" tIns="0" rIns="0" bIns="0" rtlCol="0" anchor="t"/>
          <a:lstStyle/>
          <a:p>
            <a:pPr algn="ctr" indent="0" marL="0">
              <a:buNone/>
            </a:pPr>
            <a:r>
              <a:rPr lang="en-US" sz="1700" b="1" dirty="0">
                <a:solidFill>
                  <a:schemeClr val="bg1"/>
                </a:solidFill>
              </a:rPr>
              <a:t>Who can use Smart Crop AI?</a:t>
            </a:r>
            <a:endParaRPr lang="en-US" sz="1700" dirty="0"/>
          </a:p>
        </p:txBody>
      </p:sp>
      <p:sp>
        <p:nvSpPr>
          <p:cNvPr id="6" name="Text 3"/>
          <p:cNvSpPr txBox="1"/>
          <p:nvPr/>
        </p:nvSpPr>
        <p:spPr>
          <a:xfrm>
            <a:off x="685800" y="3566160"/>
            <a:ext cx="2377440" cy="548640"/>
          </a:xfrm>
          <a:prstGeom prst="rect">
            <a:avLst/>
          </a:prstGeom>
          <a:noFill/>
          <a:ln/>
        </p:spPr>
        <p:txBody>
          <a:bodyPr wrap="square" lIns="0" tIns="0" rIns="0" bIns="0" rtlCol="0" anchor="t"/>
          <a:lstStyle/>
          <a:p>
            <a:pPr algn="ctr" indent="0" marL="0">
              <a:buNone/>
            </a:pPr>
            <a:r>
              <a:rPr lang="en-US" sz="1200" dirty="0">
                <a:solidFill>
                  <a:schemeClr val="accent5"/>
                </a:solidFill>
              </a:rPr>
              <a:t>From a single farm to state-level advisory</a:t>
            </a:r>
            <a:endParaRPr lang="en-US" sz="1200" dirty="0"/>
          </a:p>
        </p:txBody>
      </p:sp>
      <p:sp>
        <p:nvSpPr>
          <p:cNvPr id="7" name="Shape 4"/>
          <p:cNvSpPr/>
          <p:nvPr/>
        </p:nvSpPr>
        <p:spPr>
          <a:xfrm>
            <a:off x="3611880" y="1243584"/>
            <a:ext cx="475488" cy="475488"/>
          </a:xfrm>
          <a:prstGeom prst="ellipse">
            <a:avLst/>
          </a:prstGeom>
          <a:solidFill>
            <a:schemeClr val="bg2"/>
          </a:solidFill>
          <a:ln/>
        </p:spPr>
      </p:sp>
      <p:pic>
        <p:nvPicPr>
          <p:cNvPr id="8" name="Image 1" descr="preencoded.png">    </p:cNvPr>
          <p:cNvPicPr>
            <a:picLocks noChangeAspect="1"/>
          </p:cNvPicPr>
          <p:nvPr/>
        </p:nvPicPr>
        <p:blipFill>
          <a:blip r:embed="rId2"/>
          <a:stretch>
            <a:fillRect/>
          </a:stretch>
        </p:blipFill>
        <p:spPr>
          <a:xfrm>
            <a:off x="3730752" y="1362456"/>
            <a:ext cx="237744" cy="237744"/>
          </a:xfrm>
          <a:prstGeom prst="rect">
            <a:avLst/>
          </a:prstGeom>
        </p:spPr>
      </p:pic>
      <p:sp>
        <p:nvSpPr>
          <p:cNvPr id="9" name="Text 5"/>
          <p:cNvSpPr txBox="1"/>
          <p:nvPr/>
        </p:nvSpPr>
        <p:spPr>
          <a:xfrm>
            <a:off x="4251960" y="1207008"/>
            <a:ext cx="4434840" cy="274320"/>
          </a:xfrm>
          <a:prstGeom prst="rect">
            <a:avLst/>
          </a:prstGeom>
          <a:noFill/>
          <a:ln/>
        </p:spPr>
        <p:txBody>
          <a:bodyPr wrap="square" lIns="0" tIns="0" rIns="0" bIns="0" rtlCol="0" anchor="t"/>
          <a:lstStyle/>
          <a:p>
            <a:pPr indent="0" marL="0">
              <a:buNone/>
            </a:pPr>
            <a:r>
              <a:rPr lang="en-US" sz="1500" b="1" dirty="0">
                <a:solidFill>
                  <a:schemeClr val="tx2"/>
                </a:solidFill>
              </a:rPr>
              <a:t>Farmers</a:t>
            </a:r>
            <a:endParaRPr lang="en-US" sz="1500" dirty="0"/>
          </a:p>
        </p:txBody>
      </p:sp>
      <p:sp>
        <p:nvSpPr>
          <p:cNvPr id="10" name="Text 6"/>
          <p:cNvSpPr txBox="1"/>
          <p:nvPr/>
        </p:nvSpPr>
        <p:spPr>
          <a:xfrm>
            <a:off x="4251960" y="1481328"/>
            <a:ext cx="4434840" cy="274320"/>
          </a:xfrm>
          <a:prstGeom prst="rect">
            <a:avLst/>
          </a:prstGeom>
          <a:noFill/>
          <a:ln/>
        </p:spPr>
        <p:txBody>
          <a:bodyPr wrap="square" lIns="0" tIns="0" rIns="0" bIns="0" rtlCol="0" anchor="t"/>
          <a:lstStyle/>
          <a:p>
            <a:pPr indent="0" marL="0">
              <a:buNone/>
            </a:pPr>
            <a:r>
              <a:rPr lang="en-US" sz="1300" dirty="0">
                <a:solidFill>
                  <a:schemeClr val="tx1"/>
                </a:solidFill>
              </a:rPr>
              <a:t>Plan the next season's crop for their land</a:t>
            </a:r>
            <a:endParaRPr lang="en-US" sz="1300" dirty="0"/>
          </a:p>
        </p:txBody>
      </p:sp>
      <p:sp>
        <p:nvSpPr>
          <p:cNvPr id="11" name="Shape 7"/>
          <p:cNvSpPr/>
          <p:nvPr/>
        </p:nvSpPr>
        <p:spPr>
          <a:xfrm>
            <a:off x="3611880" y="1929384"/>
            <a:ext cx="475488" cy="475488"/>
          </a:xfrm>
          <a:prstGeom prst="ellipse">
            <a:avLst/>
          </a:prstGeom>
          <a:solidFill>
            <a:schemeClr val="bg2"/>
          </a:solidFill>
          <a:ln/>
        </p:spPr>
      </p:sp>
      <p:pic>
        <p:nvPicPr>
          <p:cNvPr id="12" name="Image 2" descr="preencoded.png">    </p:cNvPr>
          <p:cNvPicPr>
            <a:picLocks noChangeAspect="1"/>
          </p:cNvPicPr>
          <p:nvPr/>
        </p:nvPicPr>
        <p:blipFill>
          <a:blip r:embed="rId3"/>
          <a:stretch>
            <a:fillRect/>
          </a:stretch>
        </p:blipFill>
        <p:spPr>
          <a:xfrm>
            <a:off x="3730752" y="2048256"/>
            <a:ext cx="237744" cy="237744"/>
          </a:xfrm>
          <a:prstGeom prst="rect">
            <a:avLst/>
          </a:prstGeom>
        </p:spPr>
      </p:pic>
      <p:sp>
        <p:nvSpPr>
          <p:cNvPr id="13" name="Text 8"/>
          <p:cNvSpPr txBox="1"/>
          <p:nvPr/>
        </p:nvSpPr>
        <p:spPr>
          <a:xfrm>
            <a:off x="4251960" y="1892808"/>
            <a:ext cx="4434840" cy="274320"/>
          </a:xfrm>
          <a:prstGeom prst="rect">
            <a:avLst/>
          </a:prstGeom>
          <a:noFill/>
          <a:ln/>
        </p:spPr>
        <p:txBody>
          <a:bodyPr wrap="square" lIns="0" tIns="0" rIns="0" bIns="0" rtlCol="0" anchor="t"/>
          <a:lstStyle/>
          <a:p>
            <a:pPr indent="0" marL="0">
              <a:buNone/>
            </a:pPr>
            <a:r>
              <a:rPr lang="en-US" sz="1500" b="1" dirty="0">
                <a:solidFill>
                  <a:schemeClr val="tx2"/>
                </a:solidFill>
              </a:rPr>
              <a:t>Agriculture students</a:t>
            </a:r>
            <a:endParaRPr lang="en-US" sz="1500" dirty="0"/>
          </a:p>
        </p:txBody>
      </p:sp>
      <p:sp>
        <p:nvSpPr>
          <p:cNvPr id="14" name="Text 9"/>
          <p:cNvSpPr txBox="1"/>
          <p:nvPr/>
        </p:nvSpPr>
        <p:spPr>
          <a:xfrm>
            <a:off x="4251960" y="2167128"/>
            <a:ext cx="4434840" cy="274320"/>
          </a:xfrm>
          <a:prstGeom prst="rect">
            <a:avLst/>
          </a:prstGeom>
          <a:noFill/>
          <a:ln/>
        </p:spPr>
        <p:txBody>
          <a:bodyPr wrap="square" lIns="0" tIns="0" rIns="0" bIns="0" rtlCol="0" anchor="t"/>
          <a:lstStyle/>
          <a:p>
            <a:pPr indent="0" marL="0">
              <a:buNone/>
            </a:pPr>
            <a:r>
              <a:rPr lang="en-US" sz="1300" dirty="0">
                <a:solidFill>
                  <a:schemeClr val="tx1"/>
                </a:solidFill>
              </a:rPr>
              <a:t>Learn how soil and climate affect crops</a:t>
            </a:r>
            <a:endParaRPr lang="en-US" sz="1300" dirty="0"/>
          </a:p>
        </p:txBody>
      </p:sp>
      <p:sp>
        <p:nvSpPr>
          <p:cNvPr id="15" name="Shape 10"/>
          <p:cNvSpPr/>
          <p:nvPr/>
        </p:nvSpPr>
        <p:spPr>
          <a:xfrm>
            <a:off x="3611880" y="2615184"/>
            <a:ext cx="475488" cy="475488"/>
          </a:xfrm>
          <a:prstGeom prst="ellipse">
            <a:avLst/>
          </a:prstGeom>
          <a:solidFill>
            <a:schemeClr val="bg2"/>
          </a:solidFill>
          <a:ln/>
        </p:spPr>
      </p:sp>
      <p:pic>
        <p:nvPicPr>
          <p:cNvPr id="16" name="Image 3" descr="preencoded.png">    </p:cNvPr>
          <p:cNvPicPr>
            <a:picLocks noChangeAspect="1"/>
          </p:cNvPicPr>
          <p:nvPr/>
        </p:nvPicPr>
        <p:blipFill>
          <a:blip r:embed="rId4"/>
          <a:stretch>
            <a:fillRect/>
          </a:stretch>
        </p:blipFill>
        <p:spPr>
          <a:xfrm>
            <a:off x="3730752" y="2734056"/>
            <a:ext cx="237744" cy="237744"/>
          </a:xfrm>
          <a:prstGeom prst="rect">
            <a:avLst/>
          </a:prstGeom>
        </p:spPr>
      </p:pic>
      <p:sp>
        <p:nvSpPr>
          <p:cNvPr id="17" name="Text 11"/>
          <p:cNvSpPr txBox="1"/>
          <p:nvPr/>
        </p:nvSpPr>
        <p:spPr>
          <a:xfrm>
            <a:off x="4251960" y="2578608"/>
            <a:ext cx="4434840" cy="274320"/>
          </a:xfrm>
          <a:prstGeom prst="rect">
            <a:avLst/>
          </a:prstGeom>
          <a:noFill/>
          <a:ln/>
        </p:spPr>
        <p:txBody>
          <a:bodyPr wrap="square" lIns="0" tIns="0" rIns="0" bIns="0" rtlCol="0" anchor="t"/>
          <a:lstStyle/>
          <a:p>
            <a:pPr indent="0" marL="0">
              <a:buNone/>
            </a:pPr>
            <a:r>
              <a:rPr lang="en-US" sz="1500" b="1" dirty="0">
                <a:solidFill>
                  <a:schemeClr val="tx2"/>
                </a:solidFill>
              </a:rPr>
              <a:t>Agri advisory systems</a:t>
            </a:r>
            <a:endParaRPr lang="en-US" sz="1500" dirty="0"/>
          </a:p>
        </p:txBody>
      </p:sp>
      <p:sp>
        <p:nvSpPr>
          <p:cNvPr id="18" name="Text 12"/>
          <p:cNvSpPr txBox="1"/>
          <p:nvPr/>
        </p:nvSpPr>
        <p:spPr>
          <a:xfrm>
            <a:off x="4251960" y="2852928"/>
            <a:ext cx="4434840" cy="274320"/>
          </a:xfrm>
          <a:prstGeom prst="rect">
            <a:avLst/>
          </a:prstGeom>
          <a:noFill/>
          <a:ln/>
        </p:spPr>
        <p:txBody>
          <a:bodyPr wrap="square" lIns="0" tIns="0" rIns="0" bIns="0" rtlCol="0" anchor="t"/>
          <a:lstStyle/>
          <a:p>
            <a:pPr indent="0" marL="0">
              <a:buNone/>
            </a:pPr>
            <a:r>
              <a:rPr lang="en-US" sz="1300" dirty="0">
                <a:solidFill>
                  <a:schemeClr val="tx1"/>
                </a:solidFill>
              </a:rPr>
              <a:t>Engine behind advisory centres and helplines</a:t>
            </a:r>
            <a:endParaRPr lang="en-US" sz="1300" dirty="0"/>
          </a:p>
        </p:txBody>
      </p:sp>
      <p:sp>
        <p:nvSpPr>
          <p:cNvPr id="19" name="Shape 13"/>
          <p:cNvSpPr/>
          <p:nvPr/>
        </p:nvSpPr>
        <p:spPr>
          <a:xfrm>
            <a:off x="3611880" y="3300984"/>
            <a:ext cx="475488" cy="475488"/>
          </a:xfrm>
          <a:prstGeom prst="ellipse">
            <a:avLst/>
          </a:prstGeom>
          <a:solidFill>
            <a:schemeClr val="bg2"/>
          </a:solidFill>
          <a:ln/>
        </p:spPr>
      </p:sp>
      <p:pic>
        <p:nvPicPr>
          <p:cNvPr id="20" name="Image 4" descr="preencoded.png">    </p:cNvPr>
          <p:cNvPicPr>
            <a:picLocks noChangeAspect="1"/>
          </p:cNvPicPr>
          <p:nvPr/>
        </p:nvPicPr>
        <p:blipFill>
          <a:blip r:embed="rId5"/>
          <a:stretch>
            <a:fillRect/>
          </a:stretch>
        </p:blipFill>
        <p:spPr>
          <a:xfrm>
            <a:off x="3730752" y="3419856"/>
            <a:ext cx="237744" cy="237744"/>
          </a:xfrm>
          <a:prstGeom prst="rect">
            <a:avLst/>
          </a:prstGeom>
        </p:spPr>
      </p:pic>
      <p:sp>
        <p:nvSpPr>
          <p:cNvPr id="21" name="Text 14"/>
          <p:cNvSpPr txBox="1"/>
          <p:nvPr/>
        </p:nvSpPr>
        <p:spPr>
          <a:xfrm>
            <a:off x="4251960" y="3264408"/>
            <a:ext cx="4434840" cy="274320"/>
          </a:xfrm>
          <a:prstGeom prst="rect">
            <a:avLst/>
          </a:prstGeom>
          <a:noFill/>
          <a:ln/>
        </p:spPr>
        <p:txBody>
          <a:bodyPr wrap="square" lIns="0" tIns="0" rIns="0" bIns="0" rtlCol="0" anchor="t"/>
          <a:lstStyle/>
          <a:p>
            <a:pPr indent="0" marL="0">
              <a:buNone/>
            </a:pPr>
            <a:r>
              <a:rPr lang="en-US" sz="1500" b="1" dirty="0">
                <a:solidFill>
                  <a:schemeClr val="tx2"/>
                </a:solidFill>
              </a:rPr>
              <a:t>Government farming support</a:t>
            </a:r>
            <a:endParaRPr lang="en-US" sz="1500" dirty="0"/>
          </a:p>
        </p:txBody>
      </p:sp>
      <p:sp>
        <p:nvSpPr>
          <p:cNvPr id="22" name="Text 15"/>
          <p:cNvSpPr txBox="1"/>
          <p:nvPr/>
        </p:nvSpPr>
        <p:spPr>
          <a:xfrm>
            <a:off x="4251960" y="3538728"/>
            <a:ext cx="4434840" cy="274320"/>
          </a:xfrm>
          <a:prstGeom prst="rect">
            <a:avLst/>
          </a:prstGeom>
          <a:noFill/>
          <a:ln/>
        </p:spPr>
        <p:txBody>
          <a:bodyPr wrap="square" lIns="0" tIns="0" rIns="0" bIns="0" rtlCol="0" anchor="t"/>
          <a:lstStyle/>
          <a:p>
            <a:pPr indent="0" marL="0">
              <a:buNone/>
            </a:pPr>
            <a:r>
              <a:rPr lang="en-US" sz="1300" dirty="0">
                <a:solidFill>
                  <a:schemeClr val="tx1"/>
                </a:solidFill>
              </a:rPr>
              <a:t>Pair with soil health card data for guidance</a:t>
            </a:r>
            <a:endParaRPr lang="en-US" sz="1300" dirty="0"/>
          </a:p>
        </p:txBody>
      </p:sp>
      <p:sp>
        <p:nvSpPr>
          <p:cNvPr id="23" name="Shape 16"/>
          <p:cNvSpPr/>
          <p:nvPr/>
        </p:nvSpPr>
        <p:spPr>
          <a:xfrm>
            <a:off x="3611880" y="3986784"/>
            <a:ext cx="475488" cy="475488"/>
          </a:xfrm>
          <a:prstGeom prst="ellipse">
            <a:avLst/>
          </a:prstGeom>
          <a:solidFill>
            <a:schemeClr val="bg2"/>
          </a:solidFill>
          <a:ln/>
        </p:spPr>
      </p:sp>
      <p:pic>
        <p:nvPicPr>
          <p:cNvPr id="24" name="Image 5" descr="preencoded.png">    </p:cNvPr>
          <p:cNvPicPr>
            <a:picLocks noChangeAspect="1"/>
          </p:cNvPicPr>
          <p:nvPr/>
        </p:nvPicPr>
        <p:blipFill>
          <a:blip r:embed="rId6"/>
          <a:stretch>
            <a:fillRect/>
          </a:stretch>
        </p:blipFill>
        <p:spPr>
          <a:xfrm>
            <a:off x="3730752" y="4105656"/>
            <a:ext cx="237744" cy="237744"/>
          </a:xfrm>
          <a:prstGeom prst="rect">
            <a:avLst/>
          </a:prstGeom>
        </p:spPr>
      </p:pic>
      <p:sp>
        <p:nvSpPr>
          <p:cNvPr id="25" name="Text 17"/>
          <p:cNvSpPr txBox="1"/>
          <p:nvPr/>
        </p:nvSpPr>
        <p:spPr>
          <a:xfrm>
            <a:off x="4251960" y="3950208"/>
            <a:ext cx="4434840" cy="274320"/>
          </a:xfrm>
          <a:prstGeom prst="rect">
            <a:avLst/>
          </a:prstGeom>
          <a:noFill/>
          <a:ln/>
        </p:spPr>
        <p:txBody>
          <a:bodyPr wrap="square" lIns="0" tIns="0" rIns="0" bIns="0" rtlCol="0" anchor="t"/>
          <a:lstStyle/>
          <a:p>
            <a:pPr indent="0" marL="0">
              <a:buNone/>
            </a:pPr>
            <a:r>
              <a:rPr lang="en-US" sz="1500" b="1" dirty="0">
                <a:solidFill>
                  <a:schemeClr val="tx2"/>
                </a:solidFill>
              </a:rPr>
              <a:t>Smart farming apps</a:t>
            </a:r>
            <a:endParaRPr lang="en-US" sz="1500" dirty="0"/>
          </a:p>
        </p:txBody>
      </p:sp>
      <p:sp>
        <p:nvSpPr>
          <p:cNvPr id="26" name="Text 18"/>
          <p:cNvSpPr txBox="1"/>
          <p:nvPr/>
        </p:nvSpPr>
        <p:spPr>
          <a:xfrm>
            <a:off x="4251960" y="4224528"/>
            <a:ext cx="4434840" cy="274320"/>
          </a:xfrm>
          <a:prstGeom prst="rect">
            <a:avLst/>
          </a:prstGeom>
          <a:noFill/>
          <a:ln/>
        </p:spPr>
        <p:txBody>
          <a:bodyPr wrap="square" lIns="0" tIns="0" rIns="0" bIns="0" rtlCol="0" anchor="t"/>
          <a:lstStyle/>
          <a:p>
            <a:pPr indent="0" marL="0">
              <a:buNone/>
            </a:pPr>
            <a:r>
              <a:rPr lang="en-US" sz="1300" dirty="0">
                <a:solidFill>
                  <a:schemeClr val="tx1"/>
                </a:solidFill>
              </a:rPr>
              <a:t>Plug in through the REST API</a:t>
            </a:r>
            <a:endParaRPr lang="en-US" sz="13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Limitations</a:t>
            </a:r>
            <a:endParaRPr lang="en-US" sz="3200" dirty="0"/>
          </a:p>
        </p:txBody>
      </p:sp>
      <p:sp>
        <p:nvSpPr>
          <p:cNvPr id="3" name="Shape 1"/>
          <p:cNvSpPr/>
          <p:nvPr/>
        </p:nvSpPr>
        <p:spPr>
          <a:xfrm>
            <a:off x="457200" y="1234440"/>
            <a:ext cx="2560320" cy="2514600"/>
          </a:xfrm>
          <a:prstGeom prst="roundRect">
            <a:avLst>
              <a:gd name="adj" fmla="val 3636"/>
            </a:avLst>
          </a:prstGeom>
          <a:solidFill>
            <a:schemeClr val="bg2"/>
          </a:solidFill>
          <a:ln/>
        </p:spPr>
      </p:sp>
      <p:sp>
        <p:nvSpPr>
          <p:cNvPr id="4" name="Text 2"/>
          <p:cNvSpPr txBox="1"/>
          <p:nvPr/>
        </p:nvSpPr>
        <p:spPr>
          <a:xfrm>
            <a:off x="731520" y="1417320"/>
            <a:ext cx="1371600" cy="594360"/>
          </a:xfrm>
          <a:prstGeom prst="rect">
            <a:avLst/>
          </a:prstGeom>
          <a:noFill/>
          <a:ln/>
        </p:spPr>
        <p:txBody>
          <a:bodyPr wrap="square" lIns="0" tIns="0" rIns="0" bIns="0" rtlCol="0" anchor="t"/>
          <a:lstStyle/>
          <a:p>
            <a:pPr indent="0" marL="0">
              <a:buNone/>
            </a:pPr>
            <a:r>
              <a:rPr lang="en-US" sz="3600" b="1" dirty="0">
                <a:solidFill>
                  <a:schemeClr val="accent4"/>
                </a:solidFill>
              </a:rPr>
              <a:t>01</a:t>
            </a:r>
            <a:endParaRPr lang="en-US" sz="3600" dirty="0"/>
          </a:p>
        </p:txBody>
      </p:sp>
      <p:sp>
        <p:nvSpPr>
          <p:cNvPr id="5" name="Text 3"/>
          <p:cNvSpPr txBox="1"/>
          <p:nvPr/>
        </p:nvSpPr>
        <p:spPr>
          <a:xfrm>
            <a:off x="731520" y="2057400"/>
            <a:ext cx="2103120" cy="548640"/>
          </a:xfrm>
          <a:prstGeom prst="rect">
            <a:avLst/>
          </a:prstGeom>
          <a:noFill/>
          <a:ln/>
        </p:spPr>
        <p:txBody>
          <a:bodyPr wrap="square" lIns="0" tIns="0" rIns="0" bIns="0" rtlCol="0" anchor="t"/>
          <a:lstStyle/>
          <a:p>
            <a:pPr indent="0" marL="0">
              <a:buNone/>
            </a:pPr>
            <a:r>
              <a:rPr lang="en-US" sz="1600" b="1" dirty="0">
                <a:solidFill>
                  <a:schemeClr val="tx2"/>
                </a:solidFill>
              </a:rPr>
              <a:t>Depends on dataset quality</a:t>
            </a:r>
            <a:endParaRPr lang="en-US" sz="1600" dirty="0"/>
          </a:p>
        </p:txBody>
      </p:sp>
      <p:sp>
        <p:nvSpPr>
          <p:cNvPr id="6" name="Text 4"/>
          <p:cNvSpPr txBox="1"/>
          <p:nvPr/>
        </p:nvSpPr>
        <p:spPr>
          <a:xfrm>
            <a:off x="731520" y="2651760"/>
            <a:ext cx="2103120" cy="1005840"/>
          </a:xfrm>
          <a:prstGeom prst="rect">
            <a:avLst/>
          </a:prstGeom>
          <a:noFill/>
          <a:ln/>
        </p:spPr>
        <p:txBody>
          <a:bodyPr wrap="square" lIns="0" tIns="0" rIns="0" bIns="0" rtlCol="0" anchor="t"/>
          <a:lstStyle/>
          <a:p>
            <a:pPr indent="0" marL="0">
              <a:buNone/>
            </a:pPr>
            <a:r>
              <a:rPr lang="en-US" sz="1300" dirty="0">
                <a:solidFill>
                  <a:schemeClr val="tx1"/>
                </a:solidFill>
              </a:rPr>
              <a:t>Trained on one public dataset of 2,200 records; crops outside the 22 classes can't be predicted.</a:t>
            </a:r>
            <a:endParaRPr lang="en-US" sz="1300" dirty="0"/>
          </a:p>
        </p:txBody>
      </p:sp>
      <p:sp>
        <p:nvSpPr>
          <p:cNvPr id="7" name="Shape 5"/>
          <p:cNvSpPr/>
          <p:nvPr/>
        </p:nvSpPr>
        <p:spPr>
          <a:xfrm>
            <a:off x="3291840" y="1234440"/>
            <a:ext cx="2560320" cy="2514600"/>
          </a:xfrm>
          <a:prstGeom prst="roundRect">
            <a:avLst>
              <a:gd name="adj" fmla="val 3636"/>
            </a:avLst>
          </a:prstGeom>
          <a:solidFill>
            <a:schemeClr val="bg2"/>
          </a:solidFill>
          <a:ln/>
        </p:spPr>
      </p:sp>
      <p:sp>
        <p:nvSpPr>
          <p:cNvPr id="8" name="Text 6"/>
          <p:cNvSpPr txBox="1"/>
          <p:nvPr/>
        </p:nvSpPr>
        <p:spPr>
          <a:xfrm>
            <a:off x="3566160" y="1417320"/>
            <a:ext cx="1371600" cy="594360"/>
          </a:xfrm>
          <a:prstGeom prst="rect">
            <a:avLst/>
          </a:prstGeom>
          <a:noFill/>
          <a:ln/>
        </p:spPr>
        <p:txBody>
          <a:bodyPr wrap="square" lIns="0" tIns="0" rIns="0" bIns="0" rtlCol="0" anchor="t"/>
          <a:lstStyle/>
          <a:p>
            <a:pPr indent="0" marL="0">
              <a:buNone/>
            </a:pPr>
            <a:r>
              <a:rPr lang="en-US" sz="3600" b="1" dirty="0">
                <a:solidFill>
                  <a:schemeClr val="accent4"/>
                </a:solidFill>
              </a:rPr>
              <a:t>02</a:t>
            </a:r>
            <a:endParaRPr lang="en-US" sz="3600" dirty="0"/>
          </a:p>
        </p:txBody>
      </p:sp>
      <p:sp>
        <p:nvSpPr>
          <p:cNvPr id="9" name="Text 7"/>
          <p:cNvSpPr txBox="1"/>
          <p:nvPr/>
        </p:nvSpPr>
        <p:spPr>
          <a:xfrm>
            <a:off x="3566160" y="2057400"/>
            <a:ext cx="2103120" cy="548640"/>
          </a:xfrm>
          <a:prstGeom prst="rect">
            <a:avLst/>
          </a:prstGeom>
          <a:noFill/>
          <a:ln/>
        </p:spPr>
        <p:txBody>
          <a:bodyPr wrap="square" lIns="0" tIns="0" rIns="0" bIns="0" rtlCol="0" anchor="t"/>
          <a:lstStyle/>
          <a:p>
            <a:pPr indent="0" marL="0">
              <a:buNone/>
            </a:pPr>
            <a:r>
              <a:rPr lang="en-US" sz="1600" b="1" dirty="0">
                <a:solidFill>
                  <a:schemeClr val="tx2"/>
                </a:solidFill>
              </a:rPr>
              <a:t>Needs accurate inputs</a:t>
            </a:r>
            <a:endParaRPr lang="en-US" sz="1600" dirty="0"/>
          </a:p>
        </p:txBody>
      </p:sp>
      <p:sp>
        <p:nvSpPr>
          <p:cNvPr id="10" name="Text 8"/>
          <p:cNvSpPr txBox="1"/>
          <p:nvPr/>
        </p:nvSpPr>
        <p:spPr>
          <a:xfrm>
            <a:off x="3566160" y="2651760"/>
            <a:ext cx="2103120" cy="1005840"/>
          </a:xfrm>
          <a:prstGeom prst="rect">
            <a:avLst/>
          </a:prstGeom>
          <a:noFill/>
          <a:ln/>
        </p:spPr>
        <p:txBody>
          <a:bodyPr wrap="square" lIns="0" tIns="0" rIns="0" bIns="0" rtlCol="0" anchor="t"/>
          <a:lstStyle/>
          <a:p>
            <a:pPr indent="0" marL="0">
              <a:buNone/>
            </a:pPr>
            <a:r>
              <a:rPr lang="en-US" sz="1300" dirty="0">
                <a:solidFill>
                  <a:schemeClr val="tx1"/>
                </a:solidFill>
              </a:rPr>
              <a:t>Wrong soil test or weather values lead to wrong recommendations.</a:t>
            </a:r>
            <a:endParaRPr lang="en-US" sz="1300" dirty="0"/>
          </a:p>
        </p:txBody>
      </p:sp>
      <p:sp>
        <p:nvSpPr>
          <p:cNvPr id="11" name="Shape 9"/>
          <p:cNvSpPr/>
          <p:nvPr/>
        </p:nvSpPr>
        <p:spPr>
          <a:xfrm>
            <a:off x="6126480" y="1234440"/>
            <a:ext cx="2560320" cy="2514600"/>
          </a:xfrm>
          <a:prstGeom prst="roundRect">
            <a:avLst>
              <a:gd name="adj" fmla="val 3636"/>
            </a:avLst>
          </a:prstGeom>
          <a:solidFill>
            <a:schemeClr val="bg2"/>
          </a:solidFill>
          <a:ln/>
        </p:spPr>
      </p:sp>
      <p:sp>
        <p:nvSpPr>
          <p:cNvPr id="12" name="Text 10"/>
          <p:cNvSpPr txBox="1"/>
          <p:nvPr/>
        </p:nvSpPr>
        <p:spPr>
          <a:xfrm>
            <a:off x="6400800" y="1417320"/>
            <a:ext cx="1371600" cy="594360"/>
          </a:xfrm>
          <a:prstGeom prst="rect">
            <a:avLst/>
          </a:prstGeom>
          <a:noFill/>
          <a:ln/>
        </p:spPr>
        <p:txBody>
          <a:bodyPr wrap="square" lIns="0" tIns="0" rIns="0" bIns="0" rtlCol="0" anchor="t"/>
          <a:lstStyle/>
          <a:p>
            <a:pPr indent="0" marL="0">
              <a:buNone/>
            </a:pPr>
            <a:r>
              <a:rPr lang="en-US" sz="3600" b="1" dirty="0">
                <a:solidFill>
                  <a:schemeClr val="accent4"/>
                </a:solidFill>
              </a:rPr>
              <a:t>03</a:t>
            </a:r>
            <a:endParaRPr lang="en-US" sz="3600" dirty="0"/>
          </a:p>
        </p:txBody>
      </p:sp>
      <p:sp>
        <p:nvSpPr>
          <p:cNvPr id="13" name="Text 11"/>
          <p:cNvSpPr txBox="1"/>
          <p:nvPr/>
        </p:nvSpPr>
        <p:spPr>
          <a:xfrm>
            <a:off x="6400800" y="2057400"/>
            <a:ext cx="2103120" cy="548640"/>
          </a:xfrm>
          <a:prstGeom prst="rect">
            <a:avLst/>
          </a:prstGeom>
          <a:noFill/>
          <a:ln/>
        </p:spPr>
        <p:txBody>
          <a:bodyPr wrap="square" lIns="0" tIns="0" rIns="0" bIns="0" rtlCol="0" anchor="t"/>
          <a:lstStyle/>
          <a:p>
            <a:pPr indent="0" marL="0">
              <a:buNone/>
            </a:pPr>
            <a:r>
              <a:rPr lang="en-US" sz="1600" b="1" dirty="0">
                <a:solidFill>
                  <a:schemeClr val="tx2"/>
                </a:solidFill>
              </a:rPr>
              <a:t>Sample-based updates</a:t>
            </a:r>
            <a:endParaRPr lang="en-US" sz="1600" dirty="0"/>
          </a:p>
        </p:txBody>
      </p:sp>
      <p:sp>
        <p:nvSpPr>
          <p:cNvPr id="14" name="Text 12"/>
          <p:cNvSpPr txBox="1"/>
          <p:nvPr/>
        </p:nvSpPr>
        <p:spPr>
          <a:xfrm>
            <a:off x="6400800" y="2651760"/>
            <a:ext cx="2103120" cy="1005840"/>
          </a:xfrm>
          <a:prstGeom prst="rect">
            <a:avLst/>
          </a:prstGeom>
          <a:noFill/>
          <a:ln/>
        </p:spPr>
        <p:txBody>
          <a:bodyPr wrap="square" lIns="0" tIns="0" rIns="0" bIns="0" rtlCol="0" anchor="t"/>
          <a:lstStyle/>
          <a:p>
            <a:pPr indent="0" marL="0">
              <a:buNone/>
            </a:pPr>
            <a:r>
              <a:rPr lang="en-US" sz="1300" dirty="0">
                <a:solidFill>
                  <a:schemeClr val="tx1"/>
                </a:solidFill>
              </a:rPr>
              <a:t>Weather and market screens use sample data, not live feeds.</a:t>
            </a:r>
            <a:endParaRPr lang="en-US" sz="1300" dirty="0"/>
          </a:p>
        </p:txBody>
      </p:sp>
      <p:sp>
        <p:nvSpPr>
          <p:cNvPr id="15" name="Shape 13"/>
          <p:cNvSpPr/>
          <p:nvPr/>
        </p:nvSpPr>
        <p:spPr>
          <a:xfrm>
            <a:off x="457200" y="3977640"/>
            <a:ext cx="8229600" cy="594360"/>
          </a:xfrm>
          <a:prstGeom prst="roundRect">
            <a:avLst>
              <a:gd name="adj" fmla="val 15385"/>
            </a:avLst>
          </a:prstGeom>
          <a:solidFill>
            <a:schemeClr val="bg1"/>
          </a:solidFill>
          <a:ln w="12700">
            <a:solidFill>
              <a:schemeClr val="accent4"/>
            </a:solidFill>
            <a:prstDash val="solid"/>
          </a:ln>
        </p:spPr>
      </p:sp>
      <p:sp>
        <p:nvSpPr>
          <p:cNvPr id="16" name="Shape 14"/>
          <p:cNvSpPr/>
          <p:nvPr/>
        </p:nvSpPr>
        <p:spPr>
          <a:xfrm>
            <a:off x="594360" y="4069080"/>
            <a:ext cx="411480" cy="411480"/>
          </a:xfrm>
          <a:prstGeom prst="ellipse">
            <a:avLst/>
          </a:prstGeom>
          <a:solidFill>
            <a:schemeClr val="bg1"/>
          </a:solidFill>
          <a:ln/>
        </p:spPr>
      </p:sp>
      <p:pic>
        <p:nvPicPr>
          <p:cNvPr id="17" name="Image 0" descr="preencoded.png">    </p:cNvPr>
          <p:cNvPicPr>
            <a:picLocks noChangeAspect="1"/>
          </p:cNvPicPr>
          <p:nvPr/>
        </p:nvPicPr>
        <p:blipFill>
          <a:blip r:embed="rId1"/>
          <a:stretch>
            <a:fillRect/>
          </a:stretch>
        </p:blipFill>
        <p:spPr>
          <a:xfrm>
            <a:off x="697230" y="4171950"/>
            <a:ext cx="205740" cy="205740"/>
          </a:xfrm>
          <a:prstGeom prst="rect">
            <a:avLst/>
          </a:prstGeom>
        </p:spPr>
      </p:pic>
      <p:sp>
        <p:nvSpPr>
          <p:cNvPr id="18" name="Text 15"/>
          <p:cNvSpPr txBox="1"/>
          <p:nvPr/>
        </p:nvSpPr>
        <p:spPr>
          <a:xfrm>
            <a:off x="1097280" y="3977640"/>
            <a:ext cx="7498080" cy="594360"/>
          </a:xfrm>
          <a:prstGeom prst="rect">
            <a:avLst/>
          </a:prstGeom>
          <a:noFill/>
          <a:ln/>
        </p:spPr>
        <p:txBody>
          <a:bodyPr wrap="square" lIns="0" tIns="0" rIns="0" bIns="0" rtlCol="0" anchor="ctr"/>
          <a:lstStyle/>
          <a:p>
            <a:pPr indent="0" marL="0">
              <a:buNone/>
            </a:pPr>
            <a:r>
              <a:rPr lang="en-US" sz="1300" i="1" dirty="0">
                <a:solidFill>
                  <a:schemeClr val="tx1"/>
                </a:solidFill>
              </a:rPr>
              <a:t>The very high accuracy partly reflects a clean, balanced dataset; real field data will be noisier.</a:t>
            </a:r>
            <a:endParaRPr lang="en-US" sz="13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Future Scope</a:t>
            </a:r>
            <a:endParaRPr lang="en-US" sz="3200" dirty="0"/>
          </a:p>
        </p:txBody>
      </p:sp>
      <p:sp>
        <p:nvSpPr>
          <p:cNvPr id="3" name="Shape 1"/>
          <p:cNvSpPr/>
          <p:nvPr/>
        </p:nvSpPr>
        <p:spPr>
          <a:xfrm>
            <a:off x="914400" y="1417320"/>
            <a:ext cx="731520" cy="73152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1097280" y="1600200"/>
            <a:ext cx="365760" cy="365760"/>
          </a:xfrm>
          <a:prstGeom prst="rect">
            <a:avLst/>
          </a:prstGeom>
        </p:spPr>
      </p:pic>
      <p:sp>
        <p:nvSpPr>
          <p:cNvPr id="5" name="Shape 2"/>
          <p:cNvSpPr/>
          <p:nvPr/>
        </p:nvSpPr>
        <p:spPr>
          <a:xfrm>
            <a:off x="457200" y="2377440"/>
            <a:ext cx="1737360" cy="457200"/>
          </a:xfrm>
          <a:prstGeom prst="homePlate">
            <a:avLst/>
          </a:prstGeom>
          <a:solidFill>
            <a:schemeClr val="accent5"/>
          </a:solidFill>
          <a:ln/>
        </p:spPr>
      </p:sp>
      <p:sp>
        <p:nvSpPr>
          <p:cNvPr id="6" name="Text 3"/>
          <p:cNvSpPr txBox="1"/>
          <p:nvPr/>
        </p:nvSpPr>
        <p:spPr>
          <a:xfrm>
            <a:off x="685800" y="2377440"/>
            <a:ext cx="1280160" cy="457200"/>
          </a:xfrm>
          <a:prstGeom prst="rect">
            <a:avLst/>
          </a:prstGeom>
          <a:noFill/>
          <a:ln/>
        </p:spPr>
        <p:txBody>
          <a:bodyPr wrap="square" lIns="0" tIns="0" rIns="0" bIns="0" rtlCol="0" anchor="ctr"/>
          <a:lstStyle/>
          <a:p>
            <a:pPr algn="ctr" indent="0" marL="0">
              <a:buNone/>
            </a:pPr>
            <a:r>
              <a:rPr lang="en-US" sz="1200" b="1" dirty="0">
                <a:solidFill>
                  <a:schemeClr val="tx2"/>
                </a:solidFill>
              </a:rPr>
              <a:t>Phase 1</a:t>
            </a:r>
            <a:endParaRPr lang="en-US" sz="1200" dirty="0"/>
          </a:p>
        </p:txBody>
      </p:sp>
      <p:sp>
        <p:nvSpPr>
          <p:cNvPr id="7" name="Text 4"/>
          <p:cNvSpPr txBox="1"/>
          <p:nvPr/>
        </p:nvSpPr>
        <p:spPr>
          <a:xfrm>
            <a:off x="502920" y="3063240"/>
            <a:ext cx="1554480" cy="502920"/>
          </a:xfrm>
          <a:prstGeom prst="rect">
            <a:avLst/>
          </a:prstGeom>
          <a:noFill/>
          <a:ln/>
        </p:spPr>
        <p:txBody>
          <a:bodyPr wrap="square" lIns="0" tIns="0" rIns="0" bIns="0" rtlCol="0" anchor="t"/>
          <a:lstStyle/>
          <a:p>
            <a:pPr algn="ctr" indent="0" marL="0">
              <a:buNone/>
            </a:pPr>
            <a:r>
              <a:rPr lang="en-US" sz="1500" b="1" dirty="0">
                <a:solidFill>
                  <a:schemeClr val="tx2"/>
                </a:solidFill>
              </a:rPr>
              <a:t>Live weather API</a:t>
            </a:r>
            <a:endParaRPr lang="en-US" sz="1500" dirty="0"/>
          </a:p>
        </p:txBody>
      </p:sp>
      <p:sp>
        <p:nvSpPr>
          <p:cNvPr id="8" name="Text 5"/>
          <p:cNvSpPr txBox="1"/>
          <p:nvPr/>
        </p:nvSpPr>
        <p:spPr>
          <a:xfrm>
            <a:off x="548640" y="3584448"/>
            <a:ext cx="1463040" cy="822960"/>
          </a:xfrm>
          <a:prstGeom prst="rect">
            <a:avLst/>
          </a:prstGeom>
          <a:noFill/>
          <a:ln/>
        </p:spPr>
        <p:txBody>
          <a:bodyPr wrap="square" lIns="0" tIns="0" rIns="0" bIns="0" rtlCol="0" anchor="t"/>
          <a:lstStyle/>
          <a:p>
            <a:pPr algn="ctr" indent="0" marL="0">
              <a:buNone/>
            </a:pPr>
            <a:r>
              <a:rPr lang="en-US" sz="1200" dirty="0">
                <a:solidFill>
                  <a:schemeClr val="tx1"/>
                </a:solidFill>
              </a:rPr>
              <a:t>Real-time forecasts, e.g. OpenWeatherMap</a:t>
            </a:r>
            <a:endParaRPr lang="en-US" sz="1200" dirty="0"/>
          </a:p>
        </p:txBody>
      </p:sp>
      <p:sp>
        <p:nvSpPr>
          <p:cNvPr id="9" name="Shape 6"/>
          <p:cNvSpPr/>
          <p:nvPr/>
        </p:nvSpPr>
        <p:spPr>
          <a:xfrm>
            <a:off x="2560320" y="1417320"/>
            <a:ext cx="731520" cy="73152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2743200" y="1600200"/>
            <a:ext cx="365760" cy="365760"/>
          </a:xfrm>
          <a:prstGeom prst="rect">
            <a:avLst/>
          </a:prstGeom>
        </p:spPr>
      </p:pic>
      <p:sp>
        <p:nvSpPr>
          <p:cNvPr id="11" name="Shape 7"/>
          <p:cNvSpPr/>
          <p:nvPr/>
        </p:nvSpPr>
        <p:spPr>
          <a:xfrm>
            <a:off x="2103120" y="2377440"/>
            <a:ext cx="1737360" cy="457200"/>
          </a:xfrm>
          <a:prstGeom prst="chevron">
            <a:avLst/>
          </a:prstGeom>
          <a:solidFill>
            <a:schemeClr val="accent2"/>
          </a:solidFill>
          <a:ln/>
        </p:spPr>
      </p:sp>
      <p:sp>
        <p:nvSpPr>
          <p:cNvPr id="12" name="Text 8"/>
          <p:cNvSpPr txBox="1"/>
          <p:nvPr/>
        </p:nvSpPr>
        <p:spPr>
          <a:xfrm>
            <a:off x="2331720" y="2377440"/>
            <a:ext cx="1280160" cy="457200"/>
          </a:xfrm>
          <a:prstGeom prst="rect">
            <a:avLst/>
          </a:prstGeom>
          <a:noFill/>
          <a:ln/>
        </p:spPr>
        <p:txBody>
          <a:bodyPr wrap="square" lIns="0" tIns="0" rIns="0" bIns="0" rtlCol="0" anchor="ctr"/>
          <a:lstStyle/>
          <a:p>
            <a:pPr algn="ctr" indent="0" marL="0">
              <a:buNone/>
            </a:pPr>
            <a:r>
              <a:rPr lang="en-US" sz="1200" b="1" dirty="0">
                <a:solidFill>
                  <a:schemeClr val="tx2"/>
                </a:solidFill>
              </a:rPr>
              <a:t>Phase 2</a:t>
            </a:r>
            <a:endParaRPr lang="en-US" sz="1200" dirty="0"/>
          </a:p>
        </p:txBody>
      </p:sp>
      <p:sp>
        <p:nvSpPr>
          <p:cNvPr id="13" name="Text 9"/>
          <p:cNvSpPr txBox="1"/>
          <p:nvPr/>
        </p:nvSpPr>
        <p:spPr>
          <a:xfrm>
            <a:off x="2148840" y="3063240"/>
            <a:ext cx="1554480" cy="502920"/>
          </a:xfrm>
          <a:prstGeom prst="rect">
            <a:avLst/>
          </a:prstGeom>
          <a:noFill/>
          <a:ln/>
        </p:spPr>
        <p:txBody>
          <a:bodyPr wrap="square" lIns="0" tIns="0" rIns="0" bIns="0" rtlCol="0" anchor="t"/>
          <a:lstStyle/>
          <a:p>
            <a:pPr algn="ctr" indent="0" marL="0">
              <a:buNone/>
            </a:pPr>
            <a:r>
              <a:rPr lang="en-US" sz="1500" b="1" dirty="0">
                <a:solidFill>
                  <a:schemeClr val="tx2"/>
                </a:solidFill>
              </a:rPr>
              <a:t>Market price API</a:t>
            </a:r>
            <a:endParaRPr lang="en-US" sz="1500" dirty="0"/>
          </a:p>
        </p:txBody>
      </p:sp>
      <p:sp>
        <p:nvSpPr>
          <p:cNvPr id="14" name="Text 10"/>
          <p:cNvSpPr txBox="1"/>
          <p:nvPr/>
        </p:nvSpPr>
        <p:spPr>
          <a:xfrm>
            <a:off x="2194560" y="3584448"/>
            <a:ext cx="1463040" cy="822960"/>
          </a:xfrm>
          <a:prstGeom prst="rect">
            <a:avLst/>
          </a:prstGeom>
          <a:noFill/>
          <a:ln/>
        </p:spPr>
        <p:txBody>
          <a:bodyPr wrap="square" lIns="0" tIns="0" rIns="0" bIns="0" rtlCol="0" anchor="t"/>
          <a:lstStyle/>
          <a:p>
            <a:pPr algn="ctr" indent="0" marL="0">
              <a:buNone/>
            </a:pPr>
            <a:r>
              <a:rPr lang="en-US" sz="1200" dirty="0">
                <a:solidFill>
                  <a:schemeClr val="tx1"/>
                </a:solidFill>
              </a:rPr>
              <a:t>Live mandi prices from government open data</a:t>
            </a:r>
            <a:endParaRPr lang="en-US" sz="1200" dirty="0"/>
          </a:p>
        </p:txBody>
      </p:sp>
      <p:sp>
        <p:nvSpPr>
          <p:cNvPr id="15" name="Shape 11"/>
          <p:cNvSpPr/>
          <p:nvPr/>
        </p:nvSpPr>
        <p:spPr>
          <a:xfrm>
            <a:off x="4206240" y="1417320"/>
            <a:ext cx="731520" cy="73152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4389120" y="1600200"/>
            <a:ext cx="365760" cy="365760"/>
          </a:xfrm>
          <a:prstGeom prst="rect">
            <a:avLst/>
          </a:prstGeom>
        </p:spPr>
      </p:pic>
      <p:sp>
        <p:nvSpPr>
          <p:cNvPr id="17" name="Shape 12"/>
          <p:cNvSpPr/>
          <p:nvPr/>
        </p:nvSpPr>
        <p:spPr>
          <a:xfrm>
            <a:off x="3749040" y="2377440"/>
            <a:ext cx="1737360" cy="457200"/>
          </a:xfrm>
          <a:prstGeom prst="chevron">
            <a:avLst/>
          </a:prstGeom>
          <a:solidFill>
            <a:schemeClr val="accent5"/>
          </a:solidFill>
          <a:ln/>
        </p:spPr>
      </p:sp>
      <p:sp>
        <p:nvSpPr>
          <p:cNvPr id="18" name="Text 13"/>
          <p:cNvSpPr txBox="1"/>
          <p:nvPr/>
        </p:nvSpPr>
        <p:spPr>
          <a:xfrm>
            <a:off x="3977640" y="2377440"/>
            <a:ext cx="1280160" cy="457200"/>
          </a:xfrm>
          <a:prstGeom prst="rect">
            <a:avLst/>
          </a:prstGeom>
          <a:noFill/>
          <a:ln/>
        </p:spPr>
        <p:txBody>
          <a:bodyPr wrap="square" lIns="0" tIns="0" rIns="0" bIns="0" rtlCol="0" anchor="ctr"/>
          <a:lstStyle/>
          <a:p>
            <a:pPr algn="ctr" indent="0" marL="0">
              <a:buNone/>
            </a:pPr>
            <a:r>
              <a:rPr lang="en-US" sz="1200" b="1" dirty="0">
                <a:solidFill>
                  <a:schemeClr val="tx2"/>
                </a:solidFill>
              </a:rPr>
              <a:t>Phase 3</a:t>
            </a:r>
            <a:endParaRPr lang="en-US" sz="1200" dirty="0"/>
          </a:p>
        </p:txBody>
      </p:sp>
      <p:sp>
        <p:nvSpPr>
          <p:cNvPr id="19" name="Text 14"/>
          <p:cNvSpPr txBox="1"/>
          <p:nvPr/>
        </p:nvSpPr>
        <p:spPr>
          <a:xfrm>
            <a:off x="3794760" y="3063240"/>
            <a:ext cx="1554480" cy="502920"/>
          </a:xfrm>
          <a:prstGeom prst="rect">
            <a:avLst/>
          </a:prstGeom>
          <a:noFill/>
          <a:ln/>
        </p:spPr>
        <p:txBody>
          <a:bodyPr wrap="square" lIns="0" tIns="0" rIns="0" bIns="0" rtlCol="0" anchor="t"/>
          <a:lstStyle/>
          <a:p>
            <a:pPr algn="ctr" indent="0" marL="0">
              <a:buNone/>
            </a:pPr>
            <a:r>
              <a:rPr lang="en-US" sz="1500" b="1" dirty="0">
                <a:solidFill>
                  <a:schemeClr val="tx2"/>
                </a:solidFill>
              </a:rPr>
              <a:t>Mobile app</a:t>
            </a:r>
            <a:endParaRPr lang="en-US" sz="1500" dirty="0"/>
          </a:p>
        </p:txBody>
      </p:sp>
      <p:sp>
        <p:nvSpPr>
          <p:cNvPr id="20" name="Text 15"/>
          <p:cNvSpPr txBox="1"/>
          <p:nvPr/>
        </p:nvSpPr>
        <p:spPr>
          <a:xfrm>
            <a:off x="3840480" y="3584448"/>
            <a:ext cx="1463040" cy="822960"/>
          </a:xfrm>
          <a:prstGeom prst="rect">
            <a:avLst/>
          </a:prstGeom>
          <a:noFill/>
          <a:ln/>
        </p:spPr>
        <p:txBody>
          <a:bodyPr wrap="square" lIns="0" tIns="0" rIns="0" bIns="0" rtlCol="0" anchor="t"/>
          <a:lstStyle/>
          <a:p>
            <a:pPr algn="ctr" indent="0" marL="0">
              <a:buNone/>
            </a:pPr>
            <a:r>
              <a:rPr lang="en-US" sz="1200" dirty="0">
                <a:solidFill>
                  <a:schemeClr val="tx1"/>
                </a:solidFill>
              </a:rPr>
              <a:t>Android app for use in the field</a:t>
            </a:r>
            <a:endParaRPr lang="en-US" sz="1200" dirty="0"/>
          </a:p>
        </p:txBody>
      </p:sp>
      <p:sp>
        <p:nvSpPr>
          <p:cNvPr id="21" name="Shape 16"/>
          <p:cNvSpPr/>
          <p:nvPr/>
        </p:nvSpPr>
        <p:spPr>
          <a:xfrm>
            <a:off x="5852160" y="1417320"/>
            <a:ext cx="731520" cy="73152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6035040" y="1600200"/>
            <a:ext cx="365760" cy="365760"/>
          </a:xfrm>
          <a:prstGeom prst="rect">
            <a:avLst/>
          </a:prstGeom>
        </p:spPr>
      </p:pic>
      <p:sp>
        <p:nvSpPr>
          <p:cNvPr id="23" name="Shape 17"/>
          <p:cNvSpPr/>
          <p:nvPr/>
        </p:nvSpPr>
        <p:spPr>
          <a:xfrm>
            <a:off x="5394960" y="2377440"/>
            <a:ext cx="1737360" cy="457200"/>
          </a:xfrm>
          <a:prstGeom prst="chevron">
            <a:avLst/>
          </a:prstGeom>
          <a:solidFill>
            <a:schemeClr val="accent2"/>
          </a:solidFill>
          <a:ln/>
        </p:spPr>
      </p:sp>
      <p:sp>
        <p:nvSpPr>
          <p:cNvPr id="24" name="Text 18"/>
          <p:cNvSpPr txBox="1"/>
          <p:nvPr/>
        </p:nvSpPr>
        <p:spPr>
          <a:xfrm>
            <a:off x="5623560" y="2377440"/>
            <a:ext cx="1280160" cy="457200"/>
          </a:xfrm>
          <a:prstGeom prst="rect">
            <a:avLst/>
          </a:prstGeom>
          <a:noFill/>
          <a:ln/>
        </p:spPr>
        <p:txBody>
          <a:bodyPr wrap="square" lIns="0" tIns="0" rIns="0" bIns="0" rtlCol="0" anchor="ctr"/>
          <a:lstStyle/>
          <a:p>
            <a:pPr algn="ctr" indent="0" marL="0">
              <a:buNone/>
            </a:pPr>
            <a:r>
              <a:rPr lang="en-US" sz="1200" b="1" dirty="0">
                <a:solidFill>
                  <a:schemeClr val="tx2"/>
                </a:solidFill>
              </a:rPr>
              <a:t>Phase 4</a:t>
            </a:r>
            <a:endParaRPr lang="en-US" sz="1200" dirty="0"/>
          </a:p>
        </p:txBody>
      </p:sp>
      <p:sp>
        <p:nvSpPr>
          <p:cNvPr id="25" name="Text 19"/>
          <p:cNvSpPr txBox="1"/>
          <p:nvPr/>
        </p:nvSpPr>
        <p:spPr>
          <a:xfrm>
            <a:off x="5440680" y="3063240"/>
            <a:ext cx="1554480" cy="502920"/>
          </a:xfrm>
          <a:prstGeom prst="rect">
            <a:avLst/>
          </a:prstGeom>
          <a:noFill/>
          <a:ln/>
        </p:spPr>
        <p:txBody>
          <a:bodyPr wrap="square" lIns="0" tIns="0" rIns="0" bIns="0" rtlCol="0" anchor="t"/>
          <a:lstStyle/>
          <a:p>
            <a:pPr algn="ctr" indent="0" marL="0">
              <a:buNone/>
            </a:pPr>
            <a:r>
              <a:rPr lang="en-US" sz="1500" b="1" dirty="0">
                <a:solidFill>
                  <a:schemeClr val="tx2"/>
                </a:solidFill>
              </a:rPr>
              <a:t>Regional languages</a:t>
            </a:r>
            <a:endParaRPr lang="en-US" sz="1500" dirty="0"/>
          </a:p>
        </p:txBody>
      </p:sp>
      <p:sp>
        <p:nvSpPr>
          <p:cNvPr id="26" name="Text 20"/>
          <p:cNvSpPr txBox="1"/>
          <p:nvPr/>
        </p:nvSpPr>
        <p:spPr>
          <a:xfrm>
            <a:off x="5486400" y="3584448"/>
            <a:ext cx="1463040" cy="822960"/>
          </a:xfrm>
          <a:prstGeom prst="rect">
            <a:avLst/>
          </a:prstGeom>
          <a:noFill/>
          <a:ln/>
        </p:spPr>
        <p:txBody>
          <a:bodyPr wrap="square" lIns="0" tIns="0" rIns="0" bIns="0" rtlCol="0" anchor="t"/>
          <a:lstStyle/>
          <a:p>
            <a:pPr algn="ctr" indent="0" marL="0">
              <a:buNone/>
            </a:pPr>
            <a:r>
              <a:rPr lang="en-US" sz="1200" dirty="0">
                <a:solidFill>
                  <a:schemeClr val="tx1"/>
                </a:solidFill>
              </a:rPr>
              <a:t>Telugu, Hindi, Tamil and voice input</a:t>
            </a:r>
            <a:endParaRPr lang="en-US" sz="1200" dirty="0"/>
          </a:p>
        </p:txBody>
      </p:sp>
      <p:sp>
        <p:nvSpPr>
          <p:cNvPr id="27" name="Shape 21"/>
          <p:cNvSpPr/>
          <p:nvPr/>
        </p:nvSpPr>
        <p:spPr>
          <a:xfrm>
            <a:off x="7498080" y="1417320"/>
            <a:ext cx="731520" cy="731520"/>
          </a:xfrm>
          <a:prstGeom prst="ellipse">
            <a:avLst/>
          </a:prstGeom>
          <a:solidFill>
            <a:schemeClr val="tx2"/>
          </a:solidFill>
          <a:ln/>
        </p:spPr>
      </p:sp>
      <p:pic>
        <p:nvPicPr>
          <p:cNvPr id="28" name="Image 4" descr="preencoded.png">    </p:cNvPr>
          <p:cNvPicPr>
            <a:picLocks noChangeAspect="1"/>
          </p:cNvPicPr>
          <p:nvPr/>
        </p:nvPicPr>
        <p:blipFill>
          <a:blip r:embed="rId5"/>
          <a:stretch>
            <a:fillRect/>
          </a:stretch>
        </p:blipFill>
        <p:spPr>
          <a:xfrm>
            <a:off x="7680960" y="1600200"/>
            <a:ext cx="365760" cy="365760"/>
          </a:xfrm>
          <a:prstGeom prst="rect">
            <a:avLst/>
          </a:prstGeom>
        </p:spPr>
      </p:pic>
      <p:sp>
        <p:nvSpPr>
          <p:cNvPr id="29" name="Shape 22"/>
          <p:cNvSpPr/>
          <p:nvPr/>
        </p:nvSpPr>
        <p:spPr>
          <a:xfrm>
            <a:off x="7040880" y="2377440"/>
            <a:ext cx="1737360" cy="457200"/>
          </a:xfrm>
          <a:prstGeom prst="chevron">
            <a:avLst/>
          </a:prstGeom>
          <a:solidFill>
            <a:schemeClr val="accent5"/>
          </a:solidFill>
          <a:ln/>
        </p:spPr>
      </p:sp>
      <p:sp>
        <p:nvSpPr>
          <p:cNvPr id="30" name="Text 23"/>
          <p:cNvSpPr txBox="1"/>
          <p:nvPr/>
        </p:nvSpPr>
        <p:spPr>
          <a:xfrm>
            <a:off x="7269480" y="2377440"/>
            <a:ext cx="1280160" cy="457200"/>
          </a:xfrm>
          <a:prstGeom prst="rect">
            <a:avLst/>
          </a:prstGeom>
          <a:noFill/>
          <a:ln/>
        </p:spPr>
        <p:txBody>
          <a:bodyPr wrap="square" lIns="0" tIns="0" rIns="0" bIns="0" rtlCol="0" anchor="ctr"/>
          <a:lstStyle/>
          <a:p>
            <a:pPr algn="ctr" indent="0" marL="0">
              <a:buNone/>
            </a:pPr>
            <a:r>
              <a:rPr lang="en-US" sz="1200" b="1" dirty="0">
                <a:solidFill>
                  <a:schemeClr val="tx2"/>
                </a:solidFill>
              </a:rPr>
              <a:t>Phase 5</a:t>
            </a:r>
            <a:endParaRPr lang="en-US" sz="1200" dirty="0"/>
          </a:p>
        </p:txBody>
      </p:sp>
      <p:sp>
        <p:nvSpPr>
          <p:cNvPr id="31" name="Text 24"/>
          <p:cNvSpPr txBox="1"/>
          <p:nvPr/>
        </p:nvSpPr>
        <p:spPr>
          <a:xfrm>
            <a:off x="7086600" y="3063240"/>
            <a:ext cx="1554480" cy="502920"/>
          </a:xfrm>
          <a:prstGeom prst="rect">
            <a:avLst/>
          </a:prstGeom>
          <a:noFill/>
          <a:ln/>
        </p:spPr>
        <p:txBody>
          <a:bodyPr wrap="square" lIns="0" tIns="0" rIns="0" bIns="0" rtlCol="0" anchor="t"/>
          <a:lstStyle/>
          <a:p>
            <a:pPr algn="ctr" indent="0" marL="0">
              <a:buNone/>
            </a:pPr>
            <a:r>
              <a:rPr lang="en-US" sz="1500" b="1" dirty="0">
                <a:solidFill>
                  <a:schemeClr val="tx2"/>
                </a:solidFill>
              </a:rPr>
              <a:t>Soil sensors (IoT)</a:t>
            </a:r>
            <a:endParaRPr lang="en-US" sz="1500" dirty="0"/>
          </a:p>
        </p:txBody>
      </p:sp>
      <p:sp>
        <p:nvSpPr>
          <p:cNvPr id="32" name="Text 25"/>
          <p:cNvSpPr txBox="1"/>
          <p:nvPr/>
        </p:nvSpPr>
        <p:spPr>
          <a:xfrm>
            <a:off x="7132320" y="3584448"/>
            <a:ext cx="1463040" cy="822960"/>
          </a:xfrm>
          <a:prstGeom prst="rect">
            <a:avLst/>
          </a:prstGeom>
          <a:noFill/>
          <a:ln/>
        </p:spPr>
        <p:txBody>
          <a:bodyPr wrap="square" lIns="0" tIns="0" rIns="0" bIns="0" rtlCol="0" anchor="t"/>
          <a:lstStyle/>
          <a:p>
            <a:pPr algn="ctr" indent="0" marL="0">
              <a:buNone/>
            </a:pPr>
            <a:r>
              <a:rPr lang="en-US" sz="1200" dirty="0">
                <a:solidFill>
                  <a:schemeClr val="tx1"/>
                </a:solidFill>
              </a:rPr>
              <a:t>Auto-read N, P, K, pH and moisture</a:t>
            </a:r>
            <a:endParaRPr lang="en-US" sz="12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tx2"/>
                </a:solidFill>
              </a:rPr>
              <a:t>Course Outcome (CO) Mapping</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594360"/>
                <a:gridCol w="1874520"/>
                <a:gridCol w="4937760"/>
                <a:gridCol w="822960"/>
              </a:tblGrid>
              <a:tr h="347472">
                <a:tc>
                  <a:txBody>
                    <a:bodyPr/>
                    <a:lstStyle/>
                    <a:p>
                      <a:pPr algn="l" indent="0" marL="0">
                        <a:buNone/>
                      </a:pPr>
                      <a:r>
                        <a:rPr lang="en-US" sz="1200" b="1" dirty="0">
                          <a:solidFill>
                            <a:schemeClr val="bg1"/>
                          </a:solidFill>
                          <a:latin typeface="Calibri" pitchFamily="34" charset="0"/>
                          <a:ea typeface="Calibri" pitchFamily="34" charset="-122"/>
                          <a:cs typeface="Calibri" pitchFamily="34" charset="-120"/>
                        </a:rPr>
                        <a:t>CO</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latin typeface="Calibri" pitchFamily="34" charset="0"/>
                          <a:ea typeface="Calibri" pitchFamily="34" charset="-122"/>
                          <a:cs typeface="Calibri" pitchFamily="34" charset="-120"/>
                        </a:rPr>
                        <a:t>Outcome area</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latin typeface="Calibri" pitchFamily="34" charset="0"/>
                          <a:ea typeface="Calibri" pitchFamily="34" charset="-122"/>
                          <a:cs typeface="Calibri" pitchFamily="34" charset="-120"/>
                        </a:rPr>
                        <a:t>How our project addresses it</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Level</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accent1"/>
                    </a:solidFill>
                  </a:tcPr>
                </a:tc>
              </a:tr>
              <a:tr h="45720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CO1</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ML system lifecycle</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Full pipeline: CSV → features → training → evaluation → joblib → Flask → UI</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CO2</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Linear models</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Multinomial Logistic Regression with feature scaling and L2 regularisation</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CO3</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Tree-based models</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Decision Tree and Random Forest (best); top features: rainfall, humidity, K</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CO4</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Unsupervised learning</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6"/>
                          </a:solidFill>
                          <a:latin typeface="Calibri" pitchFamily="34" charset="0"/>
                          <a:ea typeface="Calibri" pitchFamily="34" charset="-122"/>
                          <a:cs typeface="Calibri" pitchFamily="34" charset="-120"/>
                        </a:rPr>
                        <a:t>Not used; future: k-means clustering of soil profiles, PCA plots</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6"/>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CO5</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Model evaluation</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80/20 stratified split, accuracy, precision, recall, macro F1, confusion matrix</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accent4"/>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CO6</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ML engineering &amp; serving</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Model packaged with Joblib, served via Flask REST API (POST /api/predict)</a:t>
                      </a:r>
                      <a:endParaRPr lang="en-US" sz="12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4"/>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95D5B2"/>
                      </a:solidFill>
                      <a:prstDash val="solid"/>
                      <a:round/>
                      <a:headEnd type="none" w="med" len="med"/>
                      <a:tailEnd type="none" w="med" len="med"/>
                    </a:lnL>
                    <a:lnR w="6350" cap="flat" cmpd="sng" algn="ctr">
                      <a:solidFill>
                        <a:srgbClr val="95D5B2"/>
                      </a:solidFill>
                      <a:prstDash val="solid"/>
                      <a:round/>
                      <a:headEnd type="none" w="med" len="med"/>
                      <a:tailEnd type="none" w="med" len="med"/>
                    </a:lnR>
                    <a:lnT w="6350" cap="flat" cmpd="sng" algn="ctr">
                      <a:solidFill>
                        <a:srgbClr val="95D5B2"/>
                      </a:solidFill>
                      <a:prstDash val="solid"/>
                      <a:round/>
                      <a:headEnd type="none" w="med" len="med"/>
                      <a:tailEnd type="none" w="med" len="med"/>
                    </a:lnT>
                    <a:lnB w="6350" cap="flat" cmpd="sng" algn="ctr">
                      <a:solidFill>
                        <a:srgbClr val="95D5B2"/>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457200" y="4407408"/>
            <a:ext cx="8229600" cy="256032"/>
          </a:xfrm>
          <a:prstGeom prst="rect">
            <a:avLst/>
          </a:prstGeom>
          <a:noFill/>
          <a:ln/>
        </p:spPr>
        <p:txBody>
          <a:bodyPr wrap="square" lIns="0" tIns="0" rIns="0" bIns="0" rtlCol="0" anchor="t"/>
          <a:lstStyle/>
          <a:p>
            <a:pPr indent="0" marL="0">
              <a:buNone/>
            </a:pPr>
            <a:r>
              <a:rPr lang="en-US" sz="1100" i="1" dirty="0">
                <a:solidFill>
                  <a:schemeClr val="accent6"/>
                </a:solidFill>
              </a:rPr>
              <a:t>Level:  3 = strongly addressed   ·   2 = partly addressed   ·   – = not addressed</a:t>
            </a:r>
            <a:endParaRPr lang="en-US" sz="11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772400" cy="685800"/>
          </a:xfrm>
          <a:prstGeom prst="rect">
            <a:avLst/>
          </a:prstGeom>
          <a:noFill/>
          <a:ln/>
        </p:spPr>
        <p:txBody>
          <a:bodyPr wrap="square" lIns="0" tIns="0" rIns="0" bIns="0" rtlCol="0" anchor="ctr"/>
          <a:lstStyle/>
          <a:p>
            <a:pPr algn="l" indent="0" marL="0">
              <a:buNone/>
            </a:pPr>
            <a:r>
              <a:rPr lang="en-US" sz="3200" b="1" dirty="0">
                <a:solidFill>
                  <a:schemeClr val="bg1"/>
                </a:solidFill>
              </a:rPr>
              <a:t>Conclusion</a:t>
            </a:r>
            <a:endParaRPr lang="en-US" sz="3200" dirty="0"/>
          </a:p>
        </p:txBody>
      </p:sp>
      <p:pic>
        <p:nvPicPr>
          <p:cNvPr id="3" name="Image 0" descr="preencoded.png">    </p:cNvPr>
          <p:cNvPicPr>
            <a:picLocks noChangeAspect="1"/>
          </p:cNvPicPr>
          <p:nvPr/>
        </p:nvPicPr>
        <p:blipFill>
          <a:blip r:embed="rId1"/>
          <a:stretch>
            <a:fillRect/>
          </a:stretch>
        </p:blipFill>
        <p:spPr>
          <a:xfrm>
            <a:off x="457200" y="1261872"/>
            <a:ext cx="347472" cy="347472"/>
          </a:xfrm>
          <a:prstGeom prst="rect">
            <a:avLst/>
          </a:prstGeom>
        </p:spPr>
      </p:pic>
      <p:sp>
        <p:nvSpPr>
          <p:cNvPr id="4" name="Text 1"/>
          <p:cNvSpPr txBox="1"/>
          <p:nvPr/>
        </p:nvSpPr>
        <p:spPr>
          <a:xfrm>
            <a:off x="960120" y="1188720"/>
            <a:ext cx="4754880" cy="548640"/>
          </a:xfrm>
          <a:prstGeom prst="rect">
            <a:avLst/>
          </a:prstGeom>
          <a:noFill/>
          <a:ln/>
        </p:spPr>
        <p:txBody>
          <a:bodyPr wrap="square" lIns="0" tIns="0" rIns="0" bIns="0" rtlCol="0" anchor="ctr"/>
          <a:lstStyle/>
          <a:p>
            <a:pPr indent="0" marL="0">
              <a:buNone/>
            </a:pPr>
            <a:r>
              <a:rPr lang="en-US" sz="1500" dirty="0">
                <a:solidFill>
                  <a:schemeClr val="bg1"/>
                </a:solidFill>
              </a:rPr>
              <a:t>Built an end-to-end ML system: dataset → 5 models → best model → Flask website</a:t>
            </a:r>
            <a:endParaRPr lang="en-US" sz="1500" dirty="0"/>
          </a:p>
        </p:txBody>
      </p:sp>
      <p:pic>
        <p:nvPicPr>
          <p:cNvPr id="5" name="Image 1" descr="preencoded.png">    </p:cNvPr>
          <p:cNvPicPr>
            <a:picLocks noChangeAspect="1"/>
          </p:cNvPicPr>
          <p:nvPr/>
        </p:nvPicPr>
        <p:blipFill>
          <a:blip r:embed="rId2"/>
          <a:stretch>
            <a:fillRect/>
          </a:stretch>
        </p:blipFill>
        <p:spPr>
          <a:xfrm>
            <a:off x="457200" y="1947672"/>
            <a:ext cx="347472" cy="347472"/>
          </a:xfrm>
          <a:prstGeom prst="rect">
            <a:avLst/>
          </a:prstGeom>
        </p:spPr>
      </p:pic>
      <p:sp>
        <p:nvSpPr>
          <p:cNvPr id="6" name="Text 2"/>
          <p:cNvSpPr txBox="1"/>
          <p:nvPr/>
        </p:nvSpPr>
        <p:spPr>
          <a:xfrm>
            <a:off x="960120" y="1874520"/>
            <a:ext cx="4754880" cy="548640"/>
          </a:xfrm>
          <a:prstGeom prst="rect">
            <a:avLst/>
          </a:prstGeom>
          <a:noFill/>
          <a:ln/>
        </p:spPr>
        <p:txBody>
          <a:bodyPr wrap="square" lIns="0" tIns="0" rIns="0" bIns="0" rtlCol="0" anchor="ctr"/>
          <a:lstStyle/>
          <a:p>
            <a:pPr indent="0" marL="0">
              <a:buNone/>
            </a:pPr>
            <a:r>
              <a:rPr lang="en-US" sz="1500" dirty="0">
                <a:solidFill>
                  <a:schemeClr val="bg1"/>
                </a:solidFill>
              </a:rPr>
              <a:t>Random Forest reached 99.55% accuracy on 440 unseen test records</a:t>
            </a:r>
            <a:endParaRPr lang="en-US" sz="1500" dirty="0"/>
          </a:p>
        </p:txBody>
      </p:sp>
      <p:pic>
        <p:nvPicPr>
          <p:cNvPr id="7" name="Image 2" descr="preencoded.png">    </p:cNvPr>
          <p:cNvPicPr>
            <a:picLocks noChangeAspect="1"/>
          </p:cNvPicPr>
          <p:nvPr/>
        </p:nvPicPr>
        <p:blipFill>
          <a:blip r:embed="rId3"/>
          <a:stretch>
            <a:fillRect/>
          </a:stretch>
        </p:blipFill>
        <p:spPr>
          <a:xfrm>
            <a:off x="457200" y="2633472"/>
            <a:ext cx="347472" cy="347472"/>
          </a:xfrm>
          <a:prstGeom prst="rect">
            <a:avLst/>
          </a:prstGeom>
        </p:spPr>
      </p:pic>
      <p:sp>
        <p:nvSpPr>
          <p:cNvPr id="8" name="Text 3"/>
          <p:cNvSpPr txBox="1"/>
          <p:nvPr/>
        </p:nvSpPr>
        <p:spPr>
          <a:xfrm>
            <a:off x="960120" y="2560320"/>
            <a:ext cx="4754880" cy="548640"/>
          </a:xfrm>
          <a:prstGeom prst="rect">
            <a:avLst/>
          </a:prstGeom>
          <a:noFill/>
          <a:ln/>
        </p:spPr>
        <p:txBody>
          <a:bodyPr wrap="square" lIns="0" tIns="0" rIns="0" bIns="0" rtlCol="0" anchor="ctr"/>
          <a:lstStyle/>
          <a:p>
            <a:pPr indent="0" marL="0">
              <a:buNone/>
            </a:pPr>
            <a:r>
              <a:rPr lang="en-US" sz="1500" dirty="0">
                <a:solidFill>
                  <a:schemeClr val="bg1"/>
                </a:solidFill>
              </a:rPr>
              <a:t>Farmers get the best crop, top 3 options and fertilizer advice in one dashboard</a:t>
            </a:r>
            <a:endParaRPr lang="en-US" sz="1500" dirty="0"/>
          </a:p>
        </p:txBody>
      </p:sp>
      <p:pic>
        <p:nvPicPr>
          <p:cNvPr id="9" name="Image 3" descr="preencoded.png">    </p:cNvPr>
          <p:cNvPicPr>
            <a:picLocks noChangeAspect="1"/>
          </p:cNvPicPr>
          <p:nvPr/>
        </p:nvPicPr>
        <p:blipFill>
          <a:blip r:embed="rId4"/>
          <a:stretch>
            <a:fillRect/>
          </a:stretch>
        </p:blipFill>
        <p:spPr>
          <a:xfrm>
            <a:off x="457200" y="3319272"/>
            <a:ext cx="347472" cy="347472"/>
          </a:xfrm>
          <a:prstGeom prst="rect">
            <a:avLst/>
          </a:prstGeom>
        </p:spPr>
      </p:pic>
      <p:sp>
        <p:nvSpPr>
          <p:cNvPr id="10" name="Text 4"/>
          <p:cNvSpPr txBox="1"/>
          <p:nvPr/>
        </p:nvSpPr>
        <p:spPr>
          <a:xfrm>
            <a:off x="960120" y="3246120"/>
            <a:ext cx="4754880" cy="548640"/>
          </a:xfrm>
          <a:prstGeom prst="rect">
            <a:avLst/>
          </a:prstGeom>
          <a:noFill/>
          <a:ln/>
        </p:spPr>
        <p:txBody>
          <a:bodyPr wrap="square" lIns="0" tIns="0" rIns="0" bIns="0" rtlCol="0" anchor="ctr"/>
          <a:lstStyle/>
          <a:p>
            <a:pPr indent="0" marL="0">
              <a:buNone/>
            </a:pPr>
            <a:r>
              <a:rPr lang="en-US" sz="1500" dirty="0">
                <a:solidFill>
                  <a:schemeClr val="bg1"/>
                </a:solidFill>
              </a:rPr>
              <a:t>A low-cost, data-driven decision aid for precision agriculture</a:t>
            </a:r>
            <a:endParaRPr lang="en-US" sz="1500" dirty="0"/>
          </a:p>
        </p:txBody>
      </p:sp>
      <p:sp>
        <p:nvSpPr>
          <p:cNvPr id="11" name="Shape 5"/>
          <p:cNvSpPr/>
          <p:nvPr/>
        </p:nvSpPr>
        <p:spPr>
          <a:xfrm>
            <a:off x="6035040" y="1188720"/>
            <a:ext cx="2651760" cy="1737360"/>
          </a:xfrm>
          <a:prstGeom prst="roundRect">
            <a:avLst>
              <a:gd name="adj" fmla="val 5263"/>
            </a:avLst>
          </a:prstGeom>
          <a:solidFill>
            <a:schemeClr val="accent1"/>
          </a:solidFill>
          <a:ln/>
        </p:spPr>
      </p:sp>
      <p:sp>
        <p:nvSpPr>
          <p:cNvPr id="12" name="Text 6"/>
          <p:cNvSpPr txBox="1"/>
          <p:nvPr/>
        </p:nvSpPr>
        <p:spPr>
          <a:xfrm>
            <a:off x="6035040" y="1371600"/>
            <a:ext cx="2651760" cy="777240"/>
          </a:xfrm>
          <a:prstGeom prst="rect">
            <a:avLst/>
          </a:prstGeom>
          <a:noFill/>
          <a:ln/>
        </p:spPr>
        <p:txBody>
          <a:bodyPr wrap="square" lIns="0" tIns="0" rIns="0" bIns="0" rtlCol="0" anchor="t"/>
          <a:lstStyle/>
          <a:p>
            <a:pPr algn="ctr" indent="0" marL="0">
              <a:buNone/>
            </a:pPr>
            <a:r>
              <a:rPr lang="en-US" sz="4400" b="1" dirty="0">
                <a:solidFill>
                  <a:schemeClr val="accent3"/>
                </a:solidFill>
              </a:rPr>
              <a:t>99.55%</a:t>
            </a:r>
            <a:endParaRPr lang="en-US" sz="4400" dirty="0"/>
          </a:p>
        </p:txBody>
      </p:sp>
      <p:sp>
        <p:nvSpPr>
          <p:cNvPr id="13" name="Text 7"/>
          <p:cNvSpPr txBox="1"/>
          <p:nvPr/>
        </p:nvSpPr>
        <p:spPr>
          <a:xfrm>
            <a:off x="6035040" y="2194560"/>
            <a:ext cx="2651760" cy="320040"/>
          </a:xfrm>
          <a:prstGeom prst="rect">
            <a:avLst/>
          </a:prstGeom>
          <a:noFill/>
          <a:ln/>
        </p:spPr>
        <p:txBody>
          <a:bodyPr wrap="square" lIns="0" tIns="0" rIns="0" bIns="0" rtlCol="0" anchor="t"/>
          <a:lstStyle/>
          <a:p>
            <a:pPr algn="ctr" indent="0" marL="0">
              <a:buNone/>
            </a:pPr>
            <a:r>
              <a:rPr lang="en-US" sz="1300" dirty="0">
                <a:solidFill>
                  <a:schemeClr val="bg1"/>
                </a:solidFill>
              </a:rPr>
              <a:t>Random Forest accuracy</a:t>
            </a:r>
            <a:endParaRPr lang="en-US" sz="1300" dirty="0"/>
          </a:p>
        </p:txBody>
      </p:sp>
      <p:sp>
        <p:nvSpPr>
          <p:cNvPr id="14" name="Text 8"/>
          <p:cNvSpPr txBox="1"/>
          <p:nvPr/>
        </p:nvSpPr>
        <p:spPr>
          <a:xfrm>
            <a:off x="6035040" y="3108960"/>
            <a:ext cx="2651760" cy="548640"/>
          </a:xfrm>
          <a:prstGeom prst="rect">
            <a:avLst/>
          </a:prstGeom>
          <a:noFill/>
          <a:ln/>
        </p:spPr>
        <p:txBody>
          <a:bodyPr wrap="square" lIns="0" tIns="0" rIns="0" bIns="0" rtlCol="0" anchor="t"/>
          <a:lstStyle/>
          <a:p>
            <a:pPr algn="ctr" indent="0" marL="0">
              <a:buNone/>
            </a:pPr>
            <a:r>
              <a:rPr lang="en-US" sz="3000" b="1" dirty="0">
                <a:solidFill>
                  <a:schemeClr val="bg1"/>
                </a:solidFill>
              </a:rPr>
              <a:t>Thank You</a:t>
            </a:r>
            <a:endParaRPr lang="en-US" sz="3000" dirty="0"/>
          </a:p>
        </p:txBody>
      </p:sp>
      <p:sp>
        <p:nvSpPr>
          <p:cNvPr id="15" name="Text 9"/>
          <p:cNvSpPr txBox="1"/>
          <p:nvPr/>
        </p:nvSpPr>
        <p:spPr>
          <a:xfrm>
            <a:off x="6035040" y="3639312"/>
            <a:ext cx="2651760" cy="365760"/>
          </a:xfrm>
          <a:prstGeom prst="rect">
            <a:avLst/>
          </a:prstGeom>
          <a:noFill/>
          <a:ln/>
        </p:spPr>
        <p:txBody>
          <a:bodyPr wrap="square" lIns="0" tIns="0" rIns="0" bIns="0" rtlCol="0" anchor="t"/>
          <a:lstStyle/>
          <a:p>
            <a:pPr algn="ctr" indent="0" marL="0">
              <a:buNone/>
            </a:pPr>
            <a:r>
              <a:rPr lang="en-US" sz="1600" i="1" dirty="0">
                <a:solidFill>
                  <a:schemeClr val="accent5"/>
                </a:solidFill>
              </a:rPr>
              <a:t>Questions?</a:t>
            </a:r>
            <a:endParaRPr lang="en-US" sz="1600" dirty="0"/>
          </a:p>
        </p:txBody>
      </p:sp>
      <p:sp>
        <p:nvSpPr>
          <p:cNvPr id="16" name="Text 10"/>
          <p:cNvSpPr txBox="1"/>
          <p:nvPr/>
        </p:nvSpPr>
        <p:spPr>
          <a:xfrm>
            <a:off x="457200" y="4069080"/>
            <a:ext cx="1828800" cy="365760"/>
          </a:xfrm>
          <a:prstGeom prst="rect">
            <a:avLst/>
          </a:prstGeom>
          <a:noFill/>
          <a:ln/>
        </p:spPr>
        <p:txBody>
          <a:bodyPr wrap="square" lIns="0" tIns="0" rIns="0" bIns="0" rtlCol="0" anchor="ctr"/>
          <a:lstStyle/>
          <a:p>
            <a:pPr indent="0" marL="0">
              <a:buNone/>
            </a:pPr>
            <a:r>
              <a:rPr lang="en-US" sz="1000" b="1" spc="100" kern="0" dirty="0">
                <a:solidFill>
                  <a:schemeClr val="accent3"/>
                </a:solidFill>
              </a:rPr>
              <a:t>COURSE OUTCOMES</a:t>
            </a:r>
            <a:endParaRPr lang="en-US" sz="1000" dirty="0"/>
          </a:p>
        </p:txBody>
      </p:sp>
      <p:sp>
        <p:nvSpPr>
          <p:cNvPr id="17" name="Shape 11"/>
          <p:cNvSpPr/>
          <p:nvPr/>
        </p:nvSpPr>
        <p:spPr>
          <a:xfrm>
            <a:off x="2194560" y="4114800"/>
            <a:ext cx="621792" cy="292608"/>
          </a:xfrm>
          <a:prstGeom prst="roundRect">
            <a:avLst>
              <a:gd name="adj" fmla="val 50000"/>
            </a:avLst>
          </a:prstGeom>
          <a:solidFill>
            <a:schemeClr val="accent1"/>
          </a:solidFill>
          <a:ln w="12700">
            <a:solidFill>
              <a:schemeClr val="accent2"/>
            </a:solidFill>
            <a:prstDash val="solid"/>
          </a:ln>
        </p:spPr>
      </p:sp>
      <p:sp>
        <p:nvSpPr>
          <p:cNvPr id="18" name="Text 12"/>
          <p:cNvSpPr txBox="1"/>
          <p:nvPr/>
        </p:nvSpPr>
        <p:spPr>
          <a:xfrm>
            <a:off x="2194560" y="4114800"/>
            <a:ext cx="621792" cy="292608"/>
          </a:xfrm>
          <a:prstGeom prst="rect">
            <a:avLst/>
          </a:prstGeom>
          <a:noFill/>
          <a:ln/>
        </p:spPr>
        <p:txBody>
          <a:bodyPr wrap="square" lIns="0" tIns="0" rIns="0" bIns="0" rtlCol="0" anchor="ctr"/>
          <a:lstStyle/>
          <a:p>
            <a:pPr algn="ctr" indent="0" marL="0">
              <a:buNone/>
            </a:pPr>
            <a:r>
              <a:rPr lang="en-US" sz="1100" b="1" dirty="0">
                <a:solidFill>
                  <a:schemeClr val="bg1"/>
                </a:solidFill>
              </a:rPr>
              <a:t>CO1</a:t>
            </a:r>
            <a:endParaRPr lang="en-US" sz="1100" dirty="0"/>
          </a:p>
        </p:txBody>
      </p:sp>
      <p:sp>
        <p:nvSpPr>
          <p:cNvPr id="19" name="Shape 13"/>
          <p:cNvSpPr/>
          <p:nvPr/>
        </p:nvSpPr>
        <p:spPr>
          <a:xfrm>
            <a:off x="2926080" y="4114800"/>
            <a:ext cx="621792" cy="292608"/>
          </a:xfrm>
          <a:prstGeom prst="roundRect">
            <a:avLst>
              <a:gd name="adj" fmla="val 50000"/>
            </a:avLst>
          </a:prstGeom>
          <a:solidFill>
            <a:schemeClr val="accent1"/>
          </a:solidFill>
          <a:ln w="12700">
            <a:solidFill>
              <a:schemeClr val="accent2"/>
            </a:solidFill>
            <a:prstDash val="solid"/>
          </a:ln>
        </p:spPr>
      </p:sp>
      <p:sp>
        <p:nvSpPr>
          <p:cNvPr id="20" name="Text 14"/>
          <p:cNvSpPr txBox="1"/>
          <p:nvPr/>
        </p:nvSpPr>
        <p:spPr>
          <a:xfrm>
            <a:off x="2926080" y="4114800"/>
            <a:ext cx="621792" cy="292608"/>
          </a:xfrm>
          <a:prstGeom prst="rect">
            <a:avLst/>
          </a:prstGeom>
          <a:noFill/>
          <a:ln/>
        </p:spPr>
        <p:txBody>
          <a:bodyPr wrap="square" lIns="0" tIns="0" rIns="0" bIns="0" rtlCol="0" anchor="ctr"/>
          <a:lstStyle/>
          <a:p>
            <a:pPr algn="ctr" indent="0" marL="0">
              <a:buNone/>
            </a:pPr>
            <a:r>
              <a:rPr lang="en-US" sz="1100" b="1" dirty="0">
                <a:solidFill>
                  <a:schemeClr val="bg1"/>
                </a:solidFill>
              </a:rPr>
              <a:t>CO2</a:t>
            </a:r>
            <a:endParaRPr lang="en-US" sz="1100" dirty="0"/>
          </a:p>
        </p:txBody>
      </p:sp>
      <p:sp>
        <p:nvSpPr>
          <p:cNvPr id="21" name="Shape 15"/>
          <p:cNvSpPr/>
          <p:nvPr/>
        </p:nvSpPr>
        <p:spPr>
          <a:xfrm>
            <a:off x="3657600" y="4114800"/>
            <a:ext cx="621792" cy="292608"/>
          </a:xfrm>
          <a:prstGeom prst="roundRect">
            <a:avLst>
              <a:gd name="adj" fmla="val 50000"/>
            </a:avLst>
          </a:prstGeom>
          <a:solidFill>
            <a:schemeClr val="accent1"/>
          </a:solidFill>
          <a:ln w="12700">
            <a:solidFill>
              <a:schemeClr val="accent2"/>
            </a:solidFill>
            <a:prstDash val="solid"/>
          </a:ln>
        </p:spPr>
      </p:sp>
      <p:sp>
        <p:nvSpPr>
          <p:cNvPr id="22" name="Text 16"/>
          <p:cNvSpPr txBox="1"/>
          <p:nvPr/>
        </p:nvSpPr>
        <p:spPr>
          <a:xfrm>
            <a:off x="3657600" y="4114800"/>
            <a:ext cx="621792" cy="292608"/>
          </a:xfrm>
          <a:prstGeom prst="rect">
            <a:avLst/>
          </a:prstGeom>
          <a:noFill/>
          <a:ln/>
        </p:spPr>
        <p:txBody>
          <a:bodyPr wrap="square" lIns="0" tIns="0" rIns="0" bIns="0" rtlCol="0" anchor="ctr"/>
          <a:lstStyle/>
          <a:p>
            <a:pPr algn="ctr" indent="0" marL="0">
              <a:buNone/>
            </a:pPr>
            <a:r>
              <a:rPr lang="en-US" sz="1100" b="1" dirty="0">
                <a:solidFill>
                  <a:schemeClr val="bg1"/>
                </a:solidFill>
              </a:rPr>
              <a:t>CO3</a:t>
            </a:r>
            <a:endParaRPr lang="en-US" sz="1100" dirty="0"/>
          </a:p>
        </p:txBody>
      </p:sp>
      <p:sp>
        <p:nvSpPr>
          <p:cNvPr id="23" name="Shape 17"/>
          <p:cNvSpPr/>
          <p:nvPr/>
        </p:nvSpPr>
        <p:spPr>
          <a:xfrm>
            <a:off x="4389120" y="4114800"/>
            <a:ext cx="621792" cy="292608"/>
          </a:xfrm>
          <a:prstGeom prst="roundRect">
            <a:avLst>
              <a:gd name="adj" fmla="val 50000"/>
            </a:avLst>
          </a:prstGeom>
          <a:solidFill>
            <a:schemeClr val="accent1"/>
          </a:solidFill>
          <a:ln w="12700">
            <a:solidFill>
              <a:schemeClr val="accent2"/>
            </a:solidFill>
            <a:prstDash val="solid"/>
          </a:ln>
        </p:spPr>
      </p:sp>
      <p:sp>
        <p:nvSpPr>
          <p:cNvPr id="24" name="Text 18"/>
          <p:cNvSpPr txBox="1"/>
          <p:nvPr/>
        </p:nvSpPr>
        <p:spPr>
          <a:xfrm>
            <a:off x="4389120" y="4114800"/>
            <a:ext cx="621792" cy="292608"/>
          </a:xfrm>
          <a:prstGeom prst="rect">
            <a:avLst/>
          </a:prstGeom>
          <a:noFill/>
          <a:ln/>
        </p:spPr>
        <p:txBody>
          <a:bodyPr wrap="square" lIns="0" tIns="0" rIns="0" bIns="0" rtlCol="0" anchor="ctr"/>
          <a:lstStyle/>
          <a:p>
            <a:pPr algn="ctr" indent="0" marL="0">
              <a:buNone/>
            </a:pPr>
            <a:r>
              <a:rPr lang="en-US" sz="1100" b="1" dirty="0">
                <a:solidFill>
                  <a:schemeClr val="bg1"/>
                </a:solidFill>
              </a:rPr>
              <a:t>CO5</a:t>
            </a:r>
            <a:endParaRPr lang="en-US" sz="1100" dirty="0"/>
          </a:p>
        </p:txBody>
      </p:sp>
      <p:sp>
        <p:nvSpPr>
          <p:cNvPr id="25" name="Shape 19"/>
          <p:cNvSpPr/>
          <p:nvPr/>
        </p:nvSpPr>
        <p:spPr>
          <a:xfrm>
            <a:off x="5120640" y="4114800"/>
            <a:ext cx="621792" cy="292608"/>
          </a:xfrm>
          <a:prstGeom prst="roundRect">
            <a:avLst>
              <a:gd name="adj" fmla="val 50000"/>
            </a:avLst>
          </a:prstGeom>
          <a:solidFill>
            <a:schemeClr val="accent1"/>
          </a:solidFill>
          <a:ln w="12700">
            <a:solidFill>
              <a:schemeClr val="accent2"/>
            </a:solidFill>
            <a:prstDash val="solid"/>
          </a:ln>
        </p:spPr>
      </p:sp>
      <p:sp>
        <p:nvSpPr>
          <p:cNvPr id="26" name="Text 20"/>
          <p:cNvSpPr txBox="1"/>
          <p:nvPr/>
        </p:nvSpPr>
        <p:spPr>
          <a:xfrm>
            <a:off x="5120640" y="4114800"/>
            <a:ext cx="621792" cy="292608"/>
          </a:xfrm>
          <a:prstGeom prst="rect">
            <a:avLst/>
          </a:prstGeom>
          <a:noFill/>
          <a:ln/>
        </p:spPr>
        <p:txBody>
          <a:bodyPr wrap="square" lIns="0" tIns="0" rIns="0" bIns="0" rtlCol="0" anchor="ctr"/>
          <a:lstStyle/>
          <a:p>
            <a:pPr algn="ctr" indent="0" marL="0">
              <a:buNone/>
            </a:pPr>
            <a:r>
              <a:rPr lang="en-US" sz="1100" b="1" dirty="0">
                <a:solidFill>
                  <a:schemeClr val="bg1"/>
                </a:solidFill>
              </a:rPr>
              <a:t>CO6</a:t>
            </a:r>
            <a:endParaRPr lang="en-US" sz="1100" dirty="0"/>
          </a:p>
        </p:txBody>
      </p:sp>
      <p:sp>
        <p:nvSpPr>
          <p:cNvPr id="25" name="Slide Number Placeholder 0"/>
          <p:cNvSpPr>
            <a:spLocks noGrp="1"/>
          </p:cNvSpPr>
          <p:nvPr>
            <p:ph type="sldNum" sz="quarter" idx="4294967295"/>
          </p:nvPr>
        </p:nvSpPr>
        <p:spPr>
          <a:xfrm>
            <a:off x="8321040" y="4773168"/>
            <a:ext cx="41148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Smart Crop Green">
  <a:themeElements>
    <a:clrScheme name="Smart Crop Green">
      <a:dk1>
        <a:srgbClr val="1B2A22"/>
      </a:dk1>
      <a:lt1>
        <a:srgbClr val="FFFFFF"/>
      </a:lt1>
      <a:dk2>
        <a:srgbClr val="1B4332"/>
      </a:dk2>
      <a:lt2>
        <a:srgbClr val="EEF6F0"/>
      </a:lt2>
      <a:accent1>
        <a:srgbClr val="2D6A4F"/>
      </a:accent1>
      <a:accent2>
        <a:srgbClr val="52B788"/>
      </a:accent2>
      <a:accent3>
        <a:srgbClr val="E9C46A"/>
      </a:accent3>
      <a:accent4>
        <a:srgbClr val="8B5E34"/>
      </a:accent4>
      <a:accent5>
        <a:srgbClr val="95D5B2"/>
      </a:accent5>
      <a:accent6>
        <a:srgbClr val="5C6F64"/>
      </a:accent6>
      <a:hlink>
        <a:srgbClr val="2D6A4F"/>
      </a:hlink>
      <a:folHlink>
        <a:srgbClr val="40916C"/>
      </a:folHlink>
    </a:clrScheme>
    <a:fontScheme name="Smart Crop Gree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Crop Recommendation and Farm Advisory System Using Machine Learning</dc:title>
  <dc:subject>PptxGenJS Presentation</dc:subject>
  <dc:creator>Project Team</dc:creator>
  <cp:lastModifiedBy>Project Team</cp:lastModifiedBy>
  <cp:revision>1</cp:revision>
  <dcterms:created xsi:type="dcterms:W3CDTF">2026-10-13T17:01:31Z</dcterms:created>
  <dcterms:modified xsi:type="dcterms:W3CDTF">2026-10-13T17:01:31Z</dcterms:modified>
</cp:coreProperties>
</file>